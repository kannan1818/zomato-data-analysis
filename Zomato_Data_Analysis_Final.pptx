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74" r:id="rId10"/>
    <p:sldId id="275" r:id="rId11"/>
    <p:sldId id="264" r:id="rId12"/>
    <p:sldId id="265" r:id="rId13"/>
    <p:sldId id="266" r:id="rId14"/>
    <p:sldId id="267" r:id="rId15"/>
    <p:sldId id="268" r:id="rId16"/>
    <p:sldId id="269" r:id="rId17"/>
    <p:sldId id="270" r:id="rId18"/>
    <p:sldId id="271" r:id="rId19"/>
    <p:sldId id="272" r:id="rId20"/>
    <p:sldId id="273"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94610"/>
  </p:normalViewPr>
  <p:slideViewPr>
    <p:cSldViewPr snapToGrid="0" snapToObjects="1">
      <p:cViewPr varScale="1">
        <p:scale>
          <a:sx n="109" d="100"/>
          <a:sy n="109" d="100"/>
        </p:scale>
        <p:origin x="97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Restaurants</c:v>
                </c:pt>
              </c:strCache>
            </c:strRef>
          </c:tx>
          <c:spPr>
            <a:solidFill>
              <a:srgbClr val="CB202D"/>
            </a:solidFill>
            <a:effectLst/>
          </c:spPr>
          <c:invertIfNegative val="0"/>
          <c:dPt>
            <c:idx val="0"/>
            <c:invertIfNegative val="0"/>
            <c:bubble3D val="0"/>
            <c:extLst>
              <c:ext xmlns:c16="http://schemas.microsoft.com/office/drawing/2014/chart" uri="{C3380CC4-5D6E-409C-BE32-E72D297353CC}">
                <c16:uniqueId val="{00000001-92D7-4777-A379-FC1AC81477D2}"/>
              </c:ext>
            </c:extLst>
          </c:dPt>
          <c:dPt>
            <c:idx val="1"/>
            <c:invertIfNegative val="0"/>
            <c:bubble3D val="0"/>
            <c:spPr>
              <a:solidFill>
                <a:srgbClr val="8B0000"/>
              </a:solidFill>
              <a:effectLst/>
            </c:spPr>
            <c:extLst>
              <c:ext xmlns:c16="http://schemas.microsoft.com/office/drawing/2014/chart" uri="{C3380CC4-5D6E-409C-BE32-E72D297353CC}">
                <c16:uniqueId val="{00000003-92D7-4777-A379-FC1AC81477D2}"/>
              </c:ext>
            </c:extLst>
          </c:dPt>
          <c:dPt>
            <c:idx val="2"/>
            <c:invertIfNegative val="0"/>
            <c:bubble3D val="0"/>
            <c:spPr>
              <a:solidFill>
                <a:srgbClr val="E8A0A0"/>
              </a:solidFill>
              <a:effectLst/>
            </c:spPr>
            <c:extLst>
              <c:ext xmlns:c16="http://schemas.microsoft.com/office/drawing/2014/chart" uri="{C3380CC4-5D6E-409C-BE32-E72D297353CC}">
                <c16:uniqueId val="{00000005-92D7-4777-A379-FC1AC81477D2}"/>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(0–500)</c:v>
                </c:pt>
                <c:pt idx="1">
                  <c:v>Medium (500–1500)</c:v>
                </c:pt>
                <c:pt idx="2">
                  <c:v>High (1500+)</c:v>
                </c:pt>
              </c:strCache>
            </c:strRef>
          </c:cat>
          <c:val>
            <c:numRef>
              <c:f>Sheet1!$B$2:$B$4</c:f>
              <c:numCache>
                <c:formatCode>General</c:formatCode>
                <c:ptCount val="3"/>
                <c:pt idx="0">
                  <c:v>5174</c:v>
                </c:pt>
                <c:pt idx="1">
                  <c:v>3603</c:v>
                </c:pt>
                <c:pt idx="2">
                  <c:v>774</c:v>
                </c:pt>
              </c:numCache>
            </c:numRef>
          </c:val>
          <c:extLst>
            <c:ext xmlns:c16="http://schemas.microsoft.com/office/drawing/2014/chart" uri="{C3380CC4-5D6E-409C-BE32-E72D297353CC}">
              <c16:uniqueId val="{00000006-92D7-4777-A379-FC1AC81477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DF5F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Restaurants</c:v>
                </c:pt>
              </c:strCache>
            </c:strRef>
          </c:tx>
          <c:spPr>
            <a:solidFill>
              <a:srgbClr val="E8A0A0"/>
            </a:solidFill>
            <a:effectLst/>
          </c:spPr>
          <c:invertIfNegative val="0"/>
          <c:dPt>
            <c:idx val="0"/>
            <c:invertIfNegative val="0"/>
            <c:bubble3D val="0"/>
            <c:extLst>
              <c:ext xmlns:c16="http://schemas.microsoft.com/office/drawing/2014/chart" uri="{C3380CC4-5D6E-409C-BE32-E72D297353CC}">
                <c16:uniqueId val="{00000001-3BE7-4217-BEC3-F7EB151A9203}"/>
              </c:ext>
            </c:extLst>
          </c:dPt>
          <c:dPt>
            <c:idx val="1"/>
            <c:invertIfNegative val="0"/>
            <c:bubble3D val="0"/>
            <c:spPr>
              <a:solidFill>
                <a:srgbClr val="8B0000"/>
              </a:solidFill>
              <a:effectLst/>
            </c:spPr>
            <c:extLst>
              <c:ext xmlns:c16="http://schemas.microsoft.com/office/drawing/2014/chart" uri="{C3380CC4-5D6E-409C-BE32-E72D297353CC}">
                <c16:uniqueId val="{00000003-3BE7-4217-BEC3-F7EB151A9203}"/>
              </c:ext>
            </c:extLst>
          </c:dPt>
          <c:dPt>
            <c:idx val="2"/>
            <c:invertIfNegative val="0"/>
            <c:bubble3D val="0"/>
            <c:spPr>
              <a:solidFill>
                <a:srgbClr val="CB202D"/>
              </a:solidFill>
              <a:effectLst/>
            </c:spPr>
            <c:extLst>
              <c:ext xmlns:c16="http://schemas.microsoft.com/office/drawing/2014/chart" uri="{C3380CC4-5D6E-409C-BE32-E72D297353CC}">
                <c16:uniqueId val="{00000005-3BE7-4217-BEC3-F7EB151A9203}"/>
              </c:ext>
            </c:extLst>
          </c:dPt>
          <c:dPt>
            <c:idx val="3"/>
            <c:invertIfNegative val="0"/>
            <c:bubble3D val="0"/>
            <c:spPr>
              <a:solidFill>
                <a:srgbClr val="8B0000"/>
              </a:solidFill>
              <a:effectLst/>
            </c:spPr>
            <c:extLst>
              <c:ext xmlns:c16="http://schemas.microsoft.com/office/drawing/2014/chart" uri="{C3380CC4-5D6E-409C-BE32-E72D297353CC}">
                <c16:uniqueId val="{00000007-3BE7-4217-BEC3-F7EB151A9203}"/>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1–2</c:v>
                </c:pt>
                <c:pt idx="1">
                  <c:v>2–3</c:v>
                </c:pt>
                <c:pt idx="2">
                  <c:v>3–4</c:v>
                </c:pt>
                <c:pt idx="3">
                  <c:v>4–5</c:v>
                </c:pt>
              </c:strCache>
            </c:strRef>
          </c:cat>
          <c:val>
            <c:numRef>
              <c:f>Sheet1!$B$2:$B$5</c:f>
              <c:numCache>
                <c:formatCode>General</c:formatCode>
                <c:ptCount val="4"/>
                <c:pt idx="0">
                  <c:v>2200</c:v>
                </c:pt>
                <c:pt idx="1">
                  <c:v>1400</c:v>
                </c:pt>
                <c:pt idx="2">
                  <c:v>4600</c:v>
                </c:pt>
                <c:pt idx="3">
                  <c:v>1400</c:v>
                </c:pt>
              </c:numCache>
            </c:numRef>
          </c:val>
          <c:extLst>
            <c:ext xmlns:c16="http://schemas.microsoft.com/office/drawing/2014/chart" uri="{C3380CC4-5D6E-409C-BE32-E72D297353CC}">
              <c16:uniqueId val="{00000008-3BE7-4217-BEC3-F7EB151A920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DF5F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Delivery</c:v>
                </c:pt>
              </c:strCache>
            </c:strRef>
          </c:tx>
          <c:spPr>
            <a:solidFill>
              <a:schemeClr val="accent1"/>
            </a:solidFill>
            <a:ln w="9525" cap="flat">
              <a:solidFill>
                <a:srgbClr val="F9F9F9"/>
              </a:solidFill>
              <a:prstDash val="solid"/>
              <a:round/>
            </a:ln>
            <a:effectLst/>
          </c:spPr>
          <c:dPt>
            <c:idx val="0"/>
            <c:bubble3D val="0"/>
            <c:spPr>
              <a:solidFill>
                <a:srgbClr val="CB202D"/>
              </a:solidFill>
              <a:effectLst/>
            </c:spPr>
            <c:extLst>
              <c:ext xmlns:c16="http://schemas.microsoft.com/office/drawing/2014/chart" uri="{C3380CC4-5D6E-409C-BE32-E72D297353CC}">
                <c16:uniqueId val="{00000001-384B-4DCD-B3E6-27CAAA5A0F2C}"/>
              </c:ext>
            </c:extLst>
          </c:dPt>
          <c:dPt>
            <c:idx val="1"/>
            <c:bubble3D val="0"/>
            <c:spPr>
              <a:solidFill>
                <a:srgbClr val="E8C4C4"/>
              </a:solidFill>
              <a:effectLst/>
            </c:spPr>
            <c:extLst>
              <c:ext xmlns:c16="http://schemas.microsoft.com/office/drawing/2014/chart" uri="{C3380CC4-5D6E-409C-BE32-E72D297353CC}">
                <c16:uniqueId val="{00000003-384B-4DCD-B3E6-27CAAA5A0F2C}"/>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84B-4DCD-B3E6-27CAAA5A0F2C}"/>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84B-4DCD-B3E6-27CAAA5A0F2C}"/>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Has Online Delivery</c:v>
                </c:pt>
                <c:pt idx="1">
                  <c:v>No Online Delivery</c:v>
                </c:pt>
              </c:strCache>
            </c:strRef>
          </c:cat>
          <c:val>
            <c:numRef>
              <c:f>Sheet1!$B$2:$B$3</c:f>
              <c:numCache>
                <c:formatCode>General</c:formatCode>
                <c:ptCount val="2"/>
                <c:pt idx="0">
                  <c:v>25.66</c:v>
                </c:pt>
                <c:pt idx="1">
                  <c:v>74.34</c:v>
                </c:pt>
              </c:numCache>
            </c:numRef>
          </c:val>
          <c:extLst>
            <c:ext xmlns:c16="http://schemas.microsoft.com/office/drawing/2014/chart" uri="{C3380CC4-5D6E-409C-BE32-E72D297353CC}">
              <c16:uniqueId val="{00000004-384B-4DCD-B3E6-27CAAA5A0F2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solidFill>
                <a:srgbClr val="444444"/>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Booking</c:v>
                </c:pt>
              </c:strCache>
            </c:strRef>
          </c:tx>
          <c:spPr>
            <a:solidFill>
              <a:schemeClr val="accent1"/>
            </a:solidFill>
            <a:ln w="9525" cap="flat">
              <a:solidFill>
                <a:srgbClr val="F9F9F9"/>
              </a:solidFill>
              <a:prstDash val="solid"/>
              <a:round/>
            </a:ln>
            <a:effectLst/>
          </c:spPr>
          <c:dPt>
            <c:idx val="0"/>
            <c:bubble3D val="0"/>
            <c:spPr>
              <a:solidFill>
                <a:srgbClr val="8B0000"/>
              </a:solidFill>
              <a:effectLst/>
            </c:spPr>
            <c:extLst>
              <c:ext xmlns:c16="http://schemas.microsoft.com/office/drawing/2014/chart" uri="{C3380CC4-5D6E-409C-BE32-E72D297353CC}">
                <c16:uniqueId val="{00000001-47B3-47C0-BDB8-730EC3A70125}"/>
              </c:ext>
            </c:extLst>
          </c:dPt>
          <c:dPt>
            <c:idx val="1"/>
            <c:bubble3D val="0"/>
            <c:spPr>
              <a:solidFill>
                <a:srgbClr val="E8C4C4"/>
              </a:solidFill>
              <a:effectLst/>
            </c:spPr>
            <c:extLst>
              <c:ext xmlns:c16="http://schemas.microsoft.com/office/drawing/2014/chart" uri="{C3380CC4-5D6E-409C-BE32-E72D297353CC}">
                <c16:uniqueId val="{00000003-47B3-47C0-BDB8-730EC3A70125}"/>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7B3-47C0-BDB8-730EC3A70125}"/>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7B3-47C0-BDB8-730EC3A7012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Has Table Booking</c:v>
                </c:pt>
                <c:pt idx="1">
                  <c:v>No Table Booking</c:v>
                </c:pt>
              </c:strCache>
            </c:strRef>
          </c:cat>
          <c:val>
            <c:numRef>
              <c:f>Sheet1!$B$2:$B$3</c:f>
              <c:numCache>
                <c:formatCode>General</c:formatCode>
                <c:ptCount val="2"/>
                <c:pt idx="0">
                  <c:v>12.12</c:v>
                </c:pt>
                <c:pt idx="1">
                  <c:v>87.88</c:v>
                </c:pt>
              </c:numCache>
            </c:numRef>
          </c:val>
          <c:extLst>
            <c:ext xmlns:c16="http://schemas.microsoft.com/office/drawing/2014/chart" uri="{C3380CC4-5D6E-409C-BE32-E72D297353CC}">
              <c16:uniqueId val="{00000004-47B3-47C0-BDB8-730EC3A70125}"/>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solidFill>
                <a:srgbClr val="444444"/>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Restaurants</c:v>
                </c:pt>
              </c:strCache>
            </c:strRef>
          </c:tx>
          <c:spPr>
            <a:solidFill>
              <a:srgbClr val="CB202D"/>
            </a:solidFill>
            <a:effectLst/>
          </c:spPr>
          <c:invertIfNegative val="0"/>
          <c:dPt>
            <c:idx val="0"/>
            <c:invertIfNegative val="0"/>
            <c:bubble3D val="0"/>
            <c:extLst>
              <c:ext xmlns:c16="http://schemas.microsoft.com/office/drawing/2014/chart" uri="{C3380CC4-5D6E-409C-BE32-E72D297353CC}">
                <c16:uniqueId val="{00000001-4AF3-4728-86F6-E0F720E37ADA}"/>
              </c:ext>
            </c:extLst>
          </c:dPt>
          <c:dPt>
            <c:idx val="1"/>
            <c:invertIfNegative val="0"/>
            <c:bubble3D val="0"/>
            <c:spPr>
              <a:solidFill>
                <a:srgbClr val="8B0000"/>
              </a:solidFill>
              <a:effectLst/>
            </c:spPr>
            <c:extLst>
              <c:ext xmlns:c16="http://schemas.microsoft.com/office/drawing/2014/chart" uri="{C3380CC4-5D6E-409C-BE32-E72D297353CC}">
                <c16:uniqueId val="{00000003-4AF3-4728-86F6-E0F720E37ADA}"/>
              </c:ext>
            </c:extLst>
          </c:dPt>
          <c:dPt>
            <c:idx val="2"/>
            <c:invertIfNegative val="0"/>
            <c:bubble3D val="0"/>
            <c:extLst>
              <c:ext xmlns:c16="http://schemas.microsoft.com/office/drawing/2014/chart" uri="{C3380CC4-5D6E-409C-BE32-E72D297353CC}">
                <c16:uniqueId val="{00000005-4AF3-4728-86F6-E0F720E37ADA}"/>
              </c:ext>
            </c:extLst>
          </c:dPt>
          <c:dPt>
            <c:idx val="3"/>
            <c:invertIfNegative val="0"/>
            <c:bubble3D val="0"/>
            <c:spPr>
              <a:solidFill>
                <a:srgbClr val="8B0000"/>
              </a:solidFill>
              <a:effectLst/>
            </c:spPr>
            <c:extLst>
              <c:ext xmlns:c16="http://schemas.microsoft.com/office/drawing/2014/chart" uri="{C3380CC4-5D6E-409C-BE32-E72D297353CC}">
                <c16:uniqueId val="{00000007-4AF3-4728-86F6-E0F720E37ADA}"/>
              </c:ext>
            </c:extLst>
          </c:dPt>
          <c:dPt>
            <c:idx val="4"/>
            <c:invertIfNegative val="0"/>
            <c:bubble3D val="0"/>
            <c:extLst>
              <c:ext xmlns:c16="http://schemas.microsoft.com/office/drawing/2014/chart" uri="{C3380CC4-5D6E-409C-BE32-E72D297353CC}">
                <c16:uniqueId val="{00000009-4AF3-4728-86F6-E0F720E37ADA}"/>
              </c:ext>
            </c:extLst>
          </c:dPt>
          <c:dPt>
            <c:idx val="5"/>
            <c:invertIfNegative val="0"/>
            <c:bubble3D val="0"/>
            <c:spPr>
              <a:solidFill>
                <a:srgbClr val="8B0000"/>
              </a:solidFill>
              <a:effectLst/>
            </c:spPr>
            <c:extLst>
              <c:ext xmlns:c16="http://schemas.microsoft.com/office/drawing/2014/chart" uri="{C3380CC4-5D6E-409C-BE32-E72D297353CC}">
                <c16:uniqueId val="{0000000B-4AF3-4728-86F6-E0F720E37ADA}"/>
              </c:ext>
            </c:extLst>
          </c:dPt>
          <c:dPt>
            <c:idx val="6"/>
            <c:invertIfNegative val="0"/>
            <c:bubble3D val="0"/>
            <c:extLst>
              <c:ext xmlns:c16="http://schemas.microsoft.com/office/drawing/2014/chart" uri="{C3380CC4-5D6E-409C-BE32-E72D297353CC}">
                <c16:uniqueId val="{0000000D-4AF3-4728-86F6-E0F720E37ADA}"/>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New Delhi</c:v>
                </c:pt>
                <c:pt idx="1">
                  <c:v>Gurgaon</c:v>
                </c:pt>
                <c:pt idx="2">
                  <c:v>Noida</c:v>
                </c:pt>
                <c:pt idx="3">
                  <c:v>Faridabad</c:v>
                </c:pt>
                <c:pt idx="4">
                  <c:v>Ghaziabad</c:v>
                </c:pt>
                <c:pt idx="5">
                  <c:v>Ahmedabad</c:v>
                </c:pt>
                <c:pt idx="6">
                  <c:v>Amritsar</c:v>
                </c:pt>
              </c:strCache>
            </c:strRef>
          </c:cat>
          <c:val>
            <c:numRef>
              <c:f>Sheet1!$B$2:$B$8</c:f>
              <c:numCache>
                <c:formatCode>General</c:formatCode>
                <c:ptCount val="7"/>
                <c:pt idx="0">
                  <c:v>5500</c:v>
                </c:pt>
                <c:pt idx="1">
                  <c:v>1100</c:v>
                </c:pt>
                <c:pt idx="2">
                  <c:v>1100</c:v>
                </c:pt>
                <c:pt idx="3">
                  <c:v>300</c:v>
                </c:pt>
                <c:pt idx="4">
                  <c:v>50</c:v>
                </c:pt>
                <c:pt idx="5">
                  <c:v>40</c:v>
                </c:pt>
                <c:pt idx="6">
                  <c:v>30</c:v>
                </c:pt>
              </c:numCache>
            </c:numRef>
          </c:val>
          <c:extLst>
            <c:ext xmlns:c16="http://schemas.microsoft.com/office/drawing/2014/chart" uri="{C3380CC4-5D6E-409C-BE32-E72D297353CC}">
              <c16:uniqueId val="{0000000E-4AF3-4728-86F6-E0F720E37A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DF5F5"/>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Count</c:v>
                </c:pt>
              </c:strCache>
            </c:strRef>
          </c:tx>
          <c:spPr>
            <a:ln w="38100" cap="flat">
              <a:solidFill>
                <a:srgbClr val="CB202D"/>
              </a:solidFill>
              <a:prstDash val="solid"/>
              <a:round/>
            </a:ln>
            <a:effectLst/>
          </c:spPr>
          <c:marker>
            <c:symbol val="circle"/>
            <c:size val="6"/>
            <c:spPr>
              <a:solidFill>
                <a:srgbClr val="CB202D"/>
              </a:solidFill>
              <a:ln w="9525" cap="flat">
                <a:solidFill>
                  <a:srgbClr val="CB202D"/>
                </a:solidFill>
                <a:prstDash val="solid"/>
                <a:round/>
              </a:ln>
              <a:effectLst/>
            </c:spPr>
          </c:marker>
          <c:cat>
            <c:strRef>
              <c:f>Sheet1!$A$2:$A$10</c:f>
              <c:strCache>
                <c:ptCount val="9"/>
                <c:pt idx="0">
                  <c:v>2010</c:v>
                </c:pt>
                <c:pt idx="1">
                  <c:v>2011</c:v>
                </c:pt>
                <c:pt idx="2">
                  <c:v>2012</c:v>
                </c:pt>
                <c:pt idx="3">
                  <c:v>2013</c:v>
                </c:pt>
                <c:pt idx="4">
                  <c:v>2014</c:v>
                </c:pt>
                <c:pt idx="5">
                  <c:v>2015</c:v>
                </c:pt>
                <c:pt idx="6">
                  <c:v>2016</c:v>
                </c:pt>
                <c:pt idx="7">
                  <c:v>2017</c:v>
                </c:pt>
                <c:pt idx="8">
                  <c:v>2018</c:v>
                </c:pt>
              </c:strCache>
            </c:strRef>
          </c:cat>
          <c:val>
            <c:numRef>
              <c:f>Sheet1!$B$2:$B$10</c:f>
              <c:numCache>
                <c:formatCode>General</c:formatCode>
                <c:ptCount val="9"/>
                <c:pt idx="0">
                  <c:v>1080</c:v>
                </c:pt>
                <c:pt idx="1">
                  <c:v>1098</c:v>
                </c:pt>
                <c:pt idx="2">
                  <c:v>1022</c:v>
                </c:pt>
                <c:pt idx="3">
                  <c:v>1061</c:v>
                </c:pt>
                <c:pt idx="4">
                  <c:v>1051</c:v>
                </c:pt>
                <c:pt idx="5">
                  <c:v>1024</c:v>
                </c:pt>
                <c:pt idx="6">
                  <c:v>1086</c:v>
                </c:pt>
                <c:pt idx="7">
                  <c:v>1102</c:v>
                </c:pt>
                <c:pt idx="8">
                  <c:v>1102</c:v>
                </c:pt>
              </c:numCache>
            </c:numRef>
          </c:val>
          <c:smooth val="1"/>
          <c:extLst>
            <c:ext xmlns:c16="http://schemas.microsoft.com/office/drawing/2014/chart" uri="{C3380CC4-5D6E-409C-BE32-E72D297353CC}">
              <c16:uniqueId val="{00000000-E0A5-4941-9DB1-94829F12F09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DF5F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6178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0"/>
          </a:xfrm>
          <a:prstGeom prst="rect">
            <a:avLst/>
          </a:prstGeom>
          <a:solidFill>
            <a:srgbClr val="CB202D"/>
          </a:solidFill>
          <a:ln/>
        </p:spPr>
      </p:sp>
      <p:sp>
        <p:nvSpPr>
          <p:cNvPr id="3" name="Shape 1"/>
          <p:cNvSpPr/>
          <p:nvPr/>
        </p:nvSpPr>
        <p:spPr>
          <a:xfrm>
            <a:off x="0" y="4846320"/>
            <a:ext cx="9144000" cy="297180"/>
          </a:xfrm>
          <a:prstGeom prst="rect">
            <a:avLst/>
          </a:prstGeom>
          <a:solidFill>
            <a:srgbClr val="8B0000"/>
          </a:solidFill>
          <a:ln/>
        </p:spPr>
      </p:sp>
      <p:sp>
        <p:nvSpPr>
          <p:cNvPr id="4" name="Text 2"/>
          <p:cNvSpPr/>
          <p:nvPr/>
        </p:nvSpPr>
        <p:spPr>
          <a:xfrm>
            <a:off x="457200" y="502920"/>
            <a:ext cx="8229600" cy="1828800"/>
          </a:xfrm>
          <a:prstGeom prst="rect">
            <a:avLst/>
          </a:prstGeom>
          <a:noFill/>
          <a:ln/>
        </p:spPr>
        <p:txBody>
          <a:bodyPr wrap="square" lIns="0" tIns="0" rIns="0" bIns="0" rtlCol="0" anchor="ctr"/>
          <a:lstStyle/>
          <a:p>
            <a:pPr marL="0" indent="0" algn="ctr">
              <a:buNone/>
            </a:pPr>
            <a:r>
              <a:rPr lang="en-US" sz="9600" b="1" i="1" dirty="0">
                <a:solidFill>
                  <a:srgbClr val="FFFFFF"/>
                </a:solidFill>
                <a:latin typeface="Georgia" pitchFamily="34" charset="0"/>
                <a:ea typeface="Georgia" pitchFamily="34" charset="-122"/>
                <a:cs typeface="Georgia" pitchFamily="34" charset="-120"/>
              </a:rPr>
              <a:t>zomato</a:t>
            </a:r>
            <a:endParaRPr lang="en-US" sz="9600" dirty="0"/>
          </a:p>
        </p:txBody>
      </p:sp>
      <p:sp>
        <p:nvSpPr>
          <p:cNvPr id="5" name="Text 3"/>
          <p:cNvSpPr/>
          <p:nvPr/>
        </p:nvSpPr>
        <p:spPr>
          <a:xfrm>
            <a:off x="457200" y="2880360"/>
            <a:ext cx="8229600" cy="502920"/>
          </a:xfrm>
          <a:prstGeom prst="rect">
            <a:avLst/>
          </a:prstGeom>
          <a:noFill/>
          <a:ln/>
        </p:spPr>
        <p:txBody>
          <a:bodyPr wrap="square" lIns="0" tIns="0" rIns="0" bIns="0" rtlCol="0" anchor="ctr"/>
          <a:lstStyle/>
          <a:p>
            <a:pPr marL="0" indent="0" algn="ctr">
              <a:buNone/>
            </a:pPr>
            <a:r>
              <a:rPr lang="en-US" sz="2200" i="1" dirty="0">
                <a:solidFill>
                  <a:srgbClr val="CB202D"/>
                </a:solidFill>
                <a:latin typeface="Times New Roman" pitchFamily="34" charset="0"/>
                <a:ea typeface="Times New Roman" pitchFamily="34" charset="-122"/>
                <a:cs typeface="Times New Roman" pitchFamily="34" charset="-120"/>
              </a:rPr>
              <a:t>Better Food for More People</a:t>
            </a:r>
            <a:endParaRPr lang="en-US" sz="2200" dirty="0"/>
          </a:p>
        </p:txBody>
      </p:sp>
      <p:sp>
        <p:nvSpPr>
          <p:cNvPr id="6" name="Shape 4"/>
          <p:cNvSpPr/>
          <p:nvPr/>
        </p:nvSpPr>
        <p:spPr>
          <a:xfrm>
            <a:off x="3200400" y="3474720"/>
            <a:ext cx="2743200" cy="54864"/>
          </a:xfrm>
          <a:prstGeom prst="rect">
            <a:avLst/>
          </a:prstGeom>
          <a:solidFill>
            <a:srgbClr val="CB202D"/>
          </a:solidFill>
          <a:ln/>
        </p:spPr>
      </p:sp>
      <p:sp>
        <p:nvSpPr>
          <p:cNvPr id="7" name="Text 5"/>
          <p:cNvSpPr/>
          <p:nvPr/>
        </p:nvSpPr>
        <p:spPr>
          <a:xfrm>
            <a:off x="457200" y="3611880"/>
            <a:ext cx="8229600" cy="411480"/>
          </a:xfrm>
          <a:prstGeom prst="rect">
            <a:avLst/>
          </a:prstGeom>
          <a:noFill/>
          <a:ln/>
        </p:spPr>
        <p:txBody>
          <a:bodyPr wrap="square" lIns="0" tIns="0" rIns="0" bIns="0" rtlCol="0" anchor="ctr"/>
          <a:lstStyle/>
          <a:p>
            <a:pPr marL="0" indent="0" algn="ctr">
              <a:buNone/>
            </a:pPr>
            <a:r>
              <a:rPr lang="en-US" sz="1500" kern="0" spc="300" dirty="0">
                <a:solidFill>
                  <a:srgbClr val="888888"/>
                </a:solidFill>
                <a:latin typeface="Times New Roman" pitchFamily="34" charset="0"/>
                <a:ea typeface="Times New Roman" pitchFamily="34" charset="-122"/>
                <a:cs typeface="Times New Roman" pitchFamily="34" charset="-120"/>
              </a:rPr>
              <a:t>ZOMATO RESTAURANT PROJECT  |  FINAL REVIEW</a:t>
            </a:r>
            <a:endParaRPr lang="en-US" sz="1500" dirty="0"/>
          </a:p>
        </p:txBody>
      </p:sp>
      <p:sp>
        <p:nvSpPr>
          <p:cNvPr id="8" name="Text 6"/>
          <p:cNvSpPr/>
          <p:nvPr/>
        </p:nvSpPr>
        <p:spPr>
          <a:xfrm>
            <a:off x="457200" y="4096512"/>
            <a:ext cx="8229600" cy="365760"/>
          </a:xfrm>
          <a:prstGeom prst="rect">
            <a:avLst/>
          </a:prstGeom>
          <a:noFill/>
          <a:ln/>
        </p:spPr>
        <p:txBody>
          <a:bodyPr wrap="square" lIns="0" tIns="0" rIns="0" bIns="0" rtlCol="0" anchor="ctr"/>
          <a:lstStyle/>
          <a:p>
            <a:pPr marL="0" indent="0" algn="ctr">
              <a:buNone/>
            </a:pPr>
            <a:r>
              <a:rPr lang="en-US" sz="1400" dirty="0">
                <a:solidFill>
                  <a:srgbClr val="1A1A2E"/>
                </a:solidFill>
                <a:latin typeface="Times New Roman" pitchFamily="34" charset="0"/>
                <a:ea typeface="Times New Roman" pitchFamily="34" charset="-122"/>
                <a:cs typeface="Times New Roman" pitchFamily="34" charset="-120"/>
              </a:rPr>
              <a:t>Excel  ·  SQL  ·  Power BI  ·  Tableau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CB202D"/>
          </a:solidFill>
          <a:ln/>
        </p:spPr>
      </p:sp>
      <p:sp>
        <p:nvSpPr>
          <p:cNvPr id="3" name="Shape 1"/>
          <p:cNvSpPr/>
          <p:nvPr/>
        </p:nvSpPr>
        <p:spPr>
          <a:xfrm>
            <a:off x="3566160" y="0"/>
            <a:ext cx="502920" cy="5143500"/>
          </a:xfrm>
          <a:prstGeom prst="rect">
            <a:avLst/>
          </a:prstGeom>
          <a:solidFill>
            <a:srgbClr val="8B0000"/>
          </a:solidFill>
          <a:ln/>
        </p:spPr>
      </p:sp>
      <p:sp>
        <p:nvSpPr>
          <p:cNvPr id="4" name="Text 2"/>
          <p:cNvSpPr/>
          <p:nvPr/>
        </p:nvSpPr>
        <p:spPr>
          <a:xfrm>
            <a:off x="137160" y="502920"/>
            <a:ext cx="3474720" cy="960120"/>
          </a:xfrm>
          <a:prstGeom prst="rect">
            <a:avLst/>
          </a:prstGeom>
          <a:noFill/>
          <a:ln/>
        </p:spPr>
        <p:txBody>
          <a:bodyPr wrap="square" lIns="0" tIns="0" rIns="0" bIns="0" rtlCol="0" anchor="ctr"/>
          <a:lstStyle/>
          <a:p>
            <a:pPr marL="0" indent="0" algn="ctr">
              <a:buNone/>
            </a:pPr>
            <a:r>
              <a:rPr lang="en-US" sz="5000" b="1" dirty="0">
                <a:solidFill>
                  <a:srgbClr val="FFFFFF"/>
                </a:solidFill>
                <a:latin typeface="Times New Roman" pitchFamily="34" charset="0"/>
                <a:ea typeface="Times New Roman" pitchFamily="34" charset="-122"/>
                <a:cs typeface="Times New Roman" pitchFamily="34" charset="-120"/>
              </a:rPr>
              <a:t>ZOMATO</a:t>
            </a:r>
            <a:endParaRPr lang="en-US" sz="5000" dirty="0"/>
          </a:p>
        </p:txBody>
      </p:sp>
      <p:sp>
        <p:nvSpPr>
          <p:cNvPr id="5" name="Text 3"/>
          <p:cNvSpPr/>
          <p:nvPr/>
        </p:nvSpPr>
        <p:spPr>
          <a:xfrm>
            <a:off x="137160" y="1371600"/>
            <a:ext cx="3474720" cy="502920"/>
          </a:xfrm>
          <a:prstGeom prst="rect">
            <a:avLst/>
          </a:prstGeom>
          <a:noFill/>
          <a:ln/>
        </p:spPr>
        <p:txBody>
          <a:bodyPr wrap="square" lIns="0" tIns="0" rIns="0" bIns="0" rtlCol="0" anchor="ctr"/>
          <a:lstStyle/>
          <a:p>
            <a:pPr marL="0" indent="0" algn="ctr">
              <a:buNone/>
            </a:pPr>
            <a:r>
              <a:rPr lang="en-US" sz="2000" kern="0" spc="400" dirty="0">
                <a:solidFill>
                  <a:srgbClr val="E8C4C4"/>
                </a:solidFill>
                <a:latin typeface="Times New Roman" pitchFamily="34" charset="0"/>
                <a:ea typeface="Times New Roman" pitchFamily="34" charset="-122"/>
                <a:cs typeface="Times New Roman" pitchFamily="34" charset="-120"/>
              </a:rPr>
              <a:t>DATA ANALYSIS</a:t>
            </a:r>
            <a:endParaRPr lang="en-US" sz="2000" dirty="0"/>
          </a:p>
        </p:txBody>
      </p:sp>
      <p:sp>
        <p:nvSpPr>
          <p:cNvPr id="6" name="Shape 4"/>
          <p:cNvSpPr/>
          <p:nvPr/>
        </p:nvSpPr>
        <p:spPr>
          <a:xfrm>
            <a:off x="457200" y="1965960"/>
            <a:ext cx="2743200" cy="45720"/>
          </a:xfrm>
          <a:prstGeom prst="rect">
            <a:avLst/>
          </a:prstGeom>
          <a:solidFill>
            <a:srgbClr val="FFFFFF"/>
          </a:solidFill>
          <a:ln/>
        </p:spPr>
      </p:sp>
      <p:sp>
        <p:nvSpPr>
          <p:cNvPr id="7" name="Text 5"/>
          <p:cNvSpPr/>
          <p:nvPr/>
        </p:nvSpPr>
        <p:spPr>
          <a:xfrm>
            <a:off x="137160" y="2084832"/>
            <a:ext cx="3474720" cy="384048"/>
          </a:xfrm>
          <a:prstGeom prst="rect">
            <a:avLst/>
          </a:prstGeom>
          <a:noFill/>
          <a:ln/>
        </p:spPr>
        <p:txBody>
          <a:bodyPr wrap="square" lIns="0" tIns="0" rIns="0" bIns="0" rtlCol="0" anchor="ctr"/>
          <a:lstStyle/>
          <a:p>
            <a:pPr marL="0" indent="0" algn="ctr">
              <a:buNone/>
            </a:pPr>
            <a:r>
              <a:rPr lang="en-US" sz="1300" i="1" dirty="0">
                <a:solidFill>
                  <a:srgbClr val="E8C4C4"/>
                </a:solidFill>
                <a:latin typeface="Times New Roman" pitchFamily="34" charset="0"/>
                <a:ea typeface="Times New Roman" pitchFamily="34" charset="-122"/>
                <a:cs typeface="Times New Roman" pitchFamily="34" charset="-120"/>
              </a:rPr>
              <a:t>Excel  |  SQL  |  Power BI  |  Tableau</a:t>
            </a:r>
            <a:endParaRPr lang="en-US" sz="1300" dirty="0"/>
          </a:p>
        </p:txBody>
      </p:sp>
      <p:sp>
        <p:nvSpPr>
          <p:cNvPr id="8" name="Text 6"/>
          <p:cNvSpPr/>
          <p:nvPr/>
        </p:nvSpPr>
        <p:spPr>
          <a:xfrm>
            <a:off x="4187952" y="1645920"/>
            <a:ext cx="4663440" cy="365760"/>
          </a:xfrm>
          <a:prstGeom prst="rect">
            <a:avLst/>
          </a:prstGeom>
          <a:noFill/>
          <a:ln/>
        </p:spPr>
        <p:txBody>
          <a:bodyPr wrap="square" lIns="0" tIns="0" rIns="0" bIns="0" rtlCol="0" anchor="ctr"/>
          <a:lstStyle/>
          <a:p>
            <a:pPr marL="0" indent="0" algn="l">
              <a:buNone/>
            </a:pPr>
            <a:r>
              <a:rPr lang="en-US" sz="1300" kern="0" spc="300" dirty="0">
                <a:solidFill>
                  <a:srgbClr val="888888"/>
                </a:solidFill>
                <a:latin typeface="Times New Roman" pitchFamily="34" charset="0"/>
                <a:ea typeface="Times New Roman" pitchFamily="34" charset="-122"/>
                <a:cs typeface="Times New Roman" pitchFamily="34" charset="-120"/>
              </a:rPr>
              <a:t>PRESENTED BY GROUP 1</a:t>
            </a:r>
            <a:endParaRPr lang="en-US" sz="1300" dirty="0"/>
          </a:p>
        </p:txBody>
      </p:sp>
      <p:sp>
        <p:nvSpPr>
          <p:cNvPr id="9" name="Text 7"/>
          <p:cNvSpPr/>
          <p:nvPr/>
        </p:nvSpPr>
        <p:spPr>
          <a:xfrm>
            <a:off x="4187952" y="1124712"/>
            <a:ext cx="466344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Times New Roman" pitchFamily="34" charset="0"/>
                <a:ea typeface="Times New Roman" pitchFamily="34" charset="-122"/>
                <a:cs typeface="Times New Roman" pitchFamily="34" charset="-120"/>
              </a:rPr>
              <a:t>Final Review Project</a:t>
            </a:r>
            <a:endParaRPr lang="en-US" sz="2600" dirty="0"/>
          </a:p>
        </p:txBody>
      </p:sp>
      <p:sp>
        <p:nvSpPr>
          <p:cNvPr id="10" name="Shape 8"/>
          <p:cNvSpPr/>
          <p:nvPr/>
        </p:nvSpPr>
        <p:spPr>
          <a:xfrm>
            <a:off x="4206240" y="2240280"/>
            <a:ext cx="73152" cy="1600200"/>
          </a:xfrm>
          <a:prstGeom prst="rect">
            <a:avLst/>
          </a:prstGeom>
          <a:solidFill>
            <a:srgbClr val="CB202D"/>
          </a:solidFill>
          <a:ln/>
        </p:spPr>
      </p:sp>
      <p:sp>
        <p:nvSpPr>
          <p:cNvPr id="11" name="Text 9"/>
          <p:cNvSpPr/>
          <p:nvPr/>
        </p:nvSpPr>
        <p:spPr>
          <a:xfrm>
            <a:off x="4370832" y="2286000"/>
            <a:ext cx="4480560" cy="402336"/>
          </a:xfrm>
          <a:prstGeom prst="rect">
            <a:avLst/>
          </a:prstGeom>
          <a:noFill/>
          <a:ln/>
        </p:spPr>
        <p:txBody>
          <a:bodyPr wrap="square" lIns="0" tIns="0" rIns="0" bIns="0" rtlCol="0" anchor="ct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1. ___________________________</a:t>
            </a:r>
            <a:endParaRPr lang="en-US" sz="1500" dirty="0"/>
          </a:p>
        </p:txBody>
      </p:sp>
      <p:sp>
        <p:nvSpPr>
          <p:cNvPr id="12" name="Text 10"/>
          <p:cNvSpPr/>
          <p:nvPr/>
        </p:nvSpPr>
        <p:spPr>
          <a:xfrm>
            <a:off x="4370832" y="2761488"/>
            <a:ext cx="4480560" cy="402336"/>
          </a:xfrm>
          <a:prstGeom prst="rect">
            <a:avLst/>
          </a:prstGeom>
          <a:noFill/>
          <a:ln/>
        </p:spPr>
        <p:txBody>
          <a:bodyPr wrap="square" lIns="0" tIns="0" rIns="0" bIns="0" rtlCol="0" anchor="ctr"/>
          <a:lstStyle/>
          <a:p>
            <a:pPr marL="0" indent="0" algn="l">
              <a:buNone/>
            </a:pPr>
            <a:r>
              <a:rPr lang="en-US" sz="1500" dirty="0">
                <a:solidFill>
                  <a:srgbClr val="888888"/>
                </a:solidFill>
                <a:latin typeface="Times New Roman" pitchFamily="34" charset="0"/>
                <a:ea typeface="Times New Roman" pitchFamily="34" charset="-122"/>
                <a:cs typeface="Times New Roman" pitchFamily="34" charset="-120"/>
              </a:rPr>
              <a:t>2. ___________________________</a:t>
            </a:r>
            <a:endParaRPr lang="en-US" sz="1500" dirty="0"/>
          </a:p>
        </p:txBody>
      </p:sp>
      <p:sp>
        <p:nvSpPr>
          <p:cNvPr id="13" name="Text 11"/>
          <p:cNvSpPr/>
          <p:nvPr/>
        </p:nvSpPr>
        <p:spPr>
          <a:xfrm>
            <a:off x="4370832" y="3236976"/>
            <a:ext cx="4480560" cy="402336"/>
          </a:xfrm>
          <a:prstGeom prst="rect">
            <a:avLst/>
          </a:prstGeom>
          <a:noFill/>
          <a:ln/>
        </p:spPr>
        <p:txBody>
          <a:bodyPr wrap="square" lIns="0" tIns="0" rIns="0" bIns="0" rtlCol="0" anchor="ctr"/>
          <a:lstStyle/>
          <a:p>
            <a:pPr marL="0" indent="0" algn="l">
              <a:buNone/>
            </a:pPr>
            <a:r>
              <a:rPr lang="en-US" sz="1500" dirty="0">
                <a:solidFill>
                  <a:srgbClr val="888888"/>
                </a:solidFill>
                <a:latin typeface="Times New Roman" pitchFamily="34" charset="0"/>
                <a:ea typeface="Times New Roman" pitchFamily="34" charset="-122"/>
                <a:cs typeface="Times New Roman" pitchFamily="34" charset="-120"/>
              </a:rPr>
              <a:t>3. ___________________________</a:t>
            </a:r>
            <a:endParaRPr lang="en-US" sz="1500" dirty="0"/>
          </a:p>
        </p:txBody>
      </p:sp>
      <p:sp>
        <p:nvSpPr>
          <p:cNvPr id="15" name="Shape 13"/>
          <p:cNvSpPr/>
          <p:nvPr/>
        </p:nvSpPr>
        <p:spPr>
          <a:xfrm>
            <a:off x="0" y="4791456"/>
            <a:ext cx="9144000" cy="352044"/>
          </a:xfrm>
          <a:prstGeom prst="rect">
            <a:avLst/>
          </a:prstGeom>
          <a:solidFill>
            <a:srgbClr val="8B0000"/>
          </a:solidFill>
          <a:ln/>
        </p:spPr>
      </p:sp>
      <p:sp>
        <p:nvSpPr>
          <p:cNvPr id="16" name="Text 14"/>
          <p:cNvSpPr/>
          <p:nvPr/>
        </p:nvSpPr>
        <p:spPr>
          <a:xfrm>
            <a:off x="274320" y="4805172"/>
            <a:ext cx="8595360" cy="320040"/>
          </a:xfrm>
          <a:prstGeom prst="rect">
            <a:avLst/>
          </a:prstGeom>
          <a:noFill/>
          <a:ln/>
        </p:spPr>
        <p:txBody>
          <a:bodyPr wrap="square" lIns="0" tIns="0" rIns="0" bIns="0" rtlCol="0" anchor="ctr"/>
          <a:lstStyle/>
          <a:p>
            <a:pPr marL="0" indent="0" algn="ctr">
              <a:buNone/>
            </a:pPr>
            <a:endParaRPr lang="en-US" sz="1100" i="1" dirty="0">
              <a:solidFill>
                <a:srgbClr val="E8C4C4"/>
              </a:solidFill>
              <a:latin typeface="Times New Roman" pitchFamily="34" charset="0"/>
              <a:cs typeface="Times New Roman" pitchFamily="34" charset="-120"/>
            </a:endParaRPr>
          </a:p>
          <a:p>
            <a:pPr marL="0" indent="0" algn="ctr">
              <a:buNone/>
            </a:pPr>
            <a:endParaRPr lang="en-US" sz="1100" dirty="0"/>
          </a:p>
        </p:txBody>
      </p:sp>
      <p:sp>
        <p:nvSpPr>
          <p:cNvPr id="18" name="TextBox 17">
            <a:extLst>
              <a:ext uri="{FF2B5EF4-FFF2-40B4-BE49-F238E27FC236}">
                <a16:creationId xmlns:a16="http://schemas.microsoft.com/office/drawing/2014/main" id="{064B25ED-2048-C182-F593-6591CE8ECB48}"/>
              </a:ext>
            </a:extLst>
          </p:cNvPr>
          <p:cNvSpPr txBox="1"/>
          <p:nvPr/>
        </p:nvSpPr>
        <p:spPr>
          <a:xfrm>
            <a:off x="4864609" y="2221990"/>
            <a:ext cx="2216365" cy="365761"/>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Akula Prathyusha</a:t>
            </a:r>
          </a:p>
        </p:txBody>
      </p:sp>
      <p:sp>
        <p:nvSpPr>
          <p:cNvPr id="19" name="TextBox 18">
            <a:extLst>
              <a:ext uri="{FF2B5EF4-FFF2-40B4-BE49-F238E27FC236}">
                <a16:creationId xmlns:a16="http://schemas.microsoft.com/office/drawing/2014/main" id="{FDBBCDB0-D8B4-D12C-86E4-380904477E5E}"/>
              </a:ext>
            </a:extLst>
          </p:cNvPr>
          <p:cNvSpPr txBox="1"/>
          <p:nvPr/>
        </p:nvSpPr>
        <p:spPr>
          <a:xfrm>
            <a:off x="4864610" y="2710315"/>
            <a:ext cx="2216365" cy="365761"/>
          </a:xfrm>
          <a:prstGeom prst="rect">
            <a:avLst/>
          </a:prstGeom>
          <a:noFill/>
        </p:spPr>
        <p:txBody>
          <a:bodyPr wrap="square" rtlCol="0">
            <a:spAutoFit/>
          </a:bodyPr>
          <a:lstStyle/>
          <a:p>
            <a:r>
              <a:rPr lang="en-IN" dirty="0" err="1">
                <a:solidFill>
                  <a:schemeClr val="bg1"/>
                </a:solidFill>
                <a:latin typeface="Times New Roman" panose="02020603050405020304" pitchFamily="18" charset="0"/>
                <a:cs typeface="Times New Roman" panose="02020603050405020304" pitchFamily="18" charset="0"/>
              </a:rPr>
              <a:t>Thamaraikannan.D</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3AE5A899-73AA-0FE6-268C-7630A32659FC}"/>
              </a:ext>
            </a:extLst>
          </p:cNvPr>
          <p:cNvSpPr txBox="1"/>
          <p:nvPr/>
        </p:nvSpPr>
        <p:spPr>
          <a:xfrm>
            <a:off x="4915955" y="3177540"/>
            <a:ext cx="2216365" cy="365761"/>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Shiva </a:t>
            </a:r>
            <a:r>
              <a:rPr lang="en-IN" dirty="0" err="1">
                <a:solidFill>
                  <a:schemeClr val="bg1"/>
                </a:solidFill>
                <a:latin typeface="Times New Roman" panose="02020603050405020304" pitchFamily="18" charset="0"/>
                <a:cs typeface="Times New Roman" panose="02020603050405020304" pitchFamily="18" charset="0"/>
              </a:rPr>
              <a:t>Parendekar</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7" name="Shape 12">
            <a:extLst>
              <a:ext uri="{FF2B5EF4-FFF2-40B4-BE49-F238E27FC236}">
                <a16:creationId xmlns:a16="http://schemas.microsoft.com/office/drawing/2014/main" id="{D556D3B8-E637-A7D0-F7EF-70228756388F}"/>
              </a:ext>
            </a:extLst>
          </p:cNvPr>
          <p:cNvSpPr/>
          <p:nvPr/>
        </p:nvSpPr>
        <p:spPr>
          <a:xfrm>
            <a:off x="619858" y="2675323"/>
            <a:ext cx="2418764" cy="1734903"/>
          </a:xfrm>
          <a:prstGeom prst="rect">
            <a:avLst/>
          </a:prstGeom>
          <a:solidFill>
            <a:srgbClr val="1A1A2E"/>
          </a:solidFill>
          <a:ln/>
          <a:effectLst>
            <a:outerShdw blurRad="76200" dist="25400" dir="8100000" algn="bl" rotWithShape="0">
              <a:srgbClr val="CCCCCC">
                <a:alpha val="30000"/>
              </a:srgbClr>
            </a:outerShdw>
          </a:effectLst>
        </p:spPr>
        <p:txBody>
          <a:bodyPr/>
          <a:lstStyle/>
          <a:p>
            <a:endParaRPr lang="en-IN" dirty="0"/>
          </a:p>
        </p:txBody>
      </p:sp>
      <p:pic>
        <p:nvPicPr>
          <p:cNvPr id="26" name="Picture 25">
            <a:extLst>
              <a:ext uri="{FF2B5EF4-FFF2-40B4-BE49-F238E27FC236}">
                <a16:creationId xmlns:a16="http://schemas.microsoft.com/office/drawing/2014/main" id="{762318C8-559B-F909-81C8-CCEB0910D83E}"/>
              </a:ext>
            </a:extLst>
          </p:cNvPr>
          <p:cNvPicPr>
            <a:picLocks noChangeAspect="1"/>
          </p:cNvPicPr>
          <p:nvPr/>
        </p:nvPicPr>
        <p:blipFill>
          <a:blip r:embed="rId3"/>
          <a:stretch>
            <a:fillRect/>
          </a:stretch>
        </p:blipFill>
        <p:spPr>
          <a:xfrm>
            <a:off x="110741" y="2669537"/>
            <a:ext cx="3352125" cy="16736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INTRODUCTION &amp; OBJECTIVES</a:t>
            </a:r>
            <a:endParaRPr lang="en-US" sz="2200" dirty="0"/>
          </a:p>
        </p:txBody>
      </p:sp>
      <p:sp>
        <p:nvSpPr>
          <p:cNvPr id="7" name="Shape 5"/>
          <p:cNvSpPr/>
          <p:nvPr/>
        </p:nvSpPr>
        <p:spPr>
          <a:xfrm>
            <a:off x="347472" y="658368"/>
            <a:ext cx="3931920" cy="3931920"/>
          </a:xfrm>
          <a:prstGeom prst="rect">
            <a:avLst/>
          </a:prstGeom>
          <a:solidFill>
            <a:srgbClr val="FDF5F5"/>
          </a:solidFill>
          <a:ln/>
          <a:effectLst>
            <a:outerShdw blurRad="76200" dist="25400" dir="8100000" algn="bl" rotWithShape="0">
              <a:srgbClr val="CCCCCC">
                <a:alpha val="30000"/>
              </a:srgbClr>
            </a:outerShdw>
          </a:effectLst>
        </p:spPr>
      </p:sp>
      <p:sp>
        <p:nvSpPr>
          <p:cNvPr id="8" name="Shape 6"/>
          <p:cNvSpPr/>
          <p:nvPr/>
        </p:nvSpPr>
        <p:spPr>
          <a:xfrm>
            <a:off x="347472" y="658368"/>
            <a:ext cx="109728" cy="3931920"/>
          </a:xfrm>
          <a:prstGeom prst="rect">
            <a:avLst/>
          </a:prstGeom>
          <a:solidFill>
            <a:srgbClr val="CB202D"/>
          </a:solidFill>
          <a:ln/>
        </p:spPr>
      </p:sp>
      <p:sp>
        <p:nvSpPr>
          <p:cNvPr id="9" name="Text 7"/>
          <p:cNvSpPr/>
          <p:nvPr/>
        </p:nvSpPr>
        <p:spPr>
          <a:xfrm>
            <a:off x="548640" y="749808"/>
            <a:ext cx="3566160" cy="347472"/>
          </a:xfrm>
          <a:prstGeom prst="rect">
            <a:avLst/>
          </a:prstGeom>
          <a:noFill/>
          <a:ln/>
        </p:spPr>
        <p:txBody>
          <a:bodyPr wrap="square" lIns="0" tIns="0" rIns="0" bIns="0" rtlCol="0" anchor="ctr"/>
          <a:lstStyle/>
          <a:p>
            <a:pPr marL="0" indent="0">
              <a:buNone/>
            </a:pPr>
            <a:r>
              <a:rPr lang="en-US" sz="1700" b="1" dirty="0">
                <a:solidFill>
                  <a:srgbClr val="CB202D"/>
                </a:solidFill>
                <a:latin typeface="Times New Roman" pitchFamily="34" charset="0"/>
                <a:ea typeface="Times New Roman" pitchFamily="34" charset="-122"/>
                <a:cs typeface="Times New Roman" pitchFamily="34" charset="-120"/>
              </a:rPr>
              <a:t>Introduction</a:t>
            </a:r>
            <a:endParaRPr lang="en-US" sz="1700" dirty="0"/>
          </a:p>
        </p:txBody>
      </p:sp>
      <p:sp>
        <p:nvSpPr>
          <p:cNvPr id="10" name="Text 8"/>
          <p:cNvSpPr/>
          <p:nvPr/>
        </p:nvSpPr>
        <p:spPr>
          <a:xfrm>
            <a:off x="548640" y="1188720"/>
            <a:ext cx="3566160" cy="594360"/>
          </a:xfrm>
          <a:prstGeom prst="rect">
            <a:avLst/>
          </a:prstGeom>
          <a:noFill/>
          <a:ln/>
        </p:spPr>
        <p:txBody>
          <a:bodyPr wrap="square" lIns="0" tIns="0" rIns="0" bIns="0" rtlCol="0" anchor="t"/>
          <a:lstStyle/>
          <a:p>
            <a:pPr marL="0" indent="0" algn="l">
              <a:buNone/>
            </a:pPr>
            <a:r>
              <a:rPr lang="en-US" sz="1200" b="1"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Zomato is one of India's leading food delivery &amp; restaurant discovery platforms, operating across 15+ countries.</a:t>
            </a:r>
            <a:endParaRPr lang="en-US" sz="1200" dirty="0"/>
          </a:p>
        </p:txBody>
      </p:sp>
      <p:sp>
        <p:nvSpPr>
          <p:cNvPr id="11" name="Text 9"/>
          <p:cNvSpPr/>
          <p:nvPr/>
        </p:nvSpPr>
        <p:spPr>
          <a:xfrm>
            <a:off x="548640" y="1847088"/>
            <a:ext cx="3566160" cy="594360"/>
          </a:xfrm>
          <a:prstGeom prst="rect">
            <a:avLst/>
          </a:prstGeom>
          <a:noFill/>
          <a:ln/>
        </p:spPr>
        <p:txBody>
          <a:bodyPr wrap="square" lIns="0" tIns="0" rIns="0" bIns="0" rtlCol="0" anchor="t"/>
          <a:lstStyle/>
          <a:p>
            <a:pPr marL="0" indent="0" algn="l">
              <a:buNone/>
            </a:pPr>
            <a:r>
              <a:rPr lang="en-US" sz="1200" b="1"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This project analyzes the Zomato restaurant dataset to uncover patterns in pricing, ratings, delivery adoption, and city-wise presence.</a:t>
            </a:r>
            <a:endParaRPr lang="en-US" sz="1200" dirty="0"/>
          </a:p>
        </p:txBody>
      </p:sp>
      <p:sp>
        <p:nvSpPr>
          <p:cNvPr id="12" name="Text 10"/>
          <p:cNvSpPr/>
          <p:nvPr/>
        </p:nvSpPr>
        <p:spPr>
          <a:xfrm>
            <a:off x="548640" y="2505456"/>
            <a:ext cx="3566160" cy="594360"/>
          </a:xfrm>
          <a:prstGeom prst="rect">
            <a:avLst/>
          </a:prstGeom>
          <a:noFill/>
          <a:ln/>
        </p:spPr>
        <p:txBody>
          <a:bodyPr wrap="square" lIns="0" tIns="0" rIns="0" bIns="0" rtlCol="0" anchor="t"/>
          <a:lstStyle/>
          <a:p>
            <a:pPr marL="0" indent="0" algn="l">
              <a:buNone/>
            </a:pPr>
            <a:r>
              <a:rPr lang="en-US" sz="1200" b="1"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The dataset contains 9,551 restaurants with 21 attributes covering cuisines, costs, ratings, and service features.</a:t>
            </a:r>
            <a:endParaRPr lang="en-US" sz="1200" dirty="0"/>
          </a:p>
        </p:txBody>
      </p:sp>
      <p:sp>
        <p:nvSpPr>
          <p:cNvPr id="13" name="Text 11"/>
          <p:cNvSpPr/>
          <p:nvPr/>
        </p:nvSpPr>
        <p:spPr>
          <a:xfrm>
            <a:off x="548640" y="3163824"/>
            <a:ext cx="3566160" cy="594360"/>
          </a:xfrm>
          <a:prstGeom prst="rect">
            <a:avLst/>
          </a:prstGeom>
          <a:noFill/>
          <a:ln/>
        </p:spPr>
        <p:txBody>
          <a:bodyPr wrap="square" lIns="0" tIns="0" rIns="0" bIns="0" rtlCol="0" anchor="t"/>
          <a:lstStyle/>
          <a:p>
            <a:pPr marL="0" indent="0" algn="l">
              <a:buNone/>
            </a:pPr>
            <a:r>
              <a:rPr lang="en-US" sz="1200" b="1"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Analysis was carried out over 4 weeks using Excel, SQL, Power BI, and Tableau in a structured project workflow.</a:t>
            </a:r>
            <a:endParaRPr lang="en-US" sz="1200" dirty="0"/>
          </a:p>
        </p:txBody>
      </p:sp>
      <p:sp>
        <p:nvSpPr>
          <p:cNvPr id="14" name="Shape 12"/>
          <p:cNvSpPr/>
          <p:nvPr/>
        </p:nvSpPr>
        <p:spPr>
          <a:xfrm>
            <a:off x="4572000" y="658368"/>
            <a:ext cx="4224528" cy="3931920"/>
          </a:xfrm>
          <a:prstGeom prst="rect">
            <a:avLst/>
          </a:prstGeom>
          <a:solidFill>
            <a:srgbClr val="1A1A2E"/>
          </a:solidFill>
          <a:ln/>
          <a:effectLst>
            <a:outerShdw blurRad="76200" dist="25400" dir="8100000" algn="bl" rotWithShape="0">
              <a:srgbClr val="CCCCCC">
                <a:alpha val="30000"/>
              </a:srgbClr>
            </a:outerShdw>
          </a:effectLst>
        </p:spPr>
      </p:sp>
      <p:sp>
        <p:nvSpPr>
          <p:cNvPr id="15" name="Text 13"/>
          <p:cNvSpPr/>
          <p:nvPr/>
        </p:nvSpPr>
        <p:spPr>
          <a:xfrm>
            <a:off x="4754880" y="749808"/>
            <a:ext cx="3840480" cy="347472"/>
          </a:xfrm>
          <a:prstGeom prst="rect">
            <a:avLst/>
          </a:prstGeom>
          <a:noFill/>
          <a:ln/>
        </p:spPr>
        <p:txBody>
          <a:bodyPr wrap="square" lIns="0" tIns="0" rIns="0" bIns="0" rtlCol="0" anchor="ctr"/>
          <a:lstStyle/>
          <a:p>
            <a:pPr marL="0" indent="0">
              <a:buNone/>
            </a:pPr>
            <a:r>
              <a:rPr lang="en-US" sz="1700" b="1" dirty="0">
                <a:solidFill>
                  <a:srgbClr val="E8C4C4"/>
                </a:solidFill>
                <a:latin typeface="Times New Roman" pitchFamily="34" charset="0"/>
                <a:ea typeface="Times New Roman" pitchFamily="34" charset="-122"/>
                <a:cs typeface="Times New Roman" pitchFamily="34" charset="-120"/>
              </a:rPr>
              <a:t>Objectives</a:t>
            </a:r>
            <a:endParaRPr lang="en-US" sz="1700" dirty="0"/>
          </a:p>
        </p:txBody>
      </p:sp>
      <p:sp>
        <p:nvSpPr>
          <p:cNvPr id="16" name="Shape 14"/>
          <p:cNvSpPr/>
          <p:nvPr/>
        </p:nvSpPr>
        <p:spPr>
          <a:xfrm>
            <a:off x="4709160" y="1261872"/>
            <a:ext cx="320040" cy="320040"/>
          </a:xfrm>
          <a:prstGeom prst="rect">
            <a:avLst/>
          </a:prstGeom>
          <a:solidFill>
            <a:srgbClr val="CB202D"/>
          </a:solidFill>
          <a:ln/>
        </p:spPr>
      </p:sp>
      <p:sp>
        <p:nvSpPr>
          <p:cNvPr id="17" name="Text 15"/>
          <p:cNvSpPr/>
          <p:nvPr/>
        </p:nvSpPr>
        <p:spPr>
          <a:xfrm>
            <a:off x="4709160" y="126187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1</a:t>
            </a:r>
            <a:endParaRPr lang="en-US" sz="1200" dirty="0"/>
          </a:p>
        </p:txBody>
      </p:sp>
      <p:sp>
        <p:nvSpPr>
          <p:cNvPr id="18" name="Text 16"/>
          <p:cNvSpPr/>
          <p:nvPr/>
        </p:nvSpPr>
        <p:spPr>
          <a:xfrm>
            <a:off x="5120640" y="1271016"/>
            <a:ext cx="3520440" cy="320040"/>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Analyze pricing trends across restaurants</a:t>
            </a:r>
            <a:endParaRPr lang="en-US" sz="1300" dirty="0"/>
          </a:p>
        </p:txBody>
      </p:sp>
      <p:sp>
        <p:nvSpPr>
          <p:cNvPr id="19" name="Shape 17"/>
          <p:cNvSpPr/>
          <p:nvPr/>
        </p:nvSpPr>
        <p:spPr>
          <a:xfrm>
            <a:off x="4709160" y="1837944"/>
            <a:ext cx="320040" cy="320040"/>
          </a:xfrm>
          <a:prstGeom prst="rect">
            <a:avLst/>
          </a:prstGeom>
          <a:solidFill>
            <a:srgbClr val="CB202D"/>
          </a:solidFill>
          <a:ln/>
        </p:spPr>
      </p:sp>
      <p:sp>
        <p:nvSpPr>
          <p:cNvPr id="20" name="Text 18"/>
          <p:cNvSpPr/>
          <p:nvPr/>
        </p:nvSpPr>
        <p:spPr>
          <a:xfrm>
            <a:off x="4709160" y="183794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2</a:t>
            </a:r>
            <a:endParaRPr lang="en-US" sz="1200" dirty="0"/>
          </a:p>
        </p:txBody>
      </p:sp>
      <p:sp>
        <p:nvSpPr>
          <p:cNvPr id="21" name="Text 19"/>
          <p:cNvSpPr/>
          <p:nvPr/>
        </p:nvSpPr>
        <p:spPr>
          <a:xfrm>
            <a:off x="5120640" y="1847088"/>
            <a:ext cx="3520440" cy="320040"/>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Understand online delivery &amp; table booking adoption</a:t>
            </a:r>
            <a:endParaRPr lang="en-US" sz="1300" dirty="0"/>
          </a:p>
        </p:txBody>
      </p:sp>
      <p:sp>
        <p:nvSpPr>
          <p:cNvPr id="22" name="Shape 20"/>
          <p:cNvSpPr/>
          <p:nvPr/>
        </p:nvSpPr>
        <p:spPr>
          <a:xfrm>
            <a:off x="4709160" y="2414016"/>
            <a:ext cx="320040" cy="320040"/>
          </a:xfrm>
          <a:prstGeom prst="rect">
            <a:avLst/>
          </a:prstGeom>
          <a:solidFill>
            <a:srgbClr val="CB202D"/>
          </a:solidFill>
          <a:ln/>
        </p:spPr>
      </p:sp>
      <p:sp>
        <p:nvSpPr>
          <p:cNvPr id="23" name="Text 21"/>
          <p:cNvSpPr/>
          <p:nvPr/>
        </p:nvSpPr>
        <p:spPr>
          <a:xfrm>
            <a:off x="4709160" y="2414016"/>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3</a:t>
            </a:r>
            <a:endParaRPr lang="en-US" sz="1200" dirty="0"/>
          </a:p>
        </p:txBody>
      </p:sp>
      <p:sp>
        <p:nvSpPr>
          <p:cNvPr id="24" name="Text 22"/>
          <p:cNvSpPr/>
          <p:nvPr/>
        </p:nvSpPr>
        <p:spPr>
          <a:xfrm>
            <a:off x="5120640" y="2423160"/>
            <a:ext cx="3520440" cy="320040"/>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Study customer rating distribution patterns</a:t>
            </a:r>
            <a:endParaRPr lang="en-US" sz="1300" dirty="0"/>
          </a:p>
        </p:txBody>
      </p:sp>
      <p:sp>
        <p:nvSpPr>
          <p:cNvPr id="25" name="Shape 23"/>
          <p:cNvSpPr/>
          <p:nvPr/>
        </p:nvSpPr>
        <p:spPr>
          <a:xfrm>
            <a:off x="4709160" y="2990088"/>
            <a:ext cx="320040" cy="320040"/>
          </a:xfrm>
          <a:prstGeom prst="rect">
            <a:avLst/>
          </a:prstGeom>
          <a:solidFill>
            <a:srgbClr val="CB202D"/>
          </a:solidFill>
          <a:ln/>
        </p:spPr>
      </p:sp>
      <p:sp>
        <p:nvSpPr>
          <p:cNvPr id="26" name="Text 24"/>
          <p:cNvSpPr/>
          <p:nvPr/>
        </p:nvSpPr>
        <p:spPr>
          <a:xfrm>
            <a:off x="4709160" y="2990088"/>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4</a:t>
            </a:r>
            <a:endParaRPr lang="en-US" sz="1200" dirty="0"/>
          </a:p>
        </p:txBody>
      </p:sp>
      <p:sp>
        <p:nvSpPr>
          <p:cNvPr id="27" name="Text 25"/>
          <p:cNvSpPr/>
          <p:nvPr/>
        </p:nvSpPr>
        <p:spPr>
          <a:xfrm>
            <a:off x="5120640" y="2999232"/>
            <a:ext cx="3520440" cy="320040"/>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Identify top cities by restaurant concentration</a:t>
            </a:r>
            <a:endParaRPr lang="en-US" sz="1300" dirty="0"/>
          </a:p>
        </p:txBody>
      </p:sp>
      <p:sp>
        <p:nvSpPr>
          <p:cNvPr id="28" name="Shape 26"/>
          <p:cNvSpPr/>
          <p:nvPr/>
        </p:nvSpPr>
        <p:spPr>
          <a:xfrm>
            <a:off x="4709160" y="3566160"/>
            <a:ext cx="320040" cy="320040"/>
          </a:xfrm>
          <a:prstGeom prst="rect">
            <a:avLst/>
          </a:prstGeom>
          <a:solidFill>
            <a:srgbClr val="CB202D"/>
          </a:solidFill>
          <a:ln/>
        </p:spPr>
      </p:sp>
      <p:sp>
        <p:nvSpPr>
          <p:cNvPr id="29" name="Text 27"/>
          <p:cNvSpPr/>
          <p:nvPr/>
        </p:nvSpPr>
        <p:spPr>
          <a:xfrm>
            <a:off x="4709160" y="356616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5</a:t>
            </a:r>
            <a:endParaRPr lang="en-US" sz="1200" dirty="0"/>
          </a:p>
        </p:txBody>
      </p:sp>
      <p:sp>
        <p:nvSpPr>
          <p:cNvPr id="30" name="Text 28"/>
          <p:cNvSpPr/>
          <p:nvPr/>
        </p:nvSpPr>
        <p:spPr>
          <a:xfrm>
            <a:off x="5120640" y="3575304"/>
            <a:ext cx="3520440" cy="320040"/>
          </a:xfrm>
          <a:prstGeom prst="rect">
            <a:avLst/>
          </a:prstGeom>
          <a:noFill/>
          <a:ln/>
        </p:spPr>
        <p:txBody>
          <a:bodyPr wrap="square" lIns="0" tIns="0" rIns="0" bIns="0" rtlCol="0" anchor="ctr"/>
          <a:lstStyle/>
          <a:p>
            <a:pPr marL="0" indent="0" algn="l">
              <a:buNone/>
            </a:pPr>
            <a:r>
              <a:rPr lang="en-US" sz="1300" dirty="0">
                <a:solidFill>
                  <a:srgbClr val="FFFFFF"/>
                </a:solidFill>
                <a:latin typeface="Times New Roman" pitchFamily="34" charset="0"/>
                <a:ea typeface="Times New Roman" pitchFamily="34" charset="-122"/>
                <a:cs typeface="Times New Roman" pitchFamily="34" charset="-120"/>
              </a:rPr>
              <a:t>Build interactive dashboards for business insights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DATASET OVERVIEW</a:t>
            </a:r>
            <a:endParaRPr lang="en-US" sz="2200" dirty="0"/>
          </a:p>
        </p:txBody>
      </p:sp>
      <p:sp>
        <p:nvSpPr>
          <p:cNvPr id="7" name="Shape 5"/>
          <p:cNvSpPr/>
          <p:nvPr/>
        </p:nvSpPr>
        <p:spPr>
          <a:xfrm>
            <a:off x="347472" y="640080"/>
            <a:ext cx="2011680" cy="1463040"/>
          </a:xfrm>
          <a:prstGeom prst="rect">
            <a:avLst/>
          </a:prstGeom>
          <a:solidFill>
            <a:srgbClr val="CB202D"/>
          </a:solidFill>
          <a:ln/>
          <a:effectLst>
            <a:outerShdw blurRad="101600" dist="38100" dir="8100000" algn="bl" rotWithShape="0">
              <a:srgbClr val="999999">
                <a:alpha val="20000"/>
              </a:srgbClr>
            </a:outerShdw>
          </a:effectLst>
        </p:spPr>
      </p:sp>
      <p:sp>
        <p:nvSpPr>
          <p:cNvPr id="8" name="Text 6"/>
          <p:cNvSpPr/>
          <p:nvPr/>
        </p:nvSpPr>
        <p:spPr>
          <a:xfrm>
            <a:off x="347472" y="749808"/>
            <a:ext cx="201168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Times New Roman" pitchFamily="34" charset="0"/>
                <a:ea typeface="Times New Roman" pitchFamily="34" charset="-122"/>
                <a:cs typeface="Times New Roman" pitchFamily="34" charset="-120"/>
              </a:rPr>
              <a:t>9,551</a:t>
            </a:r>
            <a:endParaRPr lang="en-US" sz="3000" dirty="0"/>
          </a:p>
        </p:txBody>
      </p:sp>
      <p:sp>
        <p:nvSpPr>
          <p:cNvPr id="9" name="Shape 7"/>
          <p:cNvSpPr/>
          <p:nvPr/>
        </p:nvSpPr>
        <p:spPr>
          <a:xfrm>
            <a:off x="713232" y="1444752"/>
            <a:ext cx="1280160" cy="36576"/>
          </a:xfrm>
          <a:prstGeom prst="rect">
            <a:avLst/>
          </a:prstGeom>
          <a:solidFill>
            <a:srgbClr val="E8C4C4"/>
          </a:solidFill>
          <a:ln/>
        </p:spPr>
      </p:sp>
      <p:sp>
        <p:nvSpPr>
          <p:cNvPr id="10" name="Text 8"/>
          <p:cNvSpPr/>
          <p:nvPr/>
        </p:nvSpPr>
        <p:spPr>
          <a:xfrm>
            <a:off x="347472" y="1508760"/>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Total Restaurants</a:t>
            </a:r>
            <a:endParaRPr lang="en-US" sz="1200" dirty="0"/>
          </a:p>
        </p:txBody>
      </p:sp>
      <p:sp>
        <p:nvSpPr>
          <p:cNvPr id="11" name="Text 9"/>
          <p:cNvSpPr/>
          <p:nvPr/>
        </p:nvSpPr>
        <p:spPr>
          <a:xfrm>
            <a:off x="347472" y="1764792"/>
            <a:ext cx="2011680" cy="228600"/>
          </a:xfrm>
          <a:prstGeom prst="rect">
            <a:avLst/>
          </a:prstGeom>
          <a:noFill/>
          <a:ln/>
        </p:spPr>
        <p:txBody>
          <a:bodyPr wrap="square" lIns="0" tIns="0" rIns="0" bIns="0" rtlCol="0" anchor="ctr"/>
          <a:lstStyle/>
          <a:p>
            <a:pPr marL="0" indent="0" algn="ctr">
              <a:buNone/>
            </a:pPr>
            <a:r>
              <a:rPr lang="en-US" sz="1000" dirty="0">
                <a:solidFill>
                  <a:srgbClr val="E8C4C4"/>
                </a:solidFill>
                <a:latin typeface="Times New Roman" pitchFamily="34" charset="0"/>
                <a:ea typeface="Times New Roman" pitchFamily="34" charset="-122"/>
                <a:cs typeface="Times New Roman" pitchFamily="34" charset="-120"/>
              </a:rPr>
              <a:t>Across 15 countries</a:t>
            </a:r>
            <a:endParaRPr lang="en-US" sz="1000" dirty="0"/>
          </a:p>
        </p:txBody>
      </p:sp>
      <p:sp>
        <p:nvSpPr>
          <p:cNvPr id="12" name="Shape 10"/>
          <p:cNvSpPr/>
          <p:nvPr/>
        </p:nvSpPr>
        <p:spPr>
          <a:xfrm>
            <a:off x="2523744" y="640080"/>
            <a:ext cx="2011680" cy="1463040"/>
          </a:xfrm>
          <a:prstGeom prst="rect">
            <a:avLst/>
          </a:prstGeom>
          <a:solidFill>
            <a:srgbClr val="1A1A2E"/>
          </a:solidFill>
          <a:ln/>
          <a:effectLst>
            <a:outerShdw blurRad="101600" dist="38100" dir="8100000" algn="bl" rotWithShape="0">
              <a:srgbClr val="999999">
                <a:alpha val="20000"/>
              </a:srgbClr>
            </a:outerShdw>
          </a:effectLst>
        </p:spPr>
      </p:sp>
      <p:sp>
        <p:nvSpPr>
          <p:cNvPr id="13" name="Text 11"/>
          <p:cNvSpPr/>
          <p:nvPr/>
        </p:nvSpPr>
        <p:spPr>
          <a:xfrm>
            <a:off x="2523744" y="749808"/>
            <a:ext cx="201168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Times New Roman" pitchFamily="34" charset="0"/>
                <a:ea typeface="Times New Roman" pitchFamily="34" charset="-122"/>
                <a:cs typeface="Times New Roman" pitchFamily="34" charset="-120"/>
              </a:rPr>
              <a:t>15</a:t>
            </a:r>
            <a:endParaRPr lang="en-US" sz="3000" dirty="0"/>
          </a:p>
        </p:txBody>
      </p:sp>
      <p:sp>
        <p:nvSpPr>
          <p:cNvPr id="14" name="Shape 12"/>
          <p:cNvSpPr/>
          <p:nvPr/>
        </p:nvSpPr>
        <p:spPr>
          <a:xfrm>
            <a:off x="2889504" y="1444752"/>
            <a:ext cx="1280160" cy="36576"/>
          </a:xfrm>
          <a:prstGeom prst="rect">
            <a:avLst/>
          </a:prstGeom>
          <a:solidFill>
            <a:srgbClr val="E8C4C4"/>
          </a:solidFill>
          <a:ln/>
        </p:spPr>
      </p:sp>
      <p:sp>
        <p:nvSpPr>
          <p:cNvPr id="15" name="Text 13"/>
          <p:cNvSpPr/>
          <p:nvPr/>
        </p:nvSpPr>
        <p:spPr>
          <a:xfrm>
            <a:off x="2523744" y="1508760"/>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Countries Covered</a:t>
            </a:r>
            <a:endParaRPr lang="en-US" sz="1200" dirty="0"/>
          </a:p>
        </p:txBody>
      </p:sp>
      <p:sp>
        <p:nvSpPr>
          <p:cNvPr id="16" name="Text 14"/>
          <p:cNvSpPr/>
          <p:nvPr/>
        </p:nvSpPr>
        <p:spPr>
          <a:xfrm>
            <a:off x="2523744" y="1764792"/>
            <a:ext cx="2011680" cy="228600"/>
          </a:xfrm>
          <a:prstGeom prst="rect">
            <a:avLst/>
          </a:prstGeom>
          <a:noFill/>
          <a:ln/>
        </p:spPr>
        <p:txBody>
          <a:bodyPr wrap="square" lIns="0" tIns="0" rIns="0" bIns="0" rtlCol="0" anchor="ctr"/>
          <a:lstStyle/>
          <a:p>
            <a:pPr marL="0" indent="0" algn="ctr">
              <a:buNone/>
            </a:pPr>
            <a:r>
              <a:rPr lang="en-US" sz="1000" dirty="0">
                <a:solidFill>
                  <a:srgbClr val="E8C4C4"/>
                </a:solidFill>
                <a:latin typeface="Times New Roman" pitchFamily="34" charset="0"/>
                <a:ea typeface="Times New Roman" pitchFamily="34" charset="-122"/>
                <a:cs typeface="Times New Roman" pitchFamily="34" charset="-120"/>
              </a:rPr>
              <a:t>Global dataset</a:t>
            </a:r>
            <a:endParaRPr lang="en-US" sz="1000" dirty="0"/>
          </a:p>
        </p:txBody>
      </p:sp>
      <p:sp>
        <p:nvSpPr>
          <p:cNvPr id="17" name="Shape 15"/>
          <p:cNvSpPr/>
          <p:nvPr/>
        </p:nvSpPr>
        <p:spPr>
          <a:xfrm>
            <a:off x="4700016" y="640080"/>
            <a:ext cx="2011680" cy="1463040"/>
          </a:xfrm>
          <a:prstGeom prst="rect">
            <a:avLst/>
          </a:prstGeom>
          <a:solidFill>
            <a:srgbClr val="CB202D"/>
          </a:solidFill>
          <a:ln/>
          <a:effectLst>
            <a:outerShdw blurRad="101600" dist="38100" dir="8100000" algn="bl" rotWithShape="0">
              <a:srgbClr val="999999">
                <a:alpha val="20000"/>
              </a:srgbClr>
            </a:outerShdw>
          </a:effectLst>
        </p:spPr>
      </p:sp>
      <p:sp>
        <p:nvSpPr>
          <p:cNvPr id="18" name="Text 16"/>
          <p:cNvSpPr/>
          <p:nvPr/>
        </p:nvSpPr>
        <p:spPr>
          <a:xfrm>
            <a:off x="4700016" y="749808"/>
            <a:ext cx="201168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Times New Roman" pitchFamily="34" charset="0"/>
                <a:ea typeface="Times New Roman" pitchFamily="34" charset="-122"/>
                <a:cs typeface="Times New Roman" pitchFamily="34" charset="-120"/>
              </a:rPr>
              <a:t>21</a:t>
            </a:r>
            <a:endParaRPr lang="en-US" sz="3000" dirty="0"/>
          </a:p>
        </p:txBody>
      </p:sp>
      <p:sp>
        <p:nvSpPr>
          <p:cNvPr id="19" name="Shape 17"/>
          <p:cNvSpPr/>
          <p:nvPr/>
        </p:nvSpPr>
        <p:spPr>
          <a:xfrm>
            <a:off x="5065776" y="1444752"/>
            <a:ext cx="1280160" cy="36576"/>
          </a:xfrm>
          <a:prstGeom prst="rect">
            <a:avLst/>
          </a:prstGeom>
          <a:solidFill>
            <a:srgbClr val="E8C4C4"/>
          </a:solidFill>
          <a:ln/>
        </p:spPr>
      </p:sp>
      <p:sp>
        <p:nvSpPr>
          <p:cNvPr id="20" name="Text 18"/>
          <p:cNvSpPr/>
          <p:nvPr/>
        </p:nvSpPr>
        <p:spPr>
          <a:xfrm>
            <a:off x="4700016" y="1508760"/>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Dataset Columns</a:t>
            </a:r>
            <a:endParaRPr lang="en-US" sz="1200" dirty="0"/>
          </a:p>
        </p:txBody>
      </p:sp>
      <p:sp>
        <p:nvSpPr>
          <p:cNvPr id="21" name="Text 19"/>
          <p:cNvSpPr/>
          <p:nvPr/>
        </p:nvSpPr>
        <p:spPr>
          <a:xfrm>
            <a:off x="4700016" y="1764792"/>
            <a:ext cx="2011680" cy="228600"/>
          </a:xfrm>
          <a:prstGeom prst="rect">
            <a:avLst/>
          </a:prstGeom>
          <a:noFill/>
          <a:ln/>
        </p:spPr>
        <p:txBody>
          <a:bodyPr wrap="square" lIns="0" tIns="0" rIns="0" bIns="0" rtlCol="0" anchor="ctr"/>
          <a:lstStyle/>
          <a:p>
            <a:pPr marL="0" indent="0" algn="ctr">
              <a:buNone/>
            </a:pPr>
            <a:r>
              <a:rPr lang="en-US" sz="1000" dirty="0">
                <a:solidFill>
                  <a:srgbClr val="E8C4C4"/>
                </a:solidFill>
                <a:latin typeface="Times New Roman" pitchFamily="34" charset="0"/>
                <a:ea typeface="Times New Roman" pitchFamily="34" charset="-122"/>
                <a:cs typeface="Times New Roman" pitchFamily="34" charset="-120"/>
              </a:rPr>
              <a:t>Features per record</a:t>
            </a:r>
            <a:endParaRPr lang="en-US" sz="1000" dirty="0"/>
          </a:p>
        </p:txBody>
      </p:sp>
      <p:sp>
        <p:nvSpPr>
          <p:cNvPr id="22" name="Shape 20"/>
          <p:cNvSpPr/>
          <p:nvPr/>
        </p:nvSpPr>
        <p:spPr>
          <a:xfrm>
            <a:off x="6876288" y="640080"/>
            <a:ext cx="2011680" cy="1463040"/>
          </a:xfrm>
          <a:prstGeom prst="rect">
            <a:avLst/>
          </a:prstGeom>
          <a:solidFill>
            <a:srgbClr val="1A1A2E"/>
          </a:solidFill>
          <a:ln/>
          <a:effectLst>
            <a:outerShdw blurRad="101600" dist="38100" dir="8100000" algn="bl" rotWithShape="0">
              <a:srgbClr val="999999">
                <a:alpha val="20000"/>
              </a:srgbClr>
            </a:outerShdw>
          </a:effectLst>
        </p:spPr>
      </p:sp>
      <p:sp>
        <p:nvSpPr>
          <p:cNvPr id="23" name="Text 21"/>
          <p:cNvSpPr/>
          <p:nvPr/>
        </p:nvSpPr>
        <p:spPr>
          <a:xfrm>
            <a:off x="6876288" y="749808"/>
            <a:ext cx="2011680" cy="685800"/>
          </a:xfrm>
          <a:prstGeom prst="rect">
            <a:avLst/>
          </a:prstGeom>
          <a:noFill/>
          <a:ln/>
        </p:spPr>
        <p:txBody>
          <a:bodyPr wrap="square" lIns="0" tIns="0" rIns="0" bIns="0" rtlCol="0" anchor="ctr"/>
          <a:lstStyle/>
          <a:p>
            <a:pPr marL="0" indent="0" algn="ctr">
              <a:buNone/>
            </a:pPr>
            <a:r>
              <a:rPr lang="en-US" sz="3000" b="1" dirty="0">
                <a:solidFill>
                  <a:srgbClr val="FFFFFF"/>
                </a:solidFill>
                <a:latin typeface="Times New Roman" pitchFamily="34" charset="0"/>
                <a:ea typeface="Times New Roman" pitchFamily="34" charset="-122"/>
                <a:cs typeface="Times New Roman" pitchFamily="34" charset="-120"/>
              </a:rPr>
              <a:t>2010–18</a:t>
            </a:r>
            <a:endParaRPr lang="en-US" sz="3000" dirty="0"/>
          </a:p>
        </p:txBody>
      </p:sp>
      <p:sp>
        <p:nvSpPr>
          <p:cNvPr id="24" name="Shape 22"/>
          <p:cNvSpPr/>
          <p:nvPr/>
        </p:nvSpPr>
        <p:spPr>
          <a:xfrm>
            <a:off x="7242048" y="1444752"/>
            <a:ext cx="1280160" cy="36576"/>
          </a:xfrm>
          <a:prstGeom prst="rect">
            <a:avLst/>
          </a:prstGeom>
          <a:solidFill>
            <a:srgbClr val="E8C4C4"/>
          </a:solidFill>
          <a:ln/>
        </p:spPr>
      </p:sp>
      <p:sp>
        <p:nvSpPr>
          <p:cNvPr id="25" name="Text 23"/>
          <p:cNvSpPr/>
          <p:nvPr/>
        </p:nvSpPr>
        <p:spPr>
          <a:xfrm>
            <a:off x="6876288" y="1508760"/>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Year Range</a:t>
            </a:r>
            <a:endParaRPr lang="en-US" sz="1200" dirty="0"/>
          </a:p>
        </p:txBody>
      </p:sp>
      <p:sp>
        <p:nvSpPr>
          <p:cNvPr id="26" name="Text 24"/>
          <p:cNvSpPr/>
          <p:nvPr/>
        </p:nvSpPr>
        <p:spPr>
          <a:xfrm>
            <a:off x="6876288" y="1764792"/>
            <a:ext cx="2011680" cy="228600"/>
          </a:xfrm>
          <a:prstGeom prst="rect">
            <a:avLst/>
          </a:prstGeom>
          <a:noFill/>
          <a:ln/>
        </p:spPr>
        <p:txBody>
          <a:bodyPr wrap="square" lIns="0" tIns="0" rIns="0" bIns="0" rtlCol="0" anchor="ctr"/>
          <a:lstStyle/>
          <a:p>
            <a:pPr marL="0" indent="0" algn="ctr">
              <a:buNone/>
            </a:pPr>
            <a:r>
              <a:rPr lang="en-US" sz="1000" dirty="0">
                <a:solidFill>
                  <a:srgbClr val="E8C4C4"/>
                </a:solidFill>
                <a:latin typeface="Times New Roman" pitchFamily="34" charset="0"/>
                <a:ea typeface="Times New Roman" pitchFamily="34" charset="-122"/>
                <a:cs typeface="Times New Roman" pitchFamily="34" charset="-120"/>
              </a:rPr>
              <a:t>9 years of data</a:t>
            </a:r>
            <a:endParaRPr lang="en-US" sz="1000" dirty="0"/>
          </a:p>
        </p:txBody>
      </p:sp>
      <p:sp>
        <p:nvSpPr>
          <p:cNvPr id="27" name="Shape 25"/>
          <p:cNvSpPr/>
          <p:nvPr/>
        </p:nvSpPr>
        <p:spPr>
          <a:xfrm>
            <a:off x="347472" y="2212848"/>
            <a:ext cx="8449056" cy="384048"/>
          </a:xfrm>
          <a:prstGeom prst="rect">
            <a:avLst/>
          </a:prstGeom>
          <a:solidFill>
            <a:srgbClr val="FDF5F5"/>
          </a:solidFill>
          <a:ln/>
        </p:spPr>
      </p:sp>
      <p:sp>
        <p:nvSpPr>
          <p:cNvPr id="28" name="Shape 26"/>
          <p:cNvSpPr/>
          <p:nvPr/>
        </p:nvSpPr>
        <p:spPr>
          <a:xfrm>
            <a:off x="347472" y="2212848"/>
            <a:ext cx="73152" cy="384048"/>
          </a:xfrm>
          <a:prstGeom prst="rect">
            <a:avLst/>
          </a:prstGeom>
          <a:solidFill>
            <a:srgbClr val="CB202D"/>
          </a:solidFill>
          <a:ln/>
        </p:spPr>
      </p:sp>
      <p:sp>
        <p:nvSpPr>
          <p:cNvPr id="29" name="Text 27"/>
          <p:cNvSpPr/>
          <p:nvPr/>
        </p:nvSpPr>
        <p:spPr>
          <a:xfrm>
            <a:off x="502920" y="2221992"/>
            <a:ext cx="8229600" cy="365760"/>
          </a:xfrm>
          <a:prstGeom prst="rect">
            <a:avLst/>
          </a:prstGeom>
          <a:noFill/>
          <a:ln/>
        </p:spPr>
        <p:txBody>
          <a:bodyPr wrap="square" lIns="0" tIns="0" rIns="0" bIns="0" rtlCol="0" anchor="ctr"/>
          <a:lstStyle/>
          <a:p>
            <a:pPr marL="0" indent="0">
              <a:buNone/>
            </a:pPr>
            <a:r>
              <a:rPr lang="en-US" sz="1200" i="1" dirty="0">
                <a:solidFill>
                  <a:srgbClr val="1A1A2E"/>
                </a:solidFill>
                <a:latin typeface="Times New Roman" pitchFamily="34" charset="0"/>
                <a:ea typeface="Times New Roman" pitchFamily="34" charset="-122"/>
                <a:cs typeface="Times New Roman" pitchFamily="34" charset="-120"/>
              </a:rPr>
              <a:t>Dataset Source: Kaggle — Zomato Restaurant Dataset  |  Format: CSV  |  Tools: Excel · SQL · Power BI · Tableau</a:t>
            </a:r>
            <a:endParaRPr lang="en-US" sz="1200" dirty="0"/>
          </a:p>
        </p:txBody>
      </p:sp>
      <p:sp>
        <p:nvSpPr>
          <p:cNvPr id="30" name="Text 28"/>
          <p:cNvSpPr/>
          <p:nvPr/>
        </p:nvSpPr>
        <p:spPr>
          <a:xfrm>
            <a:off x="347472" y="2724912"/>
            <a:ext cx="4572000" cy="320040"/>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Key Dataset Columns</a:t>
            </a:r>
            <a:endParaRPr lang="en-US" sz="1500" dirty="0"/>
          </a:p>
        </p:txBody>
      </p:sp>
      <p:sp>
        <p:nvSpPr>
          <p:cNvPr id="31" name="Shape 29"/>
          <p:cNvSpPr/>
          <p:nvPr/>
        </p:nvSpPr>
        <p:spPr>
          <a:xfrm>
            <a:off x="347472" y="3090672"/>
            <a:ext cx="3474720" cy="246888"/>
          </a:xfrm>
          <a:prstGeom prst="rect">
            <a:avLst/>
          </a:prstGeom>
          <a:solidFill>
            <a:srgbClr val="CB202D"/>
          </a:solidFill>
          <a:ln/>
        </p:spPr>
      </p:sp>
      <p:sp>
        <p:nvSpPr>
          <p:cNvPr id="32" name="Shape 30"/>
          <p:cNvSpPr/>
          <p:nvPr/>
        </p:nvSpPr>
        <p:spPr>
          <a:xfrm>
            <a:off x="3822192" y="3090672"/>
            <a:ext cx="4974336" cy="246888"/>
          </a:xfrm>
          <a:prstGeom prst="rect">
            <a:avLst/>
          </a:prstGeom>
          <a:solidFill>
            <a:srgbClr val="CB202D"/>
          </a:solidFill>
          <a:ln/>
        </p:spPr>
      </p:sp>
      <p:sp>
        <p:nvSpPr>
          <p:cNvPr id="33" name="Text 31"/>
          <p:cNvSpPr/>
          <p:nvPr/>
        </p:nvSpPr>
        <p:spPr>
          <a:xfrm>
            <a:off x="438912" y="3108960"/>
            <a:ext cx="3291840" cy="210312"/>
          </a:xfrm>
          <a:prstGeom prst="rect">
            <a:avLst/>
          </a:prstGeom>
          <a:noFill/>
          <a:ln/>
        </p:spPr>
        <p:txBody>
          <a:bodyPr wrap="square" lIns="0" tIns="0" rIns="0" bIns="0" rtlCol="0" anchor="ctr"/>
          <a:lstStyle/>
          <a:p>
            <a:pPr marL="0" indent="0">
              <a:buNone/>
            </a:pPr>
            <a:r>
              <a:rPr lang="en-US" sz="1150" b="1" dirty="0">
                <a:solidFill>
                  <a:srgbClr val="FFFFFF"/>
                </a:solidFill>
                <a:latin typeface="Times New Roman" pitchFamily="34" charset="0"/>
                <a:ea typeface="Times New Roman" pitchFamily="34" charset="-122"/>
                <a:cs typeface="Times New Roman" pitchFamily="34" charset="-120"/>
              </a:rPr>
              <a:t>Column</a:t>
            </a:r>
            <a:endParaRPr lang="en-US" sz="1150" dirty="0"/>
          </a:p>
        </p:txBody>
      </p:sp>
      <p:sp>
        <p:nvSpPr>
          <p:cNvPr id="34" name="Text 32"/>
          <p:cNvSpPr/>
          <p:nvPr/>
        </p:nvSpPr>
        <p:spPr>
          <a:xfrm>
            <a:off x="3913632" y="3108960"/>
            <a:ext cx="4791456" cy="210312"/>
          </a:xfrm>
          <a:prstGeom prst="rect">
            <a:avLst/>
          </a:prstGeom>
          <a:noFill/>
          <a:ln/>
        </p:spPr>
        <p:txBody>
          <a:bodyPr wrap="square" lIns="0" tIns="0" rIns="0" bIns="0" rtlCol="0" anchor="ctr"/>
          <a:lstStyle/>
          <a:p>
            <a:pPr marL="0" indent="0">
              <a:buNone/>
            </a:pPr>
            <a:r>
              <a:rPr lang="en-US" sz="1150" b="1" dirty="0">
                <a:solidFill>
                  <a:srgbClr val="FFFFFF"/>
                </a:solidFill>
                <a:latin typeface="Times New Roman" pitchFamily="34" charset="0"/>
                <a:ea typeface="Times New Roman" pitchFamily="34" charset="-122"/>
                <a:cs typeface="Times New Roman" pitchFamily="34" charset="-120"/>
              </a:rPr>
              <a:t>Description</a:t>
            </a:r>
            <a:endParaRPr lang="en-US" sz="1150" dirty="0"/>
          </a:p>
        </p:txBody>
      </p:sp>
      <p:sp>
        <p:nvSpPr>
          <p:cNvPr id="35" name="Shape 33"/>
          <p:cNvSpPr/>
          <p:nvPr/>
        </p:nvSpPr>
        <p:spPr>
          <a:xfrm>
            <a:off x="347472" y="3337560"/>
            <a:ext cx="3474720" cy="246888"/>
          </a:xfrm>
          <a:prstGeom prst="rect">
            <a:avLst/>
          </a:prstGeom>
          <a:solidFill>
            <a:srgbClr val="FFFFFF"/>
          </a:solidFill>
          <a:ln/>
        </p:spPr>
      </p:sp>
      <p:sp>
        <p:nvSpPr>
          <p:cNvPr id="36" name="Shape 34"/>
          <p:cNvSpPr/>
          <p:nvPr/>
        </p:nvSpPr>
        <p:spPr>
          <a:xfrm>
            <a:off x="3822192" y="3337560"/>
            <a:ext cx="4974336" cy="246888"/>
          </a:xfrm>
          <a:prstGeom prst="rect">
            <a:avLst/>
          </a:prstGeom>
          <a:solidFill>
            <a:srgbClr val="FFFFFF"/>
          </a:solidFill>
          <a:ln/>
        </p:spPr>
      </p:sp>
      <p:sp>
        <p:nvSpPr>
          <p:cNvPr id="37" name="Text 35"/>
          <p:cNvSpPr/>
          <p:nvPr/>
        </p:nvSpPr>
        <p:spPr>
          <a:xfrm>
            <a:off x="438912" y="3355848"/>
            <a:ext cx="3291840"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Restaurant ID</a:t>
            </a:r>
            <a:endParaRPr lang="en-US" sz="1150" dirty="0"/>
          </a:p>
        </p:txBody>
      </p:sp>
      <p:sp>
        <p:nvSpPr>
          <p:cNvPr id="38" name="Text 36"/>
          <p:cNvSpPr/>
          <p:nvPr/>
        </p:nvSpPr>
        <p:spPr>
          <a:xfrm>
            <a:off x="3913632" y="3355848"/>
            <a:ext cx="4791456"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Unique identifier for each restaurant</a:t>
            </a:r>
            <a:endParaRPr lang="en-US" sz="1150" dirty="0"/>
          </a:p>
        </p:txBody>
      </p:sp>
      <p:sp>
        <p:nvSpPr>
          <p:cNvPr id="39" name="Shape 37"/>
          <p:cNvSpPr/>
          <p:nvPr/>
        </p:nvSpPr>
        <p:spPr>
          <a:xfrm>
            <a:off x="347472" y="3584448"/>
            <a:ext cx="3474720" cy="246888"/>
          </a:xfrm>
          <a:prstGeom prst="rect">
            <a:avLst/>
          </a:prstGeom>
          <a:solidFill>
            <a:srgbClr val="FDF5F5"/>
          </a:solidFill>
          <a:ln/>
        </p:spPr>
      </p:sp>
      <p:sp>
        <p:nvSpPr>
          <p:cNvPr id="40" name="Shape 38"/>
          <p:cNvSpPr/>
          <p:nvPr/>
        </p:nvSpPr>
        <p:spPr>
          <a:xfrm>
            <a:off x="3822192" y="3584448"/>
            <a:ext cx="4974336" cy="246888"/>
          </a:xfrm>
          <a:prstGeom prst="rect">
            <a:avLst/>
          </a:prstGeom>
          <a:solidFill>
            <a:srgbClr val="FDF5F5"/>
          </a:solidFill>
          <a:ln/>
        </p:spPr>
      </p:sp>
      <p:sp>
        <p:nvSpPr>
          <p:cNvPr id="41" name="Text 39"/>
          <p:cNvSpPr/>
          <p:nvPr/>
        </p:nvSpPr>
        <p:spPr>
          <a:xfrm>
            <a:off x="438912" y="3602736"/>
            <a:ext cx="3291840"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Restaurant Name</a:t>
            </a:r>
            <a:endParaRPr lang="en-US" sz="1150" dirty="0"/>
          </a:p>
        </p:txBody>
      </p:sp>
      <p:sp>
        <p:nvSpPr>
          <p:cNvPr id="42" name="Text 40"/>
          <p:cNvSpPr/>
          <p:nvPr/>
        </p:nvSpPr>
        <p:spPr>
          <a:xfrm>
            <a:off x="3913632" y="3602736"/>
            <a:ext cx="4791456"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Name of the restaurant</a:t>
            </a:r>
            <a:endParaRPr lang="en-US" sz="1150" dirty="0"/>
          </a:p>
        </p:txBody>
      </p:sp>
      <p:sp>
        <p:nvSpPr>
          <p:cNvPr id="43" name="Shape 41"/>
          <p:cNvSpPr/>
          <p:nvPr/>
        </p:nvSpPr>
        <p:spPr>
          <a:xfrm>
            <a:off x="347472" y="3831336"/>
            <a:ext cx="3474720" cy="246888"/>
          </a:xfrm>
          <a:prstGeom prst="rect">
            <a:avLst/>
          </a:prstGeom>
          <a:solidFill>
            <a:srgbClr val="FFFFFF"/>
          </a:solidFill>
          <a:ln/>
        </p:spPr>
      </p:sp>
      <p:sp>
        <p:nvSpPr>
          <p:cNvPr id="44" name="Shape 42"/>
          <p:cNvSpPr/>
          <p:nvPr/>
        </p:nvSpPr>
        <p:spPr>
          <a:xfrm>
            <a:off x="3822192" y="3831336"/>
            <a:ext cx="4974336" cy="246888"/>
          </a:xfrm>
          <a:prstGeom prst="rect">
            <a:avLst/>
          </a:prstGeom>
          <a:solidFill>
            <a:srgbClr val="FFFFFF"/>
          </a:solidFill>
          <a:ln/>
        </p:spPr>
      </p:sp>
      <p:sp>
        <p:nvSpPr>
          <p:cNvPr id="45" name="Text 43"/>
          <p:cNvSpPr/>
          <p:nvPr/>
        </p:nvSpPr>
        <p:spPr>
          <a:xfrm>
            <a:off x="438912" y="3849624"/>
            <a:ext cx="3291840"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City / Country</a:t>
            </a:r>
            <a:endParaRPr lang="en-US" sz="1150" dirty="0"/>
          </a:p>
        </p:txBody>
      </p:sp>
      <p:sp>
        <p:nvSpPr>
          <p:cNvPr id="46" name="Text 44"/>
          <p:cNvSpPr/>
          <p:nvPr/>
        </p:nvSpPr>
        <p:spPr>
          <a:xfrm>
            <a:off x="3913632" y="3849624"/>
            <a:ext cx="4791456"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Location details of the restaurant</a:t>
            </a:r>
            <a:endParaRPr lang="en-US" sz="1150" dirty="0"/>
          </a:p>
        </p:txBody>
      </p:sp>
      <p:sp>
        <p:nvSpPr>
          <p:cNvPr id="47" name="Shape 45"/>
          <p:cNvSpPr/>
          <p:nvPr/>
        </p:nvSpPr>
        <p:spPr>
          <a:xfrm>
            <a:off x="347472" y="4078224"/>
            <a:ext cx="3474720" cy="246888"/>
          </a:xfrm>
          <a:prstGeom prst="rect">
            <a:avLst/>
          </a:prstGeom>
          <a:solidFill>
            <a:srgbClr val="FDF5F5"/>
          </a:solidFill>
          <a:ln/>
        </p:spPr>
      </p:sp>
      <p:sp>
        <p:nvSpPr>
          <p:cNvPr id="48" name="Shape 46"/>
          <p:cNvSpPr/>
          <p:nvPr/>
        </p:nvSpPr>
        <p:spPr>
          <a:xfrm>
            <a:off x="3822192" y="4078224"/>
            <a:ext cx="4974336" cy="246888"/>
          </a:xfrm>
          <a:prstGeom prst="rect">
            <a:avLst/>
          </a:prstGeom>
          <a:solidFill>
            <a:srgbClr val="FDF5F5"/>
          </a:solidFill>
          <a:ln/>
        </p:spPr>
      </p:sp>
      <p:sp>
        <p:nvSpPr>
          <p:cNvPr id="49" name="Text 47"/>
          <p:cNvSpPr/>
          <p:nvPr/>
        </p:nvSpPr>
        <p:spPr>
          <a:xfrm>
            <a:off x="438912" y="4096512"/>
            <a:ext cx="3291840"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Avg Cost for Two</a:t>
            </a:r>
            <a:endParaRPr lang="en-US" sz="1150" dirty="0"/>
          </a:p>
        </p:txBody>
      </p:sp>
      <p:sp>
        <p:nvSpPr>
          <p:cNvPr id="50" name="Text 48"/>
          <p:cNvSpPr/>
          <p:nvPr/>
        </p:nvSpPr>
        <p:spPr>
          <a:xfrm>
            <a:off x="3913632" y="4096512"/>
            <a:ext cx="4791456"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Basis for Price Bucket classification</a:t>
            </a:r>
            <a:endParaRPr lang="en-US" sz="1150" dirty="0"/>
          </a:p>
        </p:txBody>
      </p:sp>
      <p:sp>
        <p:nvSpPr>
          <p:cNvPr id="51" name="Shape 49"/>
          <p:cNvSpPr/>
          <p:nvPr/>
        </p:nvSpPr>
        <p:spPr>
          <a:xfrm>
            <a:off x="347472" y="4325112"/>
            <a:ext cx="3474720" cy="246888"/>
          </a:xfrm>
          <a:prstGeom prst="rect">
            <a:avLst/>
          </a:prstGeom>
          <a:solidFill>
            <a:srgbClr val="FFFFFF"/>
          </a:solidFill>
          <a:ln/>
        </p:spPr>
      </p:sp>
      <p:sp>
        <p:nvSpPr>
          <p:cNvPr id="52" name="Shape 50"/>
          <p:cNvSpPr/>
          <p:nvPr/>
        </p:nvSpPr>
        <p:spPr>
          <a:xfrm>
            <a:off x="3822192" y="4325112"/>
            <a:ext cx="4974336" cy="246888"/>
          </a:xfrm>
          <a:prstGeom prst="rect">
            <a:avLst/>
          </a:prstGeom>
          <a:solidFill>
            <a:srgbClr val="FFFFFF"/>
          </a:solidFill>
          <a:ln/>
        </p:spPr>
      </p:sp>
      <p:sp>
        <p:nvSpPr>
          <p:cNvPr id="53" name="Text 51"/>
          <p:cNvSpPr/>
          <p:nvPr/>
        </p:nvSpPr>
        <p:spPr>
          <a:xfrm>
            <a:off x="438912" y="4343400"/>
            <a:ext cx="3291840"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Aggregate Rating</a:t>
            </a:r>
            <a:endParaRPr lang="en-US" sz="1150" dirty="0"/>
          </a:p>
        </p:txBody>
      </p:sp>
      <p:sp>
        <p:nvSpPr>
          <p:cNvPr id="54" name="Text 52"/>
          <p:cNvSpPr/>
          <p:nvPr/>
        </p:nvSpPr>
        <p:spPr>
          <a:xfrm>
            <a:off x="3913632" y="4343400"/>
            <a:ext cx="4791456"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Customer rating out of 5 (Rating Bucket)</a:t>
            </a:r>
            <a:endParaRPr lang="en-US" sz="1150" dirty="0"/>
          </a:p>
        </p:txBody>
      </p:sp>
      <p:sp>
        <p:nvSpPr>
          <p:cNvPr id="55" name="Shape 53"/>
          <p:cNvSpPr/>
          <p:nvPr/>
        </p:nvSpPr>
        <p:spPr>
          <a:xfrm>
            <a:off x="347472" y="4572000"/>
            <a:ext cx="3474720" cy="246888"/>
          </a:xfrm>
          <a:prstGeom prst="rect">
            <a:avLst/>
          </a:prstGeom>
          <a:solidFill>
            <a:srgbClr val="FDF5F5"/>
          </a:solidFill>
          <a:ln/>
        </p:spPr>
      </p:sp>
      <p:sp>
        <p:nvSpPr>
          <p:cNvPr id="56" name="Shape 54"/>
          <p:cNvSpPr/>
          <p:nvPr/>
        </p:nvSpPr>
        <p:spPr>
          <a:xfrm>
            <a:off x="3822192" y="4572000"/>
            <a:ext cx="4974336" cy="246888"/>
          </a:xfrm>
          <a:prstGeom prst="rect">
            <a:avLst/>
          </a:prstGeom>
          <a:solidFill>
            <a:srgbClr val="FDF5F5"/>
          </a:solidFill>
          <a:ln/>
        </p:spPr>
      </p:sp>
      <p:sp>
        <p:nvSpPr>
          <p:cNvPr id="57" name="Text 55"/>
          <p:cNvSpPr/>
          <p:nvPr/>
        </p:nvSpPr>
        <p:spPr>
          <a:xfrm>
            <a:off x="438912" y="4590288"/>
            <a:ext cx="3291840"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Has Online Delivery</a:t>
            </a:r>
            <a:endParaRPr lang="en-US" sz="1150" dirty="0"/>
          </a:p>
        </p:txBody>
      </p:sp>
      <p:sp>
        <p:nvSpPr>
          <p:cNvPr id="58" name="Text 56"/>
          <p:cNvSpPr/>
          <p:nvPr/>
        </p:nvSpPr>
        <p:spPr>
          <a:xfrm>
            <a:off x="3913632" y="4590288"/>
            <a:ext cx="4791456"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Whether online delivery is available (Yes/No)</a:t>
            </a:r>
            <a:endParaRPr lang="en-US" sz="1150" dirty="0"/>
          </a:p>
        </p:txBody>
      </p:sp>
      <p:sp>
        <p:nvSpPr>
          <p:cNvPr id="59" name="Shape 57"/>
          <p:cNvSpPr/>
          <p:nvPr/>
        </p:nvSpPr>
        <p:spPr>
          <a:xfrm>
            <a:off x="347472" y="4818888"/>
            <a:ext cx="3474720" cy="246888"/>
          </a:xfrm>
          <a:prstGeom prst="rect">
            <a:avLst/>
          </a:prstGeom>
          <a:solidFill>
            <a:srgbClr val="FFFFFF"/>
          </a:solidFill>
          <a:ln/>
        </p:spPr>
      </p:sp>
      <p:sp>
        <p:nvSpPr>
          <p:cNvPr id="60" name="Shape 58"/>
          <p:cNvSpPr/>
          <p:nvPr/>
        </p:nvSpPr>
        <p:spPr>
          <a:xfrm>
            <a:off x="3822192" y="4818888"/>
            <a:ext cx="4974336" cy="246888"/>
          </a:xfrm>
          <a:prstGeom prst="rect">
            <a:avLst/>
          </a:prstGeom>
          <a:solidFill>
            <a:srgbClr val="FFFFFF"/>
          </a:solidFill>
          <a:ln/>
        </p:spPr>
      </p:sp>
      <p:sp>
        <p:nvSpPr>
          <p:cNvPr id="61" name="Text 59"/>
          <p:cNvSpPr/>
          <p:nvPr/>
        </p:nvSpPr>
        <p:spPr>
          <a:xfrm>
            <a:off x="438912" y="4837176"/>
            <a:ext cx="3291840"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Has Table Booking</a:t>
            </a:r>
            <a:endParaRPr lang="en-US" sz="1150" dirty="0"/>
          </a:p>
        </p:txBody>
      </p:sp>
      <p:sp>
        <p:nvSpPr>
          <p:cNvPr id="62" name="Text 60"/>
          <p:cNvSpPr/>
          <p:nvPr/>
        </p:nvSpPr>
        <p:spPr>
          <a:xfrm>
            <a:off x="3913632" y="4837176"/>
            <a:ext cx="4791456" cy="210312"/>
          </a:xfrm>
          <a:prstGeom prst="rect">
            <a:avLst/>
          </a:prstGeom>
          <a:noFill/>
          <a:ln/>
        </p:spPr>
        <p:txBody>
          <a:bodyPr wrap="square" lIns="0" tIns="0" rIns="0" bIns="0" rtlCol="0" anchor="ctr"/>
          <a:lstStyle/>
          <a:p>
            <a:pPr marL="0" indent="0">
              <a:buNone/>
            </a:pPr>
            <a:r>
              <a:rPr lang="en-US" sz="1150" dirty="0">
                <a:solidFill>
                  <a:srgbClr val="1A1A2E"/>
                </a:solidFill>
                <a:latin typeface="Times New Roman" pitchFamily="34" charset="0"/>
                <a:ea typeface="Times New Roman" pitchFamily="34" charset="-122"/>
                <a:cs typeface="Times New Roman" pitchFamily="34" charset="-120"/>
              </a:rPr>
              <a:t>Whether table reservation is offered (Yes/No)</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PROJECT WORKFLOW — 4 WEEK PLAN</a:t>
            </a:r>
            <a:endParaRPr lang="en-US" sz="2200" dirty="0"/>
          </a:p>
        </p:txBody>
      </p:sp>
      <p:sp>
        <p:nvSpPr>
          <p:cNvPr id="7" name="Shape 5"/>
          <p:cNvSpPr/>
          <p:nvPr/>
        </p:nvSpPr>
        <p:spPr>
          <a:xfrm>
            <a:off x="347472" y="658368"/>
            <a:ext cx="1536192" cy="2651760"/>
          </a:xfrm>
          <a:prstGeom prst="rect">
            <a:avLst/>
          </a:prstGeom>
          <a:solidFill>
            <a:srgbClr val="8B0000"/>
          </a:solidFill>
          <a:ln/>
          <a:effectLst>
            <a:outerShdw blurRad="101600" dist="25400" dir="8100000" algn="bl" rotWithShape="0">
              <a:srgbClr val="000000">
                <a:alpha val="20000"/>
              </a:srgbClr>
            </a:outerShdw>
          </a:effectLst>
        </p:spPr>
      </p:sp>
      <p:sp>
        <p:nvSpPr>
          <p:cNvPr id="8" name="Shape 6"/>
          <p:cNvSpPr/>
          <p:nvPr/>
        </p:nvSpPr>
        <p:spPr>
          <a:xfrm>
            <a:off x="886968" y="777240"/>
            <a:ext cx="457200" cy="457200"/>
          </a:xfrm>
          <a:prstGeom prst="ellipse">
            <a:avLst/>
          </a:prstGeom>
          <a:solidFill>
            <a:srgbClr val="FFFFFF"/>
          </a:solidFill>
          <a:ln/>
        </p:spPr>
      </p:sp>
      <p:sp>
        <p:nvSpPr>
          <p:cNvPr id="9" name="Text 7"/>
          <p:cNvSpPr/>
          <p:nvPr/>
        </p:nvSpPr>
        <p:spPr>
          <a:xfrm>
            <a:off x="886968" y="777240"/>
            <a:ext cx="457200" cy="457200"/>
          </a:xfrm>
          <a:prstGeom prst="rect">
            <a:avLst/>
          </a:prstGeom>
          <a:noFill/>
          <a:ln/>
        </p:spPr>
        <p:txBody>
          <a:bodyPr wrap="square" lIns="0" tIns="0" rIns="0" bIns="0" rtlCol="0" anchor="ctr"/>
          <a:lstStyle/>
          <a:p>
            <a:pPr marL="0" indent="0" algn="ctr">
              <a:buNone/>
            </a:pPr>
            <a:r>
              <a:rPr lang="en-US" sz="1300" b="1" dirty="0">
                <a:solidFill>
                  <a:srgbClr val="8B0000"/>
                </a:solidFill>
                <a:latin typeface="Times New Roman" pitchFamily="34" charset="0"/>
                <a:ea typeface="Times New Roman" pitchFamily="34" charset="-122"/>
                <a:cs typeface="Times New Roman" pitchFamily="34" charset="-120"/>
              </a:rPr>
              <a:t>01</a:t>
            </a:r>
            <a:endParaRPr lang="en-US" sz="1300" dirty="0"/>
          </a:p>
        </p:txBody>
      </p:sp>
      <p:sp>
        <p:nvSpPr>
          <p:cNvPr id="10" name="Text 8"/>
          <p:cNvSpPr/>
          <p:nvPr/>
        </p:nvSpPr>
        <p:spPr>
          <a:xfrm>
            <a:off x="429768" y="1353312"/>
            <a:ext cx="13716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Raw Data</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Acquisition</a:t>
            </a:r>
            <a:endParaRPr lang="en-US" sz="1300" dirty="0"/>
          </a:p>
        </p:txBody>
      </p:sp>
      <p:sp>
        <p:nvSpPr>
          <p:cNvPr id="11" name="Shape 9"/>
          <p:cNvSpPr/>
          <p:nvPr/>
        </p:nvSpPr>
        <p:spPr>
          <a:xfrm>
            <a:off x="658368" y="2139696"/>
            <a:ext cx="914400" cy="36576"/>
          </a:xfrm>
          <a:prstGeom prst="rect">
            <a:avLst/>
          </a:prstGeom>
          <a:solidFill>
            <a:srgbClr val="E8C4C4"/>
          </a:solidFill>
          <a:ln/>
        </p:spPr>
      </p:sp>
      <p:sp>
        <p:nvSpPr>
          <p:cNvPr id="12" name="Text 10"/>
          <p:cNvSpPr/>
          <p:nvPr/>
        </p:nvSpPr>
        <p:spPr>
          <a:xfrm>
            <a:off x="429768" y="2221992"/>
            <a:ext cx="1371600" cy="685800"/>
          </a:xfrm>
          <a:prstGeom prst="rect">
            <a:avLst/>
          </a:prstGeom>
          <a:noFill/>
          <a:ln/>
        </p:spPr>
        <p:txBody>
          <a:bodyPr wrap="square" lIns="0" tIns="0" rIns="0" bIns="0" rtlCol="0" anchor="t"/>
          <a:lstStyle/>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Zomato CSV</a:t>
            </a:r>
            <a:endParaRPr lang="en-US" sz="1100" dirty="0"/>
          </a:p>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9,551 records</a:t>
            </a:r>
            <a:endParaRPr lang="en-US" sz="1100" dirty="0"/>
          </a:p>
        </p:txBody>
      </p:sp>
      <p:sp>
        <p:nvSpPr>
          <p:cNvPr id="13" name="Shape 11"/>
          <p:cNvSpPr/>
          <p:nvPr/>
        </p:nvSpPr>
        <p:spPr>
          <a:xfrm>
            <a:off x="1883664" y="1911096"/>
            <a:ext cx="164592" cy="45720"/>
          </a:xfrm>
          <a:prstGeom prst="rect">
            <a:avLst/>
          </a:prstGeom>
          <a:solidFill>
            <a:srgbClr val="888888"/>
          </a:solidFill>
          <a:ln/>
        </p:spPr>
      </p:sp>
      <p:sp>
        <p:nvSpPr>
          <p:cNvPr id="14" name="Text 12"/>
          <p:cNvSpPr/>
          <p:nvPr/>
        </p:nvSpPr>
        <p:spPr>
          <a:xfrm>
            <a:off x="2011680" y="1847088"/>
            <a:ext cx="73152" cy="182880"/>
          </a:xfrm>
          <a:prstGeom prst="rect">
            <a:avLst/>
          </a:prstGeom>
          <a:noFill/>
          <a:ln/>
        </p:spPr>
        <p:txBody>
          <a:bodyPr wrap="square" lIns="0" tIns="0" rIns="0" bIns="0" rtlCol="0" anchor="ctr"/>
          <a:lstStyle/>
          <a:p>
            <a:pPr marL="0" indent="0" algn="l">
              <a:buNone/>
            </a:pPr>
            <a:r>
              <a:rPr lang="en-US" sz="1000" dirty="0">
                <a:solidFill>
                  <a:srgbClr val="888888"/>
                </a:solidFill>
                <a:latin typeface="Times New Roman" pitchFamily="34" charset="0"/>
                <a:ea typeface="Times New Roman" pitchFamily="34" charset="-122"/>
                <a:cs typeface="Times New Roman" pitchFamily="34" charset="-120"/>
              </a:rPr>
              <a:t>▶</a:t>
            </a:r>
            <a:endParaRPr lang="en-US" sz="1000" dirty="0"/>
          </a:p>
        </p:txBody>
      </p:sp>
      <p:sp>
        <p:nvSpPr>
          <p:cNvPr id="15" name="Shape 13"/>
          <p:cNvSpPr/>
          <p:nvPr/>
        </p:nvSpPr>
        <p:spPr>
          <a:xfrm>
            <a:off x="2066544" y="658368"/>
            <a:ext cx="1536192" cy="2651760"/>
          </a:xfrm>
          <a:prstGeom prst="rect">
            <a:avLst/>
          </a:prstGeom>
          <a:solidFill>
            <a:srgbClr val="CB202D"/>
          </a:solidFill>
          <a:ln/>
          <a:effectLst>
            <a:outerShdw blurRad="101600" dist="25400" dir="8100000" algn="bl" rotWithShape="0">
              <a:srgbClr val="000000">
                <a:alpha val="20000"/>
              </a:srgbClr>
            </a:outerShdw>
          </a:effectLst>
        </p:spPr>
      </p:sp>
      <p:sp>
        <p:nvSpPr>
          <p:cNvPr id="16" name="Shape 14"/>
          <p:cNvSpPr/>
          <p:nvPr/>
        </p:nvSpPr>
        <p:spPr>
          <a:xfrm>
            <a:off x="2606040" y="777240"/>
            <a:ext cx="457200" cy="457200"/>
          </a:xfrm>
          <a:prstGeom prst="ellipse">
            <a:avLst/>
          </a:prstGeom>
          <a:solidFill>
            <a:srgbClr val="FFFFFF"/>
          </a:solidFill>
          <a:ln/>
        </p:spPr>
      </p:sp>
      <p:sp>
        <p:nvSpPr>
          <p:cNvPr id="17" name="Text 15"/>
          <p:cNvSpPr/>
          <p:nvPr/>
        </p:nvSpPr>
        <p:spPr>
          <a:xfrm>
            <a:off x="2606040" y="777240"/>
            <a:ext cx="457200" cy="457200"/>
          </a:xfrm>
          <a:prstGeom prst="rect">
            <a:avLst/>
          </a:prstGeom>
          <a:noFill/>
          <a:ln/>
        </p:spPr>
        <p:txBody>
          <a:bodyPr wrap="square" lIns="0" tIns="0" rIns="0" bIns="0" rtlCol="0" anchor="ctr"/>
          <a:lstStyle/>
          <a:p>
            <a:pPr marL="0" indent="0" algn="ctr">
              <a:buNone/>
            </a:pPr>
            <a:r>
              <a:rPr lang="en-US" sz="1300" b="1" dirty="0">
                <a:solidFill>
                  <a:srgbClr val="CB202D"/>
                </a:solidFill>
                <a:latin typeface="Times New Roman" pitchFamily="34" charset="0"/>
                <a:ea typeface="Times New Roman" pitchFamily="34" charset="-122"/>
                <a:cs typeface="Times New Roman" pitchFamily="34" charset="-120"/>
              </a:rPr>
              <a:t>02</a:t>
            </a:r>
            <a:endParaRPr lang="en-US" sz="1300" dirty="0"/>
          </a:p>
        </p:txBody>
      </p:sp>
      <p:sp>
        <p:nvSpPr>
          <p:cNvPr id="18" name="Text 16"/>
          <p:cNvSpPr/>
          <p:nvPr/>
        </p:nvSpPr>
        <p:spPr>
          <a:xfrm>
            <a:off x="2148840" y="1353312"/>
            <a:ext cx="13716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Data Cleaning</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(Excel)</a:t>
            </a:r>
            <a:endParaRPr lang="en-US" sz="1300" dirty="0"/>
          </a:p>
        </p:txBody>
      </p:sp>
      <p:sp>
        <p:nvSpPr>
          <p:cNvPr id="19" name="Shape 17"/>
          <p:cNvSpPr/>
          <p:nvPr/>
        </p:nvSpPr>
        <p:spPr>
          <a:xfrm>
            <a:off x="2377440" y="2139696"/>
            <a:ext cx="914400" cy="36576"/>
          </a:xfrm>
          <a:prstGeom prst="rect">
            <a:avLst/>
          </a:prstGeom>
          <a:solidFill>
            <a:srgbClr val="E8C4C4"/>
          </a:solidFill>
          <a:ln/>
        </p:spPr>
      </p:sp>
      <p:sp>
        <p:nvSpPr>
          <p:cNvPr id="20" name="Text 18"/>
          <p:cNvSpPr/>
          <p:nvPr/>
        </p:nvSpPr>
        <p:spPr>
          <a:xfrm>
            <a:off x="2148840" y="2221992"/>
            <a:ext cx="1371600" cy="685800"/>
          </a:xfrm>
          <a:prstGeom prst="rect">
            <a:avLst/>
          </a:prstGeom>
          <a:noFill/>
          <a:ln/>
        </p:spPr>
        <p:txBody>
          <a:bodyPr wrap="square" lIns="0" tIns="0" rIns="0" bIns="0" rtlCol="0" anchor="t"/>
          <a:lstStyle/>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Power Query</a:t>
            </a:r>
            <a:endParaRPr lang="en-US" sz="1100" dirty="0"/>
          </a:p>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Null removal</a:t>
            </a:r>
            <a:endParaRPr lang="en-US" sz="1100" dirty="0"/>
          </a:p>
        </p:txBody>
      </p:sp>
      <p:sp>
        <p:nvSpPr>
          <p:cNvPr id="21" name="Shape 19"/>
          <p:cNvSpPr/>
          <p:nvPr/>
        </p:nvSpPr>
        <p:spPr>
          <a:xfrm>
            <a:off x="3602736" y="1911096"/>
            <a:ext cx="164592" cy="45720"/>
          </a:xfrm>
          <a:prstGeom prst="rect">
            <a:avLst/>
          </a:prstGeom>
          <a:solidFill>
            <a:srgbClr val="888888"/>
          </a:solidFill>
          <a:ln/>
        </p:spPr>
      </p:sp>
      <p:sp>
        <p:nvSpPr>
          <p:cNvPr id="22" name="Text 20"/>
          <p:cNvSpPr/>
          <p:nvPr/>
        </p:nvSpPr>
        <p:spPr>
          <a:xfrm>
            <a:off x="3730752" y="1847088"/>
            <a:ext cx="73152" cy="182880"/>
          </a:xfrm>
          <a:prstGeom prst="rect">
            <a:avLst/>
          </a:prstGeom>
          <a:noFill/>
          <a:ln/>
        </p:spPr>
        <p:txBody>
          <a:bodyPr wrap="square" lIns="0" tIns="0" rIns="0" bIns="0" rtlCol="0" anchor="ctr"/>
          <a:lstStyle/>
          <a:p>
            <a:pPr marL="0" indent="0" algn="l">
              <a:buNone/>
            </a:pPr>
            <a:r>
              <a:rPr lang="en-US" sz="1000" dirty="0">
                <a:solidFill>
                  <a:srgbClr val="888888"/>
                </a:solidFill>
                <a:latin typeface="Times New Roman" pitchFamily="34" charset="0"/>
                <a:ea typeface="Times New Roman" pitchFamily="34" charset="-122"/>
                <a:cs typeface="Times New Roman" pitchFamily="34" charset="-120"/>
              </a:rPr>
              <a:t>▶</a:t>
            </a:r>
            <a:endParaRPr lang="en-US" sz="1000" dirty="0"/>
          </a:p>
        </p:txBody>
      </p:sp>
      <p:sp>
        <p:nvSpPr>
          <p:cNvPr id="23" name="Shape 21"/>
          <p:cNvSpPr/>
          <p:nvPr/>
        </p:nvSpPr>
        <p:spPr>
          <a:xfrm>
            <a:off x="3785616" y="658368"/>
            <a:ext cx="1536192" cy="2651760"/>
          </a:xfrm>
          <a:prstGeom prst="rect">
            <a:avLst/>
          </a:prstGeom>
          <a:solidFill>
            <a:srgbClr val="8B0000"/>
          </a:solidFill>
          <a:ln/>
          <a:effectLst>
            <a:outerShdw blurRad="101600" dist="25400" dir="8100000" algn="bl" rotWithShape="0">
              <a:srgbClr val="000000">
                <a:alpha val="20000"/>
              </a:srgbClr>
            </a:outerShdw>
          </a:effectLst>
        </p:spPr>
      </p:sp>
      <p:sp>
        <p:nvSpPr>
          <p:cNvPr id="24" name="Shape 22"/>
          <p:cNvSpPr/>
          <p:nvPr/>
        </p:nvSpPr>
        <p:spPr>
          <a:xfrm>
            <a:off x="4325112" y="777240"/>
            <a:ext cx="457200" cy="457200"/>
          </a:xfrm>
          <a:prstGeom prst="ellipse">
            <a:avLst/>
          </a:prstGeom>
          <a:solidFill>
            <a:srgbClr val="FFFFFF"/>
          </a:solidFill>
          <a:ln/>
        </p:spPr>
      </p:sp>
      <p:sp>
        <p:nvSpPr>
          <p:cNvPr id="25" name="Text 23"/>
          <p:cNvSpPr/>
          <p:nvPr/>
        </p:nvSpPr>
        <p:spPr>
          <a:xfrm>
            <a:off x="4325112" y="777240"/>
            <a:ext cx="457200" cy="457200"/>
          </a:xfrm>
          <a:prstGeom prst="rect">
            <a:avLst/>
          </a:prstGeom>
          <a:noFill/>
          <a:ln/>
        </p:spPr>
        <p:txBody>
          <a:bodyPr wrap="square" lIns="0" tIns="0" rIns="0" bIns="0" rtlCol="0" anchor="ctr"/>
          <a:lstStyle/>
          <a:p>
            <a:pPr marL="0" indent="0" algn="ctr">
              <a:buNone/>
            </a:pPr>
            <a:r>
              <a:rPr lang="en-US" sz="1300" b="1" dirty="0">
                <a:solidFill>
                  <a:srgbClr val="8B0000"/>
                </a:solidFill>
                <a:latin typeface="Times New Roman" pitchFamily="34" charset="0"/>
                <a:ea typeface="Times New Roman" pitchFamily="34" charset="-122"/>
                <a:cs typeface="Times New Roman" pitchFamily="34" charset="-120"/>
              </a:rPr>
              <a:t>03</a:t>
            </a:r>
            <a:endParaRPr lang="en-US" sz="1300" dirty="0"/>
          </a:p>
        </p:txBody>
      </p:sp>
      <p:sp>
        <p:nvSpPr>
          <p:cNvPr id="26" name="Text 24"/>
          <p:cNvSpPr/>
          <p:nvPr/>
        </p:nvSpPr>
        <p:spPr>
          <a:xfrm>
            <a:off x="3867912" y="1353312"/>
            <a:ext cx="13716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SQL</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Analysis</a:t>
            </a:r>
            <a:endParaRPr lang="en-US" sz="1300" dirty="0"/>
          </a:p>
        </p:txBody>
      </p:sp>
      <p:sp>
        <p:nvSpPr>
          <p:cNvPr id="27" name="Shape 25"/>
          <p:cNvSpPr/>
          <p:nvPr/>
        </p:nvSpPr>
        <p:spPr>
          <a:xfrm>
            <a:off x="4096512" y="2139696"/>
            <a:ext cx="914400" cy="36576"/>
          </a:xfrm>
          <a:prstGeom prst="rect">
            <a:avLst/>
          </a:prstGeom>
          <a:solidFill>
            <a:srgbClr val="E8C4C4"/>
          </a:solidFill>
          <a:ln/>
        </p:spPr>
      </p:sp>
      <p:sp>
        <p:nvSpPr>
          <p:cNvPr id="28" name="Text 26"/>
          <p:cNvSpPr/>
          <p:nvPr/>
        </p:nvSpPr>
        <p:spPr>
          <a:xfrm>
            <a:off x="3867912" y="2221992"/>
            <a:ext cx="1371600" cy="685800"/>
          </a:xfrm>
          <a:prstGeom prst="rect">
            <a:avLst/>
          </a:prstGeom>
          <a:noFill/>
          <a:ln/>
        </p:spPr>
        <p:txBody>
          <a:bodyPr wrap="square" lIns="0" tIns="0" rIns="0" bIns="0" rtlCol="0" anchor="t"/>
          <a:lstStyle/>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GROUP BY</a:t>
            </a:r>
            <a:endParaRPr lang="en-US" sz="1100" dirty="0"/>
          </a:p>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CASE WHEN</a:t>
            </a:r>
            <a:endParaRPr lang="en-US" sz="1100" dirty="0"/>
          </a:p>
        </p:txBody>
      </p:sp>
      <p:sp>
        <p:nvSpPr>
          <p:cNvPr id="29" name="Shape 27"/>
          <p:cNvSpPr/>
          <p:nvPr/>
        </p:nvSpPr>
        <p:spPr>
          <a:xfrm>
            <a:off x="5321808" y="1911096"/>
            <a:ext cx="164592" cy="45720"/>
          </a:xfrm>
          <a:prstGeom prst="rect">
            <a:avLst/>
          </a:prstGeom>
          <a:solidFill>
            <a:srgbClr val="888888"/>
          </a:solidFill>
          <a:ln/>
        </p:spPr>
      </p:sp>
      <p:sp>
        <p:nvSpPr>
          <p:cNvPr id="30" name="Text 28"/>
          <p:cNvSpPr/>
          <p:nvPr/>
        </p:nvSpPr>
        <p:spPr>
          <a:xfrm>
            <a:off x="5449824" y="1847088"/>
            <a:ext cx="73152" cy="182880"/>
          </a:xfrm>
          <a:prstGeom prst="rect">
            <a:avLst/>
          </a:prstGeom>
          <a:noFill/>
          <a:ln/>
        </p:spPr>
        <p:txBody>
          <a:bodyPr wrap="square" lIns="0" tIns="0" rIns="0" bIns="0" rtlCol="0" anchor="ctr"/>
          <a:lstStyle/>
          <a:p>
            <a:pPr marL="0" indent="0" algn="l">
              <a:buNone/>
            </a:pPr>
            <a:r>
              <a:rPr lang="en-US" sz="1000" dirty="0">
                <a:solidFill>
                  <a:srgbClr val="888888"/>
                </a:solidFill>
                <a:latin typeface="Times New Roman" pitchFamily="34" charset="0"/>
                <a:ea typeface="Times New Roman" pitchFamily="34" charset="-122"/>
                <a:cs typeface="Times New Roman" pitchFamily="34" charset="-120"/>
              </a:rPr>
              <a:t>▶</a:t>
            </a:r>
            <a:endParaRPr lang="en-US" sz="1000" dirty="0"/>
          </a:p>
        </p:txBody>
      </p:sp>
      <p:sp>
        <p:nvSpPr>
          <p:cNvPr id="31" name="Shape 29"/>
          <p:cNvSpPr/>
          <p:nvPr/>
        </p:nvSpPr>
        <p:spPr>
          <a:xfrm>
            <a:off x="5504688" y="658368"/>
            <a:ext cx="1536192" cy="2651760"/>
          </a:xfrm>
          <a:prstGeom prst="rect">
            <a:avLst/>
          </a:prstGeom>
          <a:solidFill>
            <a:srgbClr val="CB202D"/>
          </a:solidFill>
          <a:ln/>
          <a:effectLst>
            <a:outerShdw blurRad="101600" dist="25400" dir="8100000" algn="bl" rotWithShape="0">
              <a:srgbClr val="000000">
                <a:alpha val="20000"/>
              </a:srgbClr>
            </a:outerShdw>
          </a:effectLst>
        </p:spPr>
      </p:sp>
      <p:sp>
        <p:nvSpPr>
          <p:cNvPr id="32" name="Shape 30"/>
          <p:cNvSpPr/>
          <p:nvPr/>
        </p:nvSpPr>
        <p:spPr>
          <a:xfrm>
            <a:off x="6044184" y="777240"/>
            <a:ext cx="457200" cy="457200"/>
          </a:xfrm>
          <a:prstGeom prst="ellipse">
            <a:avLst/>
          </a:prstGeom>
          <a:solidFill>
            <a:srgbClr val="FFFFFF"/>
          </a:solidFill>
          <a:ln/>
        </p:spPr>
      </p:sp>
      <p:sp>
        <p:nvSpPr>
          <p:cNvPr id="33" name="Text 31"/>
          <p:cNvSpPr/>
          <p:nvPr/>
        </p:nvSpPr>
        <p:spPr>
          <a:xfrm>
            <a:off x="6044184" y="777240"/>
            <a:ext cx="457200" cy="457200"/>
          </a:xfrm>
          <a:prstGeom prst="rect">
            <a:avLst/>
          </a:prstGeom>
          <a:noFill/>
          <a:ln/>
        </p:spPr>
        <p:txBody>
          <a:bodyPr wrap="square" lIns="0" tIns="0" rIns="0" bIns="0" rtlCol="0" anchor="ctr"/>
          <a:lstStyle/>
          <a:p>
            <a:pPr marL="0" indent="0" algn="ctr">
              <a:buNone/>
            </a:pPr>
            <a:r>
              <a:rPr lang="en-US" sz="1300" b="1" dirty="0">
                <a:solidFill>
                  <a:srgbClr val="CB202D"/>
                </a:solidFill>
                <a:latin typeface="Times New Roman" pitchFamily="34" charset="0"/>
                <a:ea typeface="Times New Roman" pitchFamily="34" charset="-122"/>
                <a:cs typeface="Times New Roman" pitchFamily="34" charset="-120"/>
              </a:rPr>
              <a:t>04</a:t>
            </a:r>
            <a:endParaRPr lang="en-US" sz="1300" dirty="0"/>
          </a:p>
        </p:txBody>
      </p:sp>
      <p:sp>
        <p:nvSpPr>
          <p:cNvPr id="34" name="Text 32"/>
          <p:cNvSpPr/>
          <p:nvPr/>
        </p:nvSpPr>
        <p:spPr>
          <a:xfrm>
            <a:off x="5586984" y="1353312"/>
            <a:ext cx="13716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Power BI</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Dashboard</a:t>
            </a:r>
            <a:endParaRPr lang="en-US" sz="1300" dirty="0"/>
          </a:p>
        </p:txBody>
      </p:sp>
      <p:sp>
        <p:nvSpPr>
          <p:cNvPr id="35" name="Shape 33"/>
          <p:cNvSpPr/>
          <p:nvPr/>
        </p:nvSpPr>
        <p:spPr>
          <a:xfrm>
            <a:off x="5815584" y="2139696"/>
            <a:ext cx="914400" cy="36576"/>
          </a:xfrm>
          <a:prstGeom prst="rect">
            <a:avLst/>
          </a:prstGeom>
          <a:solidFill>
            <a:srgbClr val="E8C4C4"/>
          </a:solidFill>
          <a:ln/>
        </p:spPr>
      </p:sp>
      <p:sp>
        <p:nvSpPr>
          <p:cNvPr id="36" name="Text 34"/>
          <p:cNvSpPr/>
          <p:nvPr/>
        </p:nvSpPr>
        <p:spPr>
          <a:xfrm>
            <a:off x="5586984" y="2221992"/>
            <a:ext cx="1371600" cy="685800"/>
          </a:xfrm>
          <a:prstGeom prst="rect">
            <a:avLst/>
          </a:prstGeom>
          <a:noFill/>
          <a:ln/>
        </p:spPr>
        <p:txBody>
          <a:bodyPr wrap="square" lIns="0" tIns="0" rIns="0" bIns="0" rtlCol="0" anchor="t"/>
          <a:lstStyle/>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DAX Measures</a:t>
            </a:r>
            <a:endParaRPr lang="en-US" sz="1100" dirty="0"/>
          </a:p>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Interactive</a:t>
            </a:r>
            <a:endParaRPr lang="en-US" sz="1100" dirty="0"/>
          </a:p>
        </p:txBody>
      </p:sp>
      <p:sp>
        <p:nvSpPr>
          <p:cNvPr id="37" name="Shape 35"/>
          <p:cNvSpPr/>
          <p:nvPr/>
        </p:nvSpPr>
        <p:spPr>
          <a:xfrm>
            <a:off x="7040880" y="1911096"/>
            <a:ext cx="164592" cy="45720"/>
          </a:xfrm>
          <a:prstGeom prst="rect">
            <a:avLst/>
          </a:prstGeom>
          <a:solidFill>
            <a:srgbClr val="888888"/>
          </a:solidFill>
          <a:ln/>
        </p:spPr>
      </p:sp>
      <p:sp>
        <p:nvSpPr>
          <p:cNvPr id="38" name="Text 36"/>
          <p:cNvSpPr/>
          <p:nvPr/>
        </p:nvSpPr>
        <p:spPr>
          <a:xfrm>
            <a:off x="7168896" y="1847088"/>
            <a:ext cx="73152" cy="182880"/>
          </a:xfrm>
          <a:prstGeom prst="rect">
            <a:avLst/>
          </a:prstGeom>
          <a:noFill/>
          <a:ln/>
        </p:spPr>
        <p:txBody>
          <a:bodyPr wrap="square" lIns="0" tIns="0" rIns="0" bIns="0" rtlCol="0" anchor="ctr"/>
          <a:lstStyle/>
          <a:p>
            <a:pPr marL="0" indent="0" algn="l">
              <a:buNone/>
            </a:pPr>
            <a:r>
              <a:rPr lang="en-US" sz="1000" dirty="0">
                <a:solidFill>
                  <a:srgbClr val="888888"/>
                </a:solidFill>
                <a:latin typeface="Times New Roman" pitchFamily="34" charset="0"/>
                <a:ea typeface="Times New Roman" pitchFamily="34" charset="-122"/>
                <a:cs typeface="Times New Roman" pitchFamily="34" charset="-120"/>
              </a:rPr>
              <a:t>▶</a:t>
            </a:r>
            <a:endParaRPr lang="en-US" sz="1000" dirty="0"/>
          </a:p>
        </p:txBody>
      </p:sp>
      <p:sp>
        <p:nvSpPr>
          <p:cNvPr id="39" name="Shape 37"/>
          <p:cNvSpPr/>
          <p:nvPr/>
        </p:nvSpPr>
        <p:spPr>
          <a:xfrm>
            <a:off x="7223760" y="658368"/>
            <a:ext cx="1536192" cy="2651760"/>
          </a:xfrm>
          <a:prstGeom prst="rect">
            <a:avLst/>
          </a:prstGeom>
          <a:solidFill>
            <a:srgbClr val="8B0000"/>
          </a:solidFill>
          <a:ln/>
          <a:effectLst>
            <a:outerShdw blurRad="101600" dist="25400" dir="8100000" algn="bl" rotWithShape="0">
              <a:srgbClr val="000000">
                <a:alpha val="20000"/>
              </a:srgbClr>
            </a:outerShdw>
          </a:effectLst>
        </p:spPr>
      </p:sp>
      <p:sp>
        <p:nvSpPr>
          <p:cNvPr id="40" name="Shape 38"/>
          <p:cNvSpPr/>
          <p:nvPr/>
        </p:nvSpPr>
        <p:spPr>
          <a:xfrm>
            <a:off x="7763256" y="777240"/>
            <a:ext cx="457200" cy="457200"/>
          </a:xfrm>
          <a:prstGeom prst="ellipse">
            <a:avLst/>
          </a:prstGeom>
          <a:solidFill>
            <a:srgbClr val="FFFFFF"/>
          </a:solidFill>
          <a:ln/>
        </p:spPr>
      </p:sp>
      <p:sp>
        <p:nvSpPr>
          <p:cNvPr id="41" name="Text 39"/>
          <p:cNvSpPr/>
          <p:nvPr/>
        </p:nvSpPr>
        <p:spPr>
          <a:xfrm>
            <a:off x="7763256" y="777240"/>
            <a:ext cx="457200" cy="457200"/>
          </a:xfrm>
          <a:prstGeom prst="rect">
            <a:avLst/>
          </a:prstGeom>
          <a:noFill/>
          <a:ln/>
        </p:spPr>
        <p:txBody>
          <a:bodyPr wrap="square" lIns="0" tIns="0" rIns="0" bIns="0" rtlCol="0" anchor="ctr"/>
          <a:lstStyle/>
          <a:p>
            <a:pPr marL="0" indent="0" algn="ctr">
              <a:buNone/>
            </a:pPr>
            <a:r>
              <a:rPr lang="en-US" sz="1300" b="1" dirty="0">
                <a:solidFill>
                  <a:srgbClr val="8B0000"/>
                </a:solidFill>
                <a:latin typeface="Times New Roman" pitchFamily="34" charset="0"/>
                <a:ea typeface="Times New Roman" pitchFamily="34" charset="-122"/>
                <a:cs typeface="Times New Roman" pitchFamily="34" charset="-120"/>
              </a:rPr>
              <a:t>05</a:t>
            </a:r>
            <a:endParaRPr lang="en-US" sz="1300" dirty="0"/>
          </a:p>
        </p:txBody>
      </p:sp>
      <p:sp>
        <p:nvSpPr>
          <p:cNvPr id="42" name="Text 40"/>
          <p:cNvSpPr/>
          <p:nvPr/>
        </p:nvSpPr>
        <p:spPr>
          <a:xfrm>
            <a:off x="7306056" y="1353312"/>
            <a:ext cx="13716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Tableau</a:t>
            </a:r>
            <a:endParaRPr lang="en-US" sz="1300" dirty="0"/>
          </a:p>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Dashboard</a:t>
            </a:r>
            <a:endParaRPr lang="en-US" sz="1300" dirty="0"/>
          </a:p>
        </p:txBody>
      </p:sp>
      <p:sp>
        <p:nvSpPr>
          <p:cNvPr id="43" name="Shape 41"/>
          <p:cNvSpPr/>
          <p:nvPr/>
        </p:nvSpPr>
        <p:spPr>
          <a:xfrm>
            <a:off x="7534656" y="2139696"/>
            <a:ext cx="914400" cy="36576"/>
          </a:xfrm>
          <a:prstGeom prst="rect">
            <a:avLst/>
          </a:prstGeom>
          <a:solidFill>
            <a:srgbClr val="E8C4C4"/>
          </a:solidFill>
          <a:ln/>
        </p:spPr>
      </p:sp>
      <p:sp>
        <p:nvSpPr>
          <p:cNvPr id="44" name="Text 42"/>
          <p:cNvSpPr/>
          <p:nvPr/>
        </p:nvSpPr>
        <p:spPr>
          <a:xfrm>
            <a:off x="7306056" y="2221992"/>
            <a:ext cx="1371600" cy="685800"/>
          </a:xfrm>
          <a:prstGeom prst="rect">
            <a:avLst/>
          </a:prstGeom>
          <a:noFill/>
          <a:ln/>
        </p:spPr>
        <p:txBody>
          <a:bodyPr wrap="square" lIns="0" tIns="0" rIns="0" bIns="0" rtlCol="0" anchor="t"/>
          <a:lstStyle/>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Charts</a:t>
            </a:r>
            <a:endParaRPr lang="en-US" sz="1100" dirty="0"/>
          </a:p>
          <a:p>
            <a:pPr marL="0" indent="0" algn="ctr">
              <a:buNone/>
            </a:pPr>
            <a:r>
              <a:rPr lang="en-US" sz="1100" dirty="0">
                <a:solidFill>
                  <a:srgbClr val="E8C4C4"/>
                </a:solidFill>
                <a:latin typeface="Times New Roman" pitchFamily="34" charset="0"/>
                <a:ea typeface="Times New Roman" pitchFamily="34" charset="-122"/>
                <a:cs typeface="Times New Roman" pitchFamily="34" charset="-120"/>
              </a:rPr>
              <a:t>Visualizations</a:t>
            </a:r>
            <a:endParaRPr lang="en-US" sz="1100" dirty="0"/>
          </a:p>
        </p:txBody>
      </p:sp>
      <p:sp>
        <p:nvSpPr>
          <p:cNvPr id="45" name="Text 43"/>
          <p:cNvSpPr/>
          <p:nvPr/>
        </p:nvSpPr>
        <p:spPr>
          <a:xfrm>
            <a:off x="347472" y="3401568"/>
            <a:ext cx="1536192" cy="274320"/>
          </a:xfrm>
          <a:prstGeom prst="rect">
            <a:avLst/>
          </a:prstGeom>
          <a:noFill/>
          <a:ln/>
        </p:spPr>
        <p:txBody>
          <a:bodyPr wrap="square" lIns="0" tIns="0" rIns="0" bIns="0" rtlCol="0" anchor="ctr"/>
          <a:lstStyle/>
          <a:p>
            <a:pPr marL="0" indent="0" algn="ctr">
              <a:buNone/>
            </a:pPr>
            <a:r>
              <a:rPr lang="en-US" sz="1000" i="1" dirty="0">
                <a:solidFill>
                  <a:srgbClr val="888888"/>
                </a:solidFill>
                <a:latin typeface="Times New Roman" pitchFamily="34" charset="0"/>
                <a:ea typeface="Times New Roman" pitchFamily="34" charset="-122"/>
                <a:cs typeface="Times New Roman" pitchFamily="34" charset="-120"/>
              </a:rPr>
              <a:t>Week 1</a:t>
            </a:r>
            <a:endParaRPr lang="en-US" sz="1000" dirty="0"/>
          </a:p>
        </p:txBody>
      </p:sp>
      <p:sp>
        <p:nvSpPr>
          <p:cNvPr id="46" name="Text 44"/>
          <p:cNvSpPr/>
          <p:nvPr/>
        </p:nvSpPr>
        <p:spPr>
          <a:xfrm>
            <a:off x="2066544" y="3401568"/>
            <a:ext cx="1536192" cy="274320"/>
          </a:xfrm>
          <a:prstGeom prst="rect">
            <a:avLst/>
          </a:prstGeom>
          <a:noFill/>
          <a:ln/>
        </p:spPr>
        <p:txBody>
          <a:bodyPr wrap="square" lIns="0" tIns="0" rIns="0" bIns="0" rtlCol="0" anchor="ctr"/>
          <a:lstStyle/>
          <a:p>
            <a:pPr marL="0" indent="0" algn="ctr">
              <a:buNone/>
            </a:pPr>
            <a:r>
              <a:rPr lang="en-US" sz="1000" i="1" dirty="0">
                <a:solidFill>
                  <a:srgbClr val="888888"/>
                </a:solidFill>
                <a:latin typeface="Times New Roman" pitchFamily="34" charset="0"/>
                <a:ea typeface="Times New Roman" pitchFamily="34" charset="-122"/>
                <a:cs typeface="Times New Roman" pitchFamily="34" charset="-120"/>
              </a:rPr>
              <a:t>Week 1</a:t>
            </a:r>
            <a:endParaRPr lang="en-US" sz="1000" dirty="0"/>
          </a:p>
        </p:txBody>
      </p:sp>
      <p:sp>
        <p:nvSpPr>
          <p:cNvPr id="47" name="Text 45"/>
          <p:cNvSpPr/>
          <p:nvPr/>
        </p:nvSpPr>
        <p:spPr>
          <a:xfrm>
            <a:off x="3785616" y="3401568"/>
            <a:ext cx="1536192" cy="274320"/>
          </a:xfrm>
          <a:prstGeom prst="rect">
            <a:avLst/>
          </a:prstGeom>
          <a:noFill/>
          <a:ln/>
        </p:spPr>
        <p:txBody>
          <a:bodyPr wrap="square" lIns="0" tIns="0" rIns="0" bIns="0" rtlCol="0" anchor="ctr"/>
          <a:lstStyle/>
          <a:p>
            <a:pPr marL="0" indent="0" algn="ctr">
              <a:buNone/>
            </a:pPr>
            <a:r>
              <a:rPr lang="en-US" sz="1000" i="1" dirty="0">
                <a:solidFill>
                  <a:srgbClr val="888888"/>
                </a:solidFill>
                <a:latin typeface="Times New Roman" pitchFamily="34" charset="0"/>
                <a:ea typeface="Times New Roman" pitchFamily="34" charset="-122"/>
                <a:cs typeface="Times New Roman" pitchFamily="34" charset="-120"/>
              </a:rPr>
              <a:t>Week 2</a:t>
            </a:r>
            <a:endParaRPr lang="en-US" sz="1000" dirty="0"/>
          </a:p>
        </p:txBody>
      </p:sp>
      <p:sp>
        <p:nvSpPr>
          <p:cNvPr id="48" name="Text 46"/>
          <p:cNvSpPr/>
          <p:nvPr/>
        </p:nvSpPr>
        <p:spPr>
          <a:xfrm>
            <a:off x="5504688" y="3401568"/>
            <a:ext cx="1536192" cy="274320"/>
          </a:xfrm>
          <a:prstGeom prst="rect">
            <a:avLst/>
          </a:prstGeom>
          <a:noFill/>
          <a:ln/>
        </p:spPr>
        <p:txBody>
          <a:bodyPr wrap="square" lIns="0" tIns="0" rIns="0" bIns="0" rtlCol="0" anchor="ctr"/>
          <a:lstStyle/>
          <a:p>
            <a:pPr marL="0" indent="0" algn="ctr">
              <a:buNone/>
            </a:pPr>
            <a:r>
              <a:rPr lang="en-US" sz="1000" i="1" dirty="0">
                <a:solidFill>
                  <a:srgbClr val="888888"/>
                </a:solidFill>
                <a:latin typeface="Times New Roman" pitchFamily="34" charset="0"/>
                <a:ea typeface="Times New Roman" pitchFamily="34" charset="-122"/>
                <a:cs typeface="Times New Roman" pitchFamily="34" charset="-120"/>
              </a:rPr>
              <a:t>Week 2</a:t>
            </a:r>
            <a:endParaRPr lang="en-US" sz="1000" dirty="0"/>
          </a:p>
        </p:txBody>
      </p:sp>
      <p:sp>
        <p:nvSpPr>
          <p:cNvPr id="49" name="Text 47"/>
          <p:cNvSpPr/>
          <p:nvPr/>
        </p:nvSpPr>
        <p:spPr>
          <a:xfrm>
            <a:off x="7223760" y="3401568"/>
            <a:ext cx="1536192" cy="274320"/>
          </a:xfrm>
          <a:prstGeom prst="rect">
            <a:avLst/>
          </a:prstGeom>
          <a:noFill/>
          <a:ln/>
        </p:spPr>
        <p:txBody>
          <a:bodyPr wrap="square" lIns="0" tIns="0" rIns="0" bIns="0" rtlCol="0" anchor="ctr"/>
          <a:lstStyle/>
          <a:p>
            <a:pPr marL="0" indent="0" algn="ctr">
              <a:buNone/>
            </a:pPr>
            <a:r>
              <a:rPr lang="en-US" sz="1000" i="1" dirty="0">
                <a:solidFill>
                  <a:srgbClr val="888888"/>
                </a:solidFill>
                <a:latin typeface="Times New Roman" pitchFamily="34" charset="0"/>
                <a:ea typeface="Times New Roman" pitchFamily="34" charset="-122"/>
                <a:cs typeface="Times New Roman" pitchFamily="34" charset="-120"/>
              </a:rPr>
              <a:t>Week 3</a:t>
            </a:r>
            <a:endParaRPr lang="en-US" sz="1000" dirty="0"/>
          </a:p>
        </p:txBody>
      </p:sp>
      <p:sp>
        <p:nvSpPr>
          <p:cNvPr id="50" name="Shape 48"/>
          <p:cNvSpPr/>
          <p:nvPr/>
        </p:nvSpPr>
        <p:spPr>
          <a:xfrm>
            <a:off x="347472" y="3767328"/>
            <a:ext cx="8449056" cy="685800"/>
          </a:xfrm>
          <a:prstGeom prst="rect">
            <a:avLst/>
          </a:prstGeom>
          <a:solidFill>
            <a:srgbClr val="1A1A2E"/>
          </a:solidFill>
          <a:ln/>
          <a:effectLst>
            <a:outerShdw blurRad="76200" dist="25400" dir="8100000" algn="bl" rotWithShape="0">
              <a:srgbClr val="000000">
                <a:alpha val="20000"/>
              </a:srgbClr>
            </a:outerShdw>
          </a:effectLst>
        </p:spPr>
      </p:sp>
      <p:sp>
        <p:nvSpPr>
          <p:cNvPr id="51" name="Shape 49"/>
          <p:cNvSpPr/>
          <p:nvPr/>
        </p:nvSpPr>
        <p:spPr>
          <a:xfrm>
            <a:off x="457200" y="3858768"/>
            <a:ext cx="411480" cy="411480"/>
          </a:xfrm>
          <a:prstGeom prst="ellipse">
            <a:avLst/>
          </a:prstGeom>
          <a:solidFill>
            <a:srgbClr val="CB202D"/>
          </a:solidFill>
          <a:ln/>
        </p:spPr>
      </p:sp>
      <p:sp>
        <p:nvSpPr>
          <p:cNvPr id="52" name="Text 50"/>
          <p:cNvSpPr/>
          <p:nvPr/>
        </p:nvSpPr>
        <p:spPr>
          <a:xfrm>
            <a:off x="457200" y="3858768"/>
            <a:ext cx="41148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06</a:t>
            </a:r>
            <a:endParaRPr lang="en-US" sz="1200" dirty="0"/>
          </a:p>
        </p:txBody>
      </p:sp>
      <p:sp>
        <p:nvSpPr>
          <p:cNvPr id="53" name="Text 51"/>
          <p:cNvSpPr/>
          <p:nvPr/>
        </p:nvSpPr>
        <p:spPr>
          <a:xfrm>
            <a:off x="960120" y="3813048"/>
            <a:ext cx="7772400" cy="685800"/>
          </a:xfrm>
          <a:prstGeom prst="rect">
            <a:avLst/>
          </a:prstGeom>
          <a:noFill/>
          <a:ln/>
        </p:spPr>
        <p:txBody>
          <a:bodyPr wrap="square" lIns="0" tIns="0" rIns="0" bIns="0"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Insights &amp; Presentation  —  Key findings, recommendations, and final review</a:t>
            </a:r>
            <a:endParaRPr lang="en-US" sz="1500" dirty="0"/>
          </a:p>
        </p:txBody>
      </p:sp>
      <p:sp>
        <p:nvSpPr>
          <p:cNvPr id="57" name="TextBox 56">
            <a:extLst>
              <a:ext uri="{FF2B5EF4-FFF2-40B4-BE49-F238E27FC236}">
                <a16:creationId xmlns:a16="http://schemas.microsoft.com/office/drawing/2014/main" id="{DB996BB6-79D2-119D-48FC-4E4D7917835B}"/>
              </a:ext>
            </a:extLst>
          </p:cNvPr>
          <p:cNvSpPr txBox="1"/>
          <p:nvPr/>
        </p:nvSpPr>
        <p:spPr>
          <a:xfrm>
            <a:off x="2286000" y="4460486"/>
            <a:ext cx="4572000" cy="338554"/>
          </a:xfrm>
          <a:prstGeom prst="rect">
            <a:avLst/>
          </a:prstGeom>
          <a:noFill/>
        </p:spPr>
        <p:txBody>
          <a:bodyPr wrap="square">
            <a:spAutoFit/>
          </a:bodyPr>
          <a:lstStyle/>
          <a:p>
            <a:pPr marL="0" indent="0" algn="ctr">
              <a:buNone/>
            </a:pPr>
            <a:r>
              <a:rPr lang="en-US" sz="1600" i="1" dirty="0">
                <a:solidFill>
                  <a:srgbClr val="888888"/>
                </a:solidFill>
                <a:latin typeface="Times New Roman" pitchFamily="34" charset="0"/>
                <a:ea typeface="Times New Roman" pitchFamily="34" charset="-122"/>
                <a:cs typeface="Times New Roman" pitchFamily="34" charset="-120"/>
              </a:rPr>
              <a:t>Week 4</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WEEK 1 — EXCEL: DATA CLEANING &amp; DASHBOARD</a:t>
            </a:r>
            <a:endParaRPr lang="en-US" sz="2200" dirty="0"/>
          </a:p>
        </p:txBody>
      </p:sp>
      <p:sp>
        <p:nvSpPr>
          <p:cNvPr id="7" name="Text 5"/>
          <p:cNvSpPr/>
          <p:nvPr/>
        </p:nvSpPr>
        <p:spPr>
          <a:xfrm>
            <a:off x="347472" y="621792"/>
            <a:ext cx="4023360" cy="347472"/>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Data Cleaning (Power Query)</a:t>
            </a:r>
            <a:endParaRPr lang="en-US" sz="1500" dirty="0"/>
          </a:p>
        </p:txBody>
      </p:sp>
      <p:sp>
        <p:nvSpPr>
          <p:cNvPr id="8" name="Shape 6"/>
          <p:cNvSpPr/>
          <p:nvPr/>
        </p:nvSpPr>
        <p:spPr>
          <a:xfrm>
            <a:off x="347472" y="1078992"/>
            <a:ext cx="219456" cy="219456"/>
          </a:xfrm>
          <a:prstGeom prst="ellipse">
            <a:avLst/>
          </a:prstGeom>
          <a:solidFill>
            <a:srgbClr val="CB202D"/>
          </a:solidFill>
          <a:ln/>
        </p:spPr>
      </p:sp>
      <p:sp>
        <p:nvSpPr>
          <p:cNvPr id="9" name="Text 7"/>
          <p:cNvSpPr/>
          <p:nvPr/>
        </p:nvSpPr>
        <p:spPr>
          <a:xfrm>
            <a:off x="658368" y="1051560"/>
            <a:ext cx="3566160" cy="320040"/>
          </a:xfrm>
          <a:prstGeom prst="rect">
            <a:avLst/>
          </a:prstGeom>
          <a:noFill/>
          <a:ln/>
        </p:spPr>
        <p:txBody>
          <a:bodyPr wrap="square" lIns="0" tIns="0" rIns="0" bIns="0" rtlCol="0" anchor="ctr"/>
          <a:lstStyle/>
          <a:p>
            <a:pPr marL="0" indent="0" algn="l">
              <a:buNone/>
            </a:pPr>
            <a:r>
              <a:rPr lang="en-US" sz="1250" dirty="0">
                <a:solidFill>
                  <a:srgbClr val="1A1A2E"/>
                </a:solidFill>
                <a:latin typeface="Times New Roman" pitchFamily="34" charset="0"/>
                <a:ea typeface="Times New Roman" pitchFamily="34" charset="-122"/>
                <a:cs typeface="Times New Roman" pitchFamily="34" charset="-120"/>
              </a:rPr>
              <a:t>Imported Zomato dataset into Excel</a:t>
            </a:r>
            <a:endParaRPr lang="en-US" sz="1250" dirty="0"/>
          </a:p>
        </p:txBody>
      </p:sp>
      <p:sp>
        <p:nvSpPr>
          <p:cNvPr id="10" name="Shape 8"/>
          <p:cNvSpPr/>
          <p:nvPr/>
        </p:nvSpPr>
        <p:spPr>
          <a:xfrm>
            <a:off x="347472" y="1554480"/>
            <a:ext cx="219456" cy="219456"/>
          </a:xfrm>
          <a:prstGeom prst="ellipse">
            <a:avLst/>
          </a:prstGeom>
          <a:solidFill>
            <a:srgbClr val="CB202D"/>
          </a:solidFill>
          <a:ln/>
        </p:spPr>
      </p:sp>
      <p:sp>
        <p:nvSpPr>
          <p:cNvPr id="11" name="Text 9"/>
          <p:cNvSpPr/>
          <p:nvPr/>
        </p:nvSpPr>
        <p:spPr>
          <a:xfrm>
            <a:off x="658368" y="1527048"/>
            <a:ext cx="3566160" cy="320040"/>
          </a:xfrm>
          <a:prstGeom prst="rect">
            <a:avLst/>
          </a:prstGeom>
          <a:noFill/>
          <a:ln/>
        </p:spPr>
        <p:txBody>
          <a:bodyPr wrap="square" lIns="0" tIns="0" rIns="0" bIns="0" rtlCol="0" anchor="ctr"/>
          <a:lstStyle/>
          <a:p>
            <a:pPr marL="0" indent="0" algn="l">
              <a:buNone/>
            </a:pPr>
            <a:r>
              <a:rPr lang="en-US" sz="1250" dirty="0">
                <a:solidFill>
                  <a:srgbClr val="1A1A2E"/>
                </a:solidFill>
                <a:latin typeface="Times New Roman" pitchFamily="34" charset="0"/>
                <a:ea typeface="Times New Roman" pitchFamily="34" charset="-122"/>
                <a:cs typeface="Times New Roman" pitchFamily="34" charset="-120"/>
              </a:rPr>
              <a:t>Removed null values using Power Query</a:t>
            </a:r>
            <a:endParaRPr lang="en-US" sz="1250" dirty="0"/>
          </a:p>
        </p:txBody>
      </p:sp>
      <p:sp>
        <p:nvSpPr>
          <p:cNvPr id="12" name="Shape 10"/>
          <p:cNvSpPr/>
          <p:nvPr/>
        </p:nvSpPr>
        <p:spPr>
          <a:xfrm>
            <a:off x="347472" y="2029968"/>
            <a:ext cx="219456" cy="219456"/>
          </a:xfrm>
          <a:prstGeom prst="ellipse">
            <a:avLst/>
          </a:prstGeom>
          <a:solidFill>
            <a:srgbClr val="CB202D"/>
          </a:solidFill>
          <a:ln/>
        </p:spPr>
      </p:sp>
      <p:sp>
        <p:nvSpPr>
          <p:cNvPr id="13" name="Text 11"/>
          <p:cNvSpPr/>
          <p:nvPr/>
        </p:nvSpPr>
        <p:spPr>
          <a:xfrm>
            <a:off x="658368" y="2002536"/>
            <a:ext cx="3566160" cy="320040"/>
          </a:xfrm>
          <a:prstGeom prst="rect">
            <a:avLst/>
          </a:prstGeom>
          <a:noFill/>
          <a:ln/>
        </p:spPr>
        <p:txBody>
          <a:bodyPr wrap="square" lIns="0" tIns="0" rIns="0" bIns="0" rtlCol="0" anchor="ctr"/>
          <a:lstStyle/>
          <a:p>
            <a:pPr marL="0" indent="0" algn="l">
              <a:buNone/>
            </a:pPr>
            <a:r>
              <a:rPr lang="en-US" sz="1250" dirty="0">
                <a:solidFill>
                  <a:srgbClr val="1A1A2E"/>
                </a:solidFill>
                <a:latin typeface="Times New Roman" pitchFamily="34" charset="0"/>
                <a:ea typeface="Times New Roman" pitchFamily="34" charset="-122"/>
                <a:cs typeface="Times New Roman" pitchFamily="34" charset="-120"/>
              </a:rPr>
              <a:t>Fixed incorrect data types across columns</a:t>
            </a:r>
            <a:endParaRPr lang="en-US" sz="1250" dirty="0"/>
          </a:p>
        </p:txBody>
      </p:sp>
      <p:sp>
        <p:nvSpPr>
          <p:cNvPr id="14" name="Shape 12"/>
          <p:cNvSpPr/>
          <p:nvPr/>
        </p:nvSpPr>
        <p:spPr>
          <a:xfrm>
            <a:off x="347472" y="2505456"/>
            <a:ext cx="219456" cy="219456"/>
          </a:xfrm>
          <a:prstGeom prst="ellipse">
            <a:avLst/>
          </a:prstGeom>
          <a:solidFill>
            <a:srgbClr val="CB202D"/>
          </a:solidFill>
          <a:ln/>
        </p:spPr>
      </p:sp>
      <p:sp>
        <p:nvSpPr>
          <p:cNvPr id="15" name="Text 13"/>
          <p:cNvSpPr/>
          <p:nvPr/>
        </p:nvSpPr>
        <p:spPr>
          <a:xfrm>
            <a:off x="658368" y="2478024"/>
            <a:ext cx="3566160" cy="320040"/>
          </a:xfrm>
          <a:prstGeom prst="rect">
            <a:avLst/>
          </a:prstGeom>
          <a:noFill/>
          <a:ln/>
        </p:spPr>
        <p:txBody>
          <a:bodyPr wrap="square" lIns="0" tIns="0" rIns="0" bIns="0" rtlCol="0" anchor="ctr"/>
          <a:lstStyle/>
          <a:p>
            <a:pPr marL="0" indent="0" algn="l">
              <a:buNone/>
            </a:pPr>
            <a:r>
              <a:rPr lang="en-US" sz="1250" dirty="0">
                <a:solidFill>
                  <a:srgbClr val="1A1A2E"/>
                </a:solidFill>
                <a:latin typeface="Times New Roman" pitchFamily="34" charset="0"/>
                <a:ea typeface="Times New Roman" pitchFamily="34" charset="-122"/>
                <a:cs typeface="Times New Roman" pitchFamily="34" charset="-120"/>
              </a:rPr>
              <a:t>Standardized column naming conventions</a:t>
            </a:r>
            <a:endParaRPr lang="en-US" sz="1250" dirty="0"/>
          </a:p>
        </p:txBody>
      </p:sp>
      <p:sp>
        <p:nvSpPr>
          <p:cNvPr id="16" name="Shape 14"/>
          <p:cNvSpPr/>
          <p:nvPr/>
        </p:nvSpPr>
        <p:spPr>
          <a:xfrm>
            <a:off x="347472" y="2980944"/>
            <a:ext cx="219456" cy="219456"/>
          </a:xfrm>
          <a:prstGeom prst="ellipse">
            <a:avLst/>
          </a:prstGeom>
          <a:solidFill>
            <a:srgbClr val="CB202D"/>
          </a:solidFill>
          <a:ln/>
        </p:spPr>
      </p:sp>
      <p:sp>
        <p:nvSpPr>
          <p:cNvPr id="17" name="Text 15"/>
          <p:cNvSpPr/>
          <p:nvPr/>
        </p:nvSpPr>
        <p:spPr>
          <a:xfrm>
            <a:off x="658368" y="2953512"/>
            <a:ext cx="3566160" cy="320040"/>
          </a:xfrm>
          <a:prstGeom prst="rect">
            <a:avLst/>
          </a:prstGeom>
          <a:noFill/>
          <a:ln/>
        </p:spPr>
        <p:txBody>
          <a:bodyPr wrap="square" lIns="0" tIns="0" rIns="0" bIns="0" rtlCol="0" anchor="ctr"/>
          <a:lstStyle/>
          <a:p>
            <a:pPr marL="0" indent="0" algn="l">
              <a:buNone/>
            </a:pPr>
            <a:r>
              <a:rPr lang="en-US" sz="1250" dirty="0">
                <a:solidFill>
                  <a:srgbClr val="1A1A2E"/>
                </a:solidFill>
                <a:latin typeface="Times New Roman" pitchFamily="34" charset="0"/>
                <a:ea typeface="Times New Roman" pitchFamily="34" charset="-122"/>
                <a:cs typeface="Times New Roman" pitchFamily="34" charset="-120"/>
              </a:rPr>
              <a:t>Created Rating Bucket column (1–2, 2–3, 3–4, 4–5)</a:t>
            </a:r>
            <a:endParaRPr lang="en-US" sz="1250" dirty="0"/>
          </a:p>
        </p:txBody>
      </p:sp>
      <p:sp>
        <p:nvSpPr>
          <p:cNvPr id="18" name="Shape 16"/>
          <p:cNvSpPr/>
          <p:nvPr/>
        </p:nvSpPr>
        <p:spPr>
          <a:xfrm>
            <a:off x="347472" y="3456432"/>
            <a:ext cx="219456" cy="219456"/>
          </a:xfrm>
          <a:prstGeom prst="ellipse">
            <a:avLst/>
          </a:prstGeom>
          <a:solidFill>
            <a:srgbClr val="CB202D"/>
          </a:solidFill>
          <a:ln/>
        </p:spPr>
      </p:sp>
      <p:sp>
        <p:nvSpPr>
          <p:cNvPr id="19" name="Text 17"/>
          <p:cNvSpPr/>
          <p:nvPr/>
        </p:nvSpPr>
        <p:spPr>
          <a:xfrm>
            <a:off x="658368" y="3429000"/>
            <a:ext cx="3566160" cy="320040"/>
          </a:xfrm>
          <a:prstGeom prst="rect">
            <a:avLst/>
          </a:prstGeom>
          <a:noFill/>
          <a:ln/>
        </p:spPr>
        <p:txBody>
          <a:bodyPr wrap="square" lIns="0" tIns="0" rIns="0" bIns="0" rtlCol="0" anchor="ctr"/>
          <a:lstStyle/>
          <a:p>
            <a:pPr marL="0" indent="0" algn="l">
              <a:buNone/>
            </a:pPr>
            <a:r>
              <a:rPr lang="en-US" sz="1250" dirty="0">
                <a:solidFill>
                  <a:srgbClr val="1A1A2E"/>
                </a:solidFill>
                <a:latin typeface="Times New Roman" pitchFamily="34" charset="0"/>
                <a:ea typeface="Times New Roman" pitchFamily="34" charset="-122"/>
                <a:cs typeface="Times New Roman" pitchFamily="34" charset="-120"/>
              </a:rPr>
              <a:t>Created Price Bucket column (Low / Medium / High)</a:t>
            </a:r>
            <a:endParaRPr lang="en-US" sz="1250" dirty="0"/>
          </a:p>
        </p:txBody>
      </p:sp>
      <p:sp>
        <p:nvSpPr>
          <p:cNvPr id="20" name="Shape 18"/>
          <p:cNvSpPr/>
          <p:nvPr/>
        </p:nvSpPr>
        <p:spPr>
          <a:xfrm>
            <a:off x="4480560" y="621792"/>
            <a:ext cx="36576" cy="4023360"/>
          </a:xfrm>
          <a:prstGeom prst="rect">
            <a:avLst/>
          </a:prstGeom>
          <a:solidFill>
            <a:srgbClr val="E8C4C4"/>
          </a:solidFill>
          <a:ln/>
        </p:spPr>
      </p:sp>
      <p:sp>
        <p:nvSpPr>
          <p:cNvPr id="21" name="Text 19"/>
          <p:cNvSpPr/>
          <p:nvPr/>
        </p:nvSpPr>
        <p:spPr>
          <a:xfrm>
            <a:off x="4617720" y="621792"/>
            <a:ext cx="4160520" cy="347472"/>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Excel Dashboard Components</a:t>
            </a:r>
            <a:endParaRPr lang="en-US" sz="1500" dirty="0"/>
          </a:p>
        </p:txBody>
      </p:sp>
      <p:sp>
        <p:nvSpPr>
          <p:cNvPr id="22" name="Text 20"/>
          <p:cNvSpPr/>
          <p:nvPr/>
        </p:nvSpPr>
        <p:spPr>
          <a:xfrm>
            <a:off x="4617720" y="1069848"/>
            <a:ext cx="4114800" cy="27432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KPI Cards</a:t>
            </a:r>
            <a:endParaRPr lang="en-US" sz="1300" dirty="0"/>
          </a:p>
        </p:txBody>
      </p:sp>
      <p:sp>
        <p:nvSpPr>
          <p:cNvPr id="23" name="Shape 21"/>
          <p:cNvSpPr/>
          <p:nvPr/>
        </p:nvSpPr>
        <p:spPr>
          <a:xfrm>
            <a:off x="4617720" y="1389888"/>
            <a:ext cx="1920240" cy="292608"/>
          </a:xfrm>
          <a:prstGeom prst="rect">
            <a:avLst/>
          </a:prstGeom>
          <a:solidFill>
            <a:srgbClr val="FDF5F5"/>
          </a:solidFill>
          <a:ln/>
        </p:spPr>
      </p:sp>
      <p:sp>
        <p:nvSpPr>
          <p:cNvPr id="24" name="Shape 22"/>
          <p:cNvSpPr/>
          <p:nvPr/>
        </p:nvSpPr>
        <p:spPr>
          <a:xfrm>
            <a:off x="4617720" y="1389888"/>
            <a:ext cx="64008" cy="292608"/>
          </a:xfrm>
          <a:prstGeom prst="rect">
            <a:avLst/>
          </a:prstGeom>
          <a:solidFill>
            <a:srgbClr val="CB202D"/>
          </a:solidFill>
          <a:ln/>
        </p:spPr>
      </p:sp>
      <p:sp>
        <p:nvSpPr>
          <p:cNvPr id="25" name="Text 23"/>
          <p:cNvSpPr/>
          <p:nvPr/>
        </p:nvSpPr>
        <p:spPr>
          <a:xfrm>
            <a:off x="4727448" y="1389888"/>
            <a:ext cx="1783080" cy="292608"/>
          </a:xfrm>
          <a:prstGeom prst="rect">
            <a:avLst/>
          </a:prstGeom>
          <a:noFill/>
          <a:ln/>
        </p:spPr>
        <p:txBody>
          <a:bodyPr wrap="square" lIns="0" tIns="0" rIns="0" bIns="0" rtlCol="0" anchor="ctr"/>
          <a:lstStyle/>
          <a:p>
            <a:pPr marL="0" indent="0">
              <a:buNone/>
            </a:pPr>
            <a:r>
              <a:rPr lang="en-US" sz="1100" dirty="0">
                <a:solidFill>
                  <a:srgbClr val="1A1A2E"/>
                </a:solidFill>
                <a:latin typeface="Times New Roman" pitchFamily="34" charset="0"/>
                <a:ea typeface="Times New Roman" pitchFamily="34" charset="-122"/>
                <a:cs typeface="Times New Roman" pitchFamily="34" charset="-120"/>
              </a:rPr>
              <a:t>Total Restaurants: 9,551</a:t>
            </a:r>
            <a:endParaRPr lang="en-US" sz="1100" dirty="0"/>
          </a:p>
        </p:txBody>
      </p:sp>
      <p:sp>
        <p:nvSpPr>
          <p:cNvPr id="26" name="Shape 24"/>
          <p:cNvSpPr/>
          <p:nvPr/>
        </p:nvSpPr>
        <p:spPr>
          <a:xfrm>
            <a:off x="4617720" y="1737360"/>
            <a:ext cx="1920240" cy="292608"/>
          </a:xfrm>
          <a:prstGeom prst="rect">
            <a:avLst/>
          </a:prstGeom>
          <a:solidFill>
            <a:srgbClr val="FDF5F5"/>
          </a:solidFill>
          <a:ln/>
        </p:spPr>
      </p:sp>
      <p:sp>
        <p:nvSpPr>
          <p:cNvPr id="27" name="Shape 25"/>
          <p:cNvSpPr/>
          <p:nvPr/>
        </p:nvSpPr>
        <p:spPr>
          <a:xfrm>
            <a:off x="4617720" y="1737360"/>
            <a:ext cx="64008" cy="292608"/>
          </a:xfrm>
          <a:prstGeom prst="rect">
            <a:avLst/>
          </a:prstGeom>
          <a:solidFill>
            <a:srgbClr val="CB202D"/>
          </a:solidFill>
          <a:ln/>
        </p:spPr>
      </p:sp>
      <p:sp>
        <p:nvSpPr>
          <p:cNvPr id="28" name="Text 26"/>
          <p:cNvSpPr/>
          <p:nvPr/>
        </p:nvSpPr>
        <p:spPr>
          <a:xfrm>
            <a:off x="4727448" y="1737360"/>
            <a:ext cx="1783080" cy="292608"/>
          </a:xfrm>
          <a:prstGeom prst="rect">
            <a:avLst/>
          </a:prstGeom>
          <a:noFill/>
          <a:ln/>
        </p:spPr>
        <p:txBody>
          <a:bodyPr wrap="square" lIns="0" tIns="0" rIns="0" bIns="0" rtlCol="0" anchor="ctr"/>
          <a:lstStyle/>
          <a:p>
            <a:pPr marL="0" indent="0">
              <a:buNone/>
            </a:pPr>
            <a:r>
              <a:rPr lang="en-US" sz="1100" dirty="0">
                <a:solidFill>
                  <a:srgbClr val="1A1A2E"/>
                </a:solidFill>
                <a:latin typeface="Times New Roman" pitchFamily="34" charset="0"/>
                <a:ea typeface="Times New Roman" pitchFamily="34" charset="-122"/>
                <a:cs typeface="Times New Roman" pitchFamily="34" charset="-120"/>
              </a:rPr>
              <a:t>Average Rating: 2.89</a:t>
            </a:r>
            <a:endParaRPr lang="en-US" sz="1100" dirty="0"/>
          </a:p>
        </p:txBody>
      </p:sp>
      <p:sp>
        <p:nvSpPr>
          <p:cNvPr id="29" name="Shape 27"/>
          <p:cNvSpPr/>
          <p:nvPr/>
        </p:nvSpPr>
        <p:spPr>
          <a:xfrm>
            <a:off x="6675120" y="1389888"/>
            <a:ext cx="1920240" cy="292608"/>
          </a:xfrm>
          <a:prstGeom prst="rect">
            <a:avLst/>
          </a:prstGeom>
          <a:solidFill>
            <a:srgbClr val="FDF5F5"/>
          </a:solidFill>
          <a:ln/>
        </p:spPr>
      </p:sp>
      <p:sp>
        <p:nvSpPr>
          <p:cNvPr id="30" name="Shape 28"/>
          <p:cNvSpPr/>
          <p:nvPr/>
        </p:nvSpPr>
        <p:spPr>
          <a:xfrm>
            <a:off x="6675120" y="1389888"/>
            <a:ext cx="64008" cy="292608"/>
          </a:xfrm>
          <a:prstGeom prst="rect">
            <a:avLst/>
          </a:prstGeom>
          <a:solidFill>
            <a:srgbClr val="CB202D"/>
          </a:solidFill>
          <a:ln/>
        </p:spPr>
      </p:sp>
      <p:sp>
        <p:nvSpPr>
          <p:cNvPr id="31" name="Text 29"/>
          <p:cNvSpPr/>
          <p:nvPr/>
        </p:nvSpPr>
        <p:spPr>
          <a:xfrm>
            <a:off x="6784848" y="1389888"/>
            <a:ext cx="1783080" cy="292608"/>
          </a:xfrm>
          <a:prstGeom prst="rect">
            <a:avLst/>
          </a:prstGeom>
          <a:noFill/>
          <a:ln/>
        </p:spPr>
        <p:txBody>
          <a:bodyPr wrap="square" lIns="0" tIns="0" rIns="0" bIns="0" rtlCol="0" anchor="ctr"/>
          <a:lstStyle/>
          <a:p>
            <a:pPr marL="0" indent="0">
              <a:buNone/>
            </a:pPr>
            <a:r>
              <a:rPr lang="en-US" sz="1100" dirty="0">
                <a:solidFill>
                  <a:srgbClr val="1A1A2E"/>
                </a:solidFill>
                <a:latin typeface="Times New Roman" pitchFamily="34" charset="0"/>
                <a:ea typeface="Times New Roman" pitchFamily="34" charset="-122"/>
                <a:cs typeface="Times New Roman" pitchFamily="34" charset="-120"/>
              </a:rPr>
              <a:t>Online Delivery %: 12%</a:t>
            </a:r>
            <a:endParaRPr lang="en-US" sz="1100" dirty="0"/>
          </a:p>
        </p:txBody>
      </p:sp>
      <p:sp>
        <p:nvSpPr>
          <p:cNvPr id="32" name="Shape 30"/>
          <p:cNvSpPr/>
          <p:nvPr/>
        </p:nvSpPr>
        <p:spPr>
          <a:xfrm>
            <a:off x="6675120" y="1737360"/>
            <a:ext cx="1920240" cy="292608"/>
          </a:xfrm>
          <a:prstGeom prst="rect">
            <a:avLst/>
          </a:prstGeom>
          <a:solidFill>
            <a:srgbClr val="FDF5F5"/>
          </a:solidFill>
          <a:ln/>
        </p:spPr>
      </p:sp>
      <p:sp>
        <p:nvSpPr>
          <p:cNvPr id="33" name="Shape 31"/>
          <p:cNvSpPr/>
          <p:nvPr/>
        </p:nvSpPr>
        <p:spPr>
          <a:xfrm>
            <a:off x="6675120" y="1737360"/>
            <a:ext cx="64008" cy="292608"/>
          </a:xfrm>
          <a:prstGeom prst="rect">
            <a:avLst/>
          </a:prstGeom>
          <a:solidFill>
            <a:srgbClr val="CB202D"/>
          </a:solidFill>
          <a:ln/>
        </p:spPr>
      </p:sp>
      <p:sp>
        <p:nvSpPr>
          <p:cNvPr id="34" name="Text 32"/>
          <p:cNvSpPr/>
          <p:nvPr/>
        </p:nvSpPr>
        <p:spPr>
          <a:xfrm>
            <a:off x="6784848" y="1737360"/>
            <a:ext cx="1783080" cy="292608"/>
          </a:xfrm>
          <a:prstGeom prst="rect">
            <a:avLst/>
          </a:prstGeom>
          <a:noFill/>
          <a:ln/>
        </p:spPr>
        <p:txBody>
          <a:bodyPr wrap="square" lIns="0" tIns="0" rIns="0" bIns="0" rtlCol="0" anchor="ctr"/>
          <a:lstStyle/>
          <a:p>
            <a:pPr marL="0" indent="0">
              <a:buNone/>
            </a:pPr>
            <a:r>
              <a:rPr lang="en-US" sz="1100" dirty="0">
                <a:solidFill>
                  <a:srgbClr val="1A1A2E"/>
                </a:solidFill>
                <a:latin typeface="Times New Roman" pitchFamily="34" charset="0"/>
                <a:ea typeface="Times New Roman" pitchFamily="34" charset="-122"/>
                <a:cs typeface="Times New Roman" pitchFamily="34" charset="-120"/>
              </a:rPr>
              <a:t>Table Booking %: 26%</a:t>
            </a:r>
            <a:endParaRPr lang="en-US" sz="1100" dirty="0"/>
          </a:p>
        </p:txBody>
      </p:sp>
      <p:sp>
        <p:nvSpPr>
          <p:cNvPr id="35" name="Text 33"/>
          <p:cNvSpPr/>
          <p:nvPr/>
        </p:nvSpPr>
        <p:spPr>
          <a:xfrm>
            <a:off x="4617720" y="2176272"/>
            <a:ext cx="4114800" cy="27432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Charts &amp; Visuals</a:t>
            </a:r>
            <a:endParaRPr lang="en-US" sz="1300" dirty="0"/>
          </a:p>
        </p:txBody>
      </p:sp>
      <p:sp>
        <p:nvSpPr>
          <p:cNvPr id="36" name="Text 34"/>
          <p:cNvSpPr/>
          <p:nvPr/>
        </p:nvSpPr>
        <p:spPr>
          <a:xfrm>
            <a:off x="4617720" y="2487168"/>
            <a:ext cx="4160520" cy="310896"/>
          </a:xfrm>
          <a:prstGeom prst="rect">
            <a:avLst/>
          </a:prstGeom>
          <a:noFill/>
          <a:ln/>
        </p:spPr>
        <p:txBody>
          <a:bodyPr wrap="square" lIns="0" tIns="0" rIns="0" bIns="0" rtlCol="0" anchor="ctr"/>
          <a:lstStyle/>
          <a:p>
            <a:pPr marL="0" indent="0" algn="l">
              <a:buNone/>
            </a:pPr>
            <a:r>
              <a:rPr lang="en-US" sz="1200"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Country &amp; City-wise restaurant distribution</a:t>
            </a:r>
            <a:endParaRPr lang="en-US" sz="1200" dirty="0"/>
          </a:p>
        </p:txBody>
      </p:sp>
      <p:sp>
        <p:nvSpPr>
          <p:cNvPr id="37" name="Text 35"/>
          <p:cNvSpPr/>
          <p:nvPr/>
        </p:nvSpPr>
        <p:spPr>
          <a:xfrm>
            <a:off x="4617720" y="2834640"/>
            <a:ext cx="4160520" cy="310896"/>
          </a:xfrm>
          <a:prstGeom prst="rect">
            <a:avLst/>
          </a:prstGeom>
          <a:noFill/>
          <a:ln/>
        </p:spPr>
        <p:txBody>
          <a:bodyPr wrap="square" lIns="0" tIns="0" rIns="0" bIns="0" rtlCol="0" anchor="ctr"/>
          <a:lstStyle/>
          <a:p>
            <a:pPr marL="0" indent="0" algn="l">
              <a:buNone/>
            </a:pPr>
            <a:r>
              <a:rPr lang="en-US" sz="1200"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Top 10 Cuisines percentage</a:t>
            </a:r>
            <a:endParaRPr lang="en-US" sz="1200" dirty="0"/>
          </a:p>
        </p:txBody>
      </p:sp>
      <p:sp>
        <p:nvSpPr>
          <p:cNvPr id="38" name="Text 36"/>
          <p:cNvSpPr/>
          <p:nvPr/>
        </p:nvSpPr>
        <p:spPr>
          <a:xfrm>
            <a:off x="4617720" y="3182112"/>
            <a:ext cx="4160520" cy="310896"/>
          </a:xfrm>
          <a:prstGeom prst="rect">
            <a:avLst/>
          </a:prstGeom>
          <a:noFill/>
          <a:ln/>
        </p:spPr>
        <p:txBody>
          <a:bodyPr wrap="square" lIns="0" tIns="0" rIns="0" bIns="0" rtlCol="0" anchor="ctr"/>
          <a:lstStyle/>
          <a:p>
            <a:pPr marL="0" indent="0" algn="l">
              <a:buNone/>
            </a:pPr>
            <a:r>
              <a:rPr lang="en-US" sz="1200"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Rating distribution (column chart)</a:t>
            </a:r>
            <a:endParaRPr lang="en-US" sz="1200" dirty="0"/>
          </a:p>
        </p:txBody>
      </p:sp>
      <p:sp>
        <p:nvSpPr>
          <p:cNvPr id="39" name="Text 37"/>
          <p:cNvSpPr/>
          <p:nvPr/>
        </p:nvSpPr>
        <p:spPr>
          <a:xfrm>
            <a:off x="4617720" y="3529584"/>
            <a:ext cx="4160520" cy="310896"/>
          </a:xfrm>
          <a:prstGeom prst="rect">
            <a:avLst/>
          </a:prstGeom>
          <a:noFill/>
          <a:ln/>
        </p:spPr>
        <p:txBody>
          <a:bodyPr wrap="square" lIns="0" tIns="0" rIns="0" bIns="0" rtlCol="0" anchor="ctr"/>
          <a:lstStyle/>
          <a:p>
            <a:pPr marL="0" indent="0" algn="l">
              <a:buNone/>
            </a:pPr>
            <a:r>
              <a:rPr lang="en-US" sz="1200"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Restaurant openings trend (line chart)</a:t>
            </a:r>
            <a:endParaRPr lang="en-US" sz="1200" dirty="0"/>
          </a:p>
        </p:txBody>
      </p:sp>
      <p:sp>
        <p:nvSpPr>
          <p:cNvPr id="40" name="Text 38"/>
          <p:cNvSpPr/>
          <p:nvPr/>
        </p:nvSpPr>
        <p:spPr>
          <a:xfrm>
            <a:off x="4617720" y="3877056"/>
            <a:ext cx="4160520" cy="310896"/>
          </a:xfrm>
          <a:prstGeom prst="rect">
            <a:avLst/>
          </a:prstGeom>
          <a:noFill/>
          <a:ln/>
        </p:spPr>
        <p:txBody>
          <a:bodyPr wrap="square" lIns="0" tIns="0" rIns="0" bIns="0" rtlCol="0" anchor="ctr"/>
          <a:lstStyle/>
          <a:p>
            <a:pPr marL="0" indent="0" algn="l">
              <a:buNone/>
            </a:pPr>
            <a:r>
              <a:rPr lang="en-US" sz="1200"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Online delivery vs Table booking comparison</a:t>
            </a:r>
            <a:endParaRPr lang="en-US" sz="1200" dirty="0"/>
          </a:p>
        </p:txBody>
      </p:sp>
      <p:sp>
        <p:nvSpPr>
          <p:cNvPr id="41" name="Text 39"/>
          <p:cNvSpPr/>
          <p:nvPr/>
        </p:nvSpPr>
        <p:spPr>
          <a:xfrm>
            <a:off x="4617720" y="4224528"/>
            <a:ext cx="4160520" cy="310896"/>
          </a:xfrm>
          <a:prstGeom prst="rect">
            <a:avLst/>
          </a:prstGeom>
          <a:noFill/>
          <a:ln/>
        </p:spPr>
        <p:txBody>
          <a:bodyPr wrap="square" lIns="0" tIns="0" rIns="0" bIns="0" rtlCol="0" anchor="ctr"/>
          <a:lstStyle/>
          <a:p>
            <a:pPr marL="0" indent="0" algn="l">
              <a:buNone/>
            </a:pPr>
            <a:r>
              <a:rPr lang="en-US" sz="1200" dirty="0">
                <a:solidFill>
                  <a:srgbClr val="CB202D"/>
                </a:solidFill>
                <a:latin typeface="Times New Roman" pitchFamily="34" charset="0"/>
                <a:ea typeface="Times New Roman" pitchFamily="34" charset="-122"/>
                <a:cs typeface="Times New Roman" pitchFamily="34" charset="-120"/>
              </a:rPr>
              <a:t>◆  </a:t>
            </a:r>
            <a:r>
              <a:rPr lang="en-US" sz="1200" dirty="0">
                <a:solidFill>
                  <a:srgbClr val="1A1A2E"/>
                </a:solidFill>
                <a:latin typeface="Times New Roman" pitchFamily="34" charset="0"/>
                <a:ea typeface="Times New Roman" pitchFamily="34" charset="-122"/>
                <a:cs typeface="Times New Roman" pitchFamily="34" charset="-120"/>
              </a:rPr>
              <a:t>Price range distribution (bar chart)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B202D"/>
          </a:solidFill>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EXCEL DASHBOARD — ZOMATO ANALYSIS</a:t>
            </a:r>
            <a:endParaRPr lang="en-US" sz="2000" dirty="0"/>
          </a:p>
        </p:txBody>
      </p:sp>
      <p:sp>
        <p:nvSpPr>
          <p:cNvPr id="5" name="Shape 2"/>
          <p:cNvSpPr/>
          <p:nvPr/>
        </p:nvSpPr>
        <p:spPr>
          <a:xfrm>
            <a:off x="0" y="4846320"/>
            <a:ext cx="9144000" cy="297180"/>
          </a:xfrm>
          <a:prstGeom prst="rect">
            <a:avLst/>
          </a:prstGeom>
          <a:solidFill>
            <a:srgbClr val="8B0000"/>
          </a:solidFill>
          <a:ln/>
        </p:spPr>
      </p:sp>
      <p:sp>
        <p:nvSpPr>
          <p:cNvPr id="6" name="Text 3"/>
          <p:cNvSpPr/>
          <p:nvPr/>
        </p:nvSpPr>
        <p:spPr>
          <a:xfrm>
            <a:off x="274320" y="4855464"/>
            <a:ext cx="8595360" cy="274320"/>
          </a:xfrm>
          <a:prstGeom prst="rect">
            <a:avLst/>
          </a:prstGeom>
          <a:noFill/>
          <a:ln/>
        </p:spPr>
        <p:txBody>
          <a:bodyPr wrap="square" lIns="0" tIns="0" rIns="0" bIns="0" rtlCol="0" anchor="ctr"/>
          <a:lstStyle/>
          <a:p>
            <a:pPr marL="0" indent="0" algn="ctr">
              <a:buNone/>
            </a:pPr>
            <a:r>
              <a:rPr lang="en-US" sz="1000" i="1" dirty="0">
                <a:solidFill>
                  <a:srgbClr val="E8C4C4"/>
                </a:solidFill>
                <a:latin typeface="Times New Roman" pitchFamily="34" charset="0"/>
                <a:ea typeface="Times New Roman" pitchFamily="34" charset="-122"/>
                <a:cs typeface="Times New Roman" pitchFamily="34" charset="-120"/>
              </a:rPr>
              <a:t>Week 1 — Excel Dashboard  |  KPIs: Total Restaurants · Average Rating · Online Delivery % · Table Booking %</a:t>
            </a:r>
            <a:endParaRPr lang="en-US" sz="1000" dirty="0"/>
          </a:p>
        </p:txBody>
      </p:sp>
      <p:pic>
        <p:nvPicPr>
          <p:cNvPr id="7" name="Picture 6">
            <a:extLst>
              <a:ext uri="{FF2B5EF4-FFF2-40B4-BE49-F238E27FC236}">
                <a16:creationId xmlns:a16="http://schemas.microsoft.com/office/drawing/2014/main" id="{39B3D14E-E1D8-7D9F-5731-991BA8E7CFC6}"/>
              </a:ext>
            </a:extLst>
          </p:cNvPr>
          <p:cNvPicPr>
            <a:picLocks noChangeAspect="1"/>
          </p:cNvPicPr>
          <p:nvPr/>
        </p:nvPicPr>
        <p:blipFill>
          <a:blip r:embed="rId3"/>
          <a:stretch>
            <a:fillRect/>
          </a:stretch>
        </p:blipFill>
        <p:spPr>
          <a:xfrm>
            <a:off x="0" y="557784"/>
            <a:ext cx="9144000" cy="42999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WEEK 2 — SQL: DATA ANALYSIS</a:t>
            </a:r>
            <a:endParaRPr lang="en-US" sz="2200" dirty="0"/>
          </a:p>
        </p:txBody>
      </p:sp>
      <p:sp>
        <p:nvSpPr>
          <p:cNvPr id="7" name="Shape 5"/>
          <p:cNvSpPr/>
          <p:nvPr/>
        </p:nvSpPr>
        <p:spPr>
          <a:xfrm>
            <a:off x="347472" y="621792"/>
            <a:ext cx="2011680" cy="914400"/>
          </a:xfrm>
          <a:prstGeom prst="rect">
            <a:avLst/>
          </a:prstGeom>
          <a:solidFill>
            <a:srgbClr val="1A1A2E"/>
          </a:solidFill>
          <a:ln/>
          <a:effectLst>
            <a:outerShdw blurRad="63500" dist="25400" dir="8100000" algn="bl" rotWithShape="0">
              <a:srgbClr val="999999">
                <a:alpha val="20000"/>
              </a:srgbClr>
            </a:outerShdw>
          </a:effectLst>
        </p:spPr>
      </p:sp>
      <p:sp>
        <p:nvSpPr>
          <p:cNvPr id="8" name="Shape 6"/>
          <p:cNvSpPr/>
          <p:nvPr/>
        </p:nvSpPr>
        <p:spPr>
          <a:xfrm>
            <a:off x="347472" y="621792"/>
            <a:ext cx="2011680" cy="54864"/>
          </a:xfrm>
          <a:prstGeom prst="rect">
            <a:avLst/>
          </a:prstGeom>
          <a:solidFill>
            <a:srgbClr val="CB202D"/>
          </a:solidFill>
          <a:ln/>
        </p:spPr>
      </p:sp>
      <p:sp>
        <p:nvSpPr>
          <p:cNvPr id="9" name="Text 7"/>
          <p:cNvSpPr/>
          <p:nvPr/>
        </p:nvSpPr>
        <p:spPr>
          <a:xfrm>
            <a:off x="438912" y="685800"/>
            <a:ext cx="1828800" cy="347472"/>
          </a:xfrm>
          <a:prstGeom prst="rect">
            <a:avLst/>
          </a:prstGeom>
          <a:noFill/>
          <a:ln/>
        </p:spPr>
        <p:txBody>
          <a:bodyPr wrap="square" lIns="0" tIns="0" rIns="0" bIns="0" rtlCol="0" anchor="ctr"/>
          <a:lstStyle/>
          <a:p>
            <a:pPr marL="0" indent="0" algn="ctr">
              <a:buNone/>
            </a:pPr>
            <a:r>
              <a:rPr lang="en-US" sz="1400" b="1" dirty="0">
                <a:solidFill>
                  <a:srgbClr val="E8C4C4"/>
                </a:solidFill>
                <a:latin typeface="Times New Roman" pitchFamily="34" charset="0"/>
                <a:ea typeface="Times New Roman" pitchFamily="34" charset="-122"/>
                <a:cs typeface="Times New Roman" pitchFamily="34" charset="-120"/>
              </a:rPr>
              <a:t>GROUP BY</a:t>
            </a:r>
            <a:endParaRPr lang="en-US" sz="1400" dirty="0"/>
          </a:p>
        </p:txBody>
      </p:sp>
      <p:sp>
        <p:nvSpPr>
          <p:cNvPr id="10" name="Text 8"/>
          <p:cNvSpPr/>
          <p:nvPr/>
        </p:nvSpPr>
        <p:spPr>
          <a:xfrm>
            <a:off x="438912" y="1005840"/>
            <a:ext cx="182880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Aggregate by city, price, rating</a:t>
            </a:r>
            <a:endParaRPr lang="en-US" sz="1100" dirty="0"/>
          </a:p>
        </p:txBody>
      </p:sp>
      <p:sp>
        <p:nvSpPr>
          <p:cNvPr id="11" name="Shape 9"/>
          <p:cNvSpPr/>
          <p:nvPr/>
        </p:nvSpPr>
        <p:spPr>
          <a:xfrm>
            <a:off x="2523744" y="621792"/>
            <a:ext cx="2011680" cy="914400"/>
          </a:xfrm>
          <a:prstGeom prst="rect">
            <a:avLst/>
          </a:prstGeom>
          <a:solidFill>
            <a:srgbClr val="1A1A2E"/>
          </a:solidFill>
          <a:ln/>
          <a:effectLst>
            <a:outerShdw blurRad="63500" dist="25400" dir="8100000" algn="bl" rotWithShape="0">
              <a:srgbClr val="999999">
                <a:alpha val="20000"/>
              </a:srgbClr>
            </a:outerShdw>
          </a:effectLst>
        </p:spPr>
      </p:sp>
      <p:sp>
        <p:nvSpPr>
          <p:cNvPr id="12" name="Shape 10"/>
          <p:cNvSpPr/>
          <p:nvPr/>
        </p:nvSpPr>
        <p:spPr>
          <a:xfrm>
            <a:off x="2523744" y="621792"/>
            <a:ext cx="2011680" cy="54864"/>
          </a:xfrm>
          <a:prstGeom prst="rect">
            <a:avLst/>
          </a:prstGeom>
          <a:solidFill>
            <a:srgbClr val="CB202D"/>
          </a:solidFill>
          <a:ln/>
        </p:spPr>
      </p:sp>
      <p:sp>
        <p:nvSpPr>
          <p:cNvPr id="13" name="Text 11"/>
          <p:cNvSpPr/>
          <p:nvPr/>
        </p:nvSpPr>
        <p:spPr>
          <a:xfrm>
            <a:off x="2615184" y="685800"/>
            <a:ext cx="1828800" cy="347472"/>
          </a:xfrm>
          <a:prstGeom prst="rect">
            <a:avLst/>
          </a:prstGeom>
          <a:noFill/>
          <a:ln/>
        </p:spPr>
        <p:txBody>
          <a:bodyPr wrap="square" lIns="0" tIns="0" rIns="0" bIns="0" rtlCol="0" anchor="ctr"/>
          <a:lstStyle/>
          <a:p>
            <a:pPr marL="0" indent="0" algn="ctr">
              <a:buNone/>
            </a:pPr>
            <a:r>
              <a:rPr lang="en-US" sz="1400" b="1" dirty="0">
                <a:solidFill>
                  <a:srgbClr val="E8C4C4"/>
                </a:solidFill>
                <a:latin typeface="Times New Roman" pitchFamily="34" charset="0"/>
                <a:ea typeface="Times New Roman" pitchFamily="34" charset="-122"/>
                <a:cs typeface="Times New Roman" pitchFamily="34" charset="-120"/>
              </a:rPr>
              <a:t>CASE WHEN</a:t>
            </a:r>
            <a:endParaRPr lang="en-US" sz="1400" dirty="0"/>
          </a:p>
        </p:txBody>
      </p:sp>
      <p:sp>
        <p:nvSpPr>
          <p:cNvPr id="14" name="Text 12"/>
          <p:cNvSpPr/>
          <p:nvPr/>
        </p:nvSpPr>
        <p:spPr>
          <a:xfrm>
            <a:off x="2615184" y="1005840"/>
            <a:ext cx="182880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Bucket classification logic</a:t>
            </a:r>
            <a:endParaRPr lang="en-US" sz="1100" dirty="0"/>
          </a:p>
        </p:txBody>
      </p:sp>
      <p:sp>
        <p:nvSpPr>
          <p:cNvPr id="15" name="Shape 13"/>
          <p:cNvSpPr/>
          <p:nvPr/>
        </p:nvSpPr>
        <p:spPr>
          <a:xfrm>
            <a:off x="4700016" y="621792"/>
            <a:ext cx="2011680" cy="914400"/>
          </a:xfrm>
          <a:prstGeom prst="rect">
            <a:avLst/>
          </a:prstGeom>
          <a:solidFill>
            <a:srgbClr val="1A1A2E"/>
          </a:solidFill>
          <a:ln/>
          <a:effectLst>
            <a:outerShdw blurRad="63500" dist="25400" dir="8100000" algn="bl" rotWithShape="0">
              <a:srgbClr val="999999">
                <a:alpha val="20000"/>
              </a:srgbClr>
            </a:outerShdw>
          </a:effectLst>
        </p:spPr>
      </p:sp>
      <p:sp>
        <p:nvSpPr>
          <p:cNvPr id="16" name="Shape 14"/>
          <p:cNvSpPr/>
          <p:nvPr/>
        </p:nvSpPr>
        <p:spPr>
          <a:xfrm>
            <a:off x="4700016" y="621792"/>
            <a:ext cx="2011680" cy="54864"/>
          </a:xfrm>
          <a:prstGeom prst="rect">
            <a:avLst/>
          </a:prstGeom>
          <a:solidFill>
            <a:srgbClr val="CB202D"/>
          </a:solidFill>
          <a:ln/>
        </p:spPr>
      </p:sp>
      <p:sp>
        <p:nvSpPr>
          <p:cNvPr id="17" name="Text 15"/>
          <p:cNvSpPr/>
          <p:nvPr/>
        </p:nvSpPr>
        <p:spPr>
          <a:xfrm>
            <a:off x="4791456" y="685800"/>
            <a:ext cx="1828800" cy="347472"/>
          </a:xfrm>
          <a:prstGeom prst="rect">
            <a:avLst/>
          </a:prstGeom>
          <a:noFill/>
          <a:ln/>
        </p:spPr>
        <p:txBody>
          <a:bodyPr wrap="square" lIns="0" tIns="0" rIns="0" bIns="0" rtlCol="0" anchor="ctr"/>
          <a:lstStyle/>
          <a:p>
            <a:pPr marL="0" indent="0" algn="ctr">
              <a:buNone/>
            </a:pPr>
            <a:r>
              <a:rPr lang="en-US" sz="1400" b="1" dirty="0">
                <a:solidFill>
                  <a:srgbClr val="E8C4C4"/>
                </a:solidFill>
                <a:latin typeface="Times New Roman" pitchFamily="34" charset="0"/>
                <a:ea typeface="Times New Roman" pitchFamily="34" charset="-122"/>
                <a:cs typeface="Times New Roman" pitchFamily="34" charset="-120"/>
              </a:rPr>
              <a:t>COUNT / AVG</a:t>
            </a:r>
            <a:endParaRPr lang="en-US" sz="1400" dirty="0"/>
          </a:p>
        </p:txBody>
      </p:sp>
      <p:sp>
        <p:nvSpPr>
          <p:cNvPr id="18" name="Text 16"/>
          <p:cNvSpPr/>
          <p:nvPr/>
        </p:nvSpPr>
        <p:spPr>
          <a:xfrm>
            <a:off x="4791456" y="1005840"/>
            <a:ext cx="182880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Summary statistics computation</a:t>
            </a:r>
            <a:endParaRPr lang="en-US" sz="1100" dirty="0"/>
          </a:p>
        </p:txBody>
      </p:sp>
      <p:sp>
        <p:nvSpPr>
          <p:cNvPr id="19" name="Shape 17"/>
          <p:cNvSpPr/>
          <p:nvPr/>
        </p:nvSpPr>
        <p:spPr>
          <a:xfrm>
            <a:off x="6876288" y="621792"/>
            <a:ext cx="2011680" cy="914400"/>
          </a:xfrm>
          <a:prstGeom prst="rect">
            <a:avLst/>
          </a:prstGeom>
          <a:solidFill>
            <a:srgbClr val="1A1A2E"/>
          </a:solidFill>
          <a:ln/>
          <a:effectLst>
            <a:outerShdw blurRad="63500" dist="25400" dir="8100000" algn="bl" rotWithShape="0">
              <a:srgbClr val="999999">
                <a:alpha val="20000"/>
              </a:srgbClr>
            </a:outerShdw>
          </a:effectLst>
        </p:spPr>
      </p:sp>
      <p:sp>
        <p:nvSpPr>
          <p:cNvPr id="20" name="Shape 18"/>
          <p:cNvSpPr/>
          <p:nvPr/>
        </p:nvSpPr>
        <p:spPr>
          <a:xfrm>
            <a:off x="6876288" y="621792"/>
            <a:ext cx="2011680" cy="54864"/>
          </a:xfrm>
          <a:prstGeom prst="rect">
            <a:avLst/>
          </a:prstGeom>
          <a:solidFill>
            <a:srgbClr val="CB202D"/>
          </a:solidFill>
          <a:ln/>
        </p:spPr>
      </p:sp>
      <p:sp>
        <p:nvSpPr>
          <p:cNvPr id="21" name="Text 19"/>
          <p:cNvSpPr/>
          <p:nvPr/>
        </p:nvSpPr>
        <p:spPr>
          <a:xfrm>
            <a:off x="6967728" y="685800"/>
            <a:ext cx="1828800" cy="347472"/>
          </a:xfrm>
          <a:prstGeom prst="rect">
            <a:avLst/>
          </a:prstGeom>
          <a:noFill/>
          <a:ln/>
        </p:spPr>
        <p:txBody>
          <a:bodyPr wrap="square" lIns="0" tIns="0" rIns="0" bIns="0" rtlCol="0" anchor="ctr"/>
          <a:lstStyle/>
          <a:p>
            <a:pPr marL="0" indent="0" algn="ctr">
              <a:buNone/>
            </a:pPr>
            <a:r>
              <a:rPr lang="en-US" sz="1400" b="1" dirty="0">
                <a:solidFill>
                  <a:srgbClr val="E8C4C4"/>
                </a:solidFill>
                <a:latin typeface="Times New Roman" pitchFamily="34" charset="0"/>
                <a:ea typeface="Times New Roman" pitchFamily="34" charset="-122"/>
                <a:cs typeface="Times New Roman" pitchFamily="34" charset="-120"/>
              </a:rPr>
              <a:t>WHERE / HAVING</a:t>
            </a:r>
            <a:endParaRPr lang="en-US" sz="1400" dirty="0"/>
          </a:p>
        </p:txBody>
      </p:sp>
      <p:sp>
        <p:nvSpPr>
          <p:cNvPr id="22" name="Text 20"/>
          <p:cNvSpPr/>
          <p:nvPr/>
        </p:nvSpPr>
        <p:spPr>
          <a:xfrm>
            <a:off x="6967728" y="1005840"/>
            <a:ext cx="182880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Times New Roman" pitchFamily="34" charset="0"/>
                <a:ea typeface="Times New Roman" pitchFamily="34" charset="-122"/>
                <a:cs typeface="Times New Roman" pitchFamily="34" charset="-120"/>
              </a:rPr>
              <a:t>Conditional filtering</a:t>
            </a:r>
            <a:endParaRPr lang="en-US" sz="1100" dirty="0"/>
          </a:p>
        </p:txBody>
      </p:sp>
      <p:sp>
        <p:nvSpPr>
          <p:cNvPr id="23" name="Text 21"/>
          <p:cNvSpPr/>
          <p:nvPr/>
        </p:nvSpPr>
        <p:spPr>
          <a:xfrm>
            <a:off x="347472" y="1673352"/>
            <a:ext cx="8412480" cy="347472"/>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Analysis Performed via SQL Queries</a:t>
            </a:r>
            <a:endParaRPr lang="en-US" sz="1500" dirty="0"/>
          </a:p>
        </p:txBody>
      </p:sp>
      <p:sp>
        <p:nvSpPr>
          <p:cNvPr id="24" name="Shape 22"/>
          <p:cNvSpPr/>
          <p:nvPr/>
        </p:nvSpPr>
        <p:spPr>
          <a:xfrm>
            <a:off x="347472" y="2121408"/>
            <a:ext cx="4160520" cy="777240"/>
          </a:xfrm>
          <a:prstGeom prst="rect">
            <a:avLst/>
          </a:prstGeom>
          <a:solidFill>
            <a:srgbClr val="FDF5F5"/>
          </a:solidFill>
          <a:ln/>
          <a:effectLst>
            <a:outerShdw blurRad="50800" dist="12700" dir="8100000" algn="bl" rotWithShape="0">
              <a:srgbClr val="CCCCCC">
                <a:alpha val="20000"/>
              </a:srgbClr>
            </a:outerShdw>
          </a:effectLst>
        </p:spPr>
      </p:sp>
      <p:sp>
        <p:nvSpPr>
          <p:cNvPr id="25" name="Shape 23"/>
          <p:cNvSpPr/>
          <p:nvPr/>
        </p:nvSpPr>
        <p:spPr>
          <a:xfrm>
            <a:off x="347472" y="2121408"/>
            <a:ext cx="73152" cy="777240"/>
          </a:xfrm>
          <a:prstGeom prst="rect">
            <a:avLst/>
          </a:prstGeom>
          <a:solidFill>
            <a:srgbClr val="CB202D"/>
          </a:solidFill>
          <a:ln/>
        </p:spPr>
      </p:sp>
      <p:sp>
        <p:nvSpPr>
          <p:cNvPr id="26" name="Text 24"/>
          <p:cNvSpPr/>
          <p:nvPr/>
        </p:nvSpPr>
        <p:spPr>
          <a:xfrm>
            <a:off x="484632" y="2157984"/>
            <a:ext cx="3931920" cy="237744"/>
          </a:xfrm>
          <a:prstGeom prst="rect">
            <a:avLst/>
          </a:prstGeom>
          <a:noFill/>
          <a:ln/>
        </p:spPr>
        <p:txBody>
          <a:bodyPr wrap="square" lIns="0" tIns="0" rIns="0" bIns="0" rtlCol="0" anchor="ctr"/>
          <a:lstStyle/>
          <a:p>
            <a:pPr marL="0" indent="0">
              <a:buNone/>
            </a:pPr>
            <a:r>
              <a:rPr lang="en-US" sz="1200" b="1" dirty="0">
                <a:solidFill>
                  <a:srgbClr val="8B0000"/>
                </a:solidFill>
                <a:latin typeface="Times New Roman" pitchFamily="34" charset="0"/>
                <a:ea typeface="Times New Roman" pitchFamily="34" charset="-122"/>
                <a:cs typeface="Times New Roman" pitchFamily="34" charset="-120"/>
              </a:rPr>
              <a:t>Restaurant Count</a:t>
            </a:r>
            <a:endParaRPr lang="en-US" sz="1200" dirty="0"/>
          </a:p>
        </p:txBody>
      </p:sp>
      <p:sp>
        <p:nvSpPr>
          <p:cNvPr id="27" name="Text 25"/>
          <p:cNvSpPr/>
          <p:nvPr/>
        </p:nvSpPr>
        <p:spPr>
          <a:xfrm>
            <a:off x="484632" y="2386584"/>
            <a:ext cx="3931920" cy="457200"/>
          </a:xfrm>
          <a:prstGeom prst="rect">
            <a:avLst/>
          </a:prstGeom>
          <a:noFill/>
          <a:ln/>
        </p:spPr>
        <p:txBody>
          <a:bodyPr wrap="square" lIns="0" tIns="0" rIns="0" bIns="0" rtlCol="0" anchor="ctr"/>
          <a:lstStyle/>
          <a:p>
            <a:pPr marL="0" indent="0">
              <a:buNone/>
            </a:pPr>
            <a:r>
              <a:rPr lang="en-US" sz="950" dirty="0">
                <a:solidFill>
                  <a:srgbClr val="1A1A2E"/>
                </a:solidFill>
                <a:latin typeface="Courier New" pitchFamily="34" charset="0"/>
                <a:ea typeface="Courier New" pitchFamily="34" charset="-122"/>
                <a:cs typeface="Courier New" pitchFamily="34" charset="-120"/>
              </a:rPr>
              <a:t>SELECT COUNT(*) AS Total_Restaurants FROM zomato;</a:t>
            </a:r>
            <a:endParaRPr lang="en-US" sz="950" dirty="0"/>
          </a:p>
        </p:txBody>
      </p:sp>
      <p:sp>
        <p:nvSpPr>
          <p:cNvPr id="28" name="Shape 26"/>
          <p:cNvSpPr/>
          <p:nvPr/>
        </p:nvSpPr>
        <p:spPr>
          <a:xfrm>
            <a:off x="347472" y="2990088"/>
            <a:ext cx="4160520" cy="777240"/>
          </a:xfrm>
          <a:prstGeom prst="rect">
            <a:avLst/>
          </a:prstGeom>
          <a:solidFill>
            <a:srgbClr val="FDF5F5"/>
          </a:solidFill>
          <a:ln/>
          <a:effectLst>
            <a:outerShdw blurRad="50800" dist="12700" dir="8100000" algn="bl" rotWithShape="0">
              <a:srgbClr val="CCCCCC">
                <a:alpha val="20000"/>
              </a:srgbClr>
            </a:outerShdw>
          </a:effectLst>
        </p:spPr>
      </p:sp>
      <p:sp>
        <p:nvSpPr>
          <p:cNvPr id="29" name="Shape 27"/>
          <p:cNvSpPr/>
          <p:nvPr/>
        </p:nvSpPr>
        <p:spPr>
          <a:xfrm>
            <a:off x="347472" y="2990088"/>
            <a:ext cx="73152" cy="777240"/>
          </a:xfrm>
          <a:prstGeom prst="rect">
            <a:avLst/>
          </a:prstGeom>
          <a:solidFill>
            <a:srgbClr val="CB202D"/>
          </a:solidFill>
          <a:ln/>
        </p:spPr>
      </p:sp>
      <p:sp>
        <p:nvSpPr>
          <p:cNvPr id="30" name="Text 28"/>
          <p:cNvSpPr/>
          <p:nvPr/>
        </p:nvSpPr>
        <p:spPr>
          <a:xfrm>
            <a:off x="484632" y="3026664"/>
            <a:ext cx="3931920" cy="237744"/>
          </a:xfrm>
          <a:prstGeom prst="rect">
            <a:avLst/>
          </a:prstGeom>
          <a:noFill/>
          <a:ln/>
        </p:spPr>
        <p:txBody>
          <a:bodyPr wrap="square" lIns="0" tIns="0" rIns="0" bIns="0" rtlCol="0" anchor="ctr"/>
          <a:lstStyle/>
          <a:p>
            <a:pPr marL="0" indent="0">
              <a:buNone/>
            </a:pPr>
            <a:r>
              <a:rPr lang="en-US" sz="1200" b="1" dirty="0">
                <a:solidFill>
                  <a:srgbClr val="8B0000"/>
                </a:solidFill>
                <a:latin typeface="Times New Roman" pitchFamily="34" charset="0"/>
                <a:ea typeface="Times New Roman" pitchFamily="34" charset="-122"/>
                <a:cs typeface="Times New Roman" pitchFamily="34" charset="-120"/>
              </a:rPr>
              <a:t>City-wise Distribution</a:t>
            </a:r>
            <a:endParaRPr lang="en-US" sz="1200" dirty="0"/>
          </a:p>
        </p:txBody>
      </p:sp>
      <p:sp>
        <p:nvSpPr>
          <p:cNvPr id="31" name="Text 29"/>
          <p:cNvSpPr/>
          <p:nvPr/>
        </p:nvSpPr>
        <p:spPr>
          <a:xfrm>
            <a:off x="484632" y="3255264"/>
            <a:ext cx="3931920" cy="457200"/>
          </a:xfrm>
          <a:prstGeom prst="rect">
            <a:avLst/>
          </a:prstGeom>
          <a:noFill/>
          <a:ln/>
        </p:spPr>
        <p:txBody>
          <a:bodyPr wrap="square" lIns="0" tIns="0" rIns="0" bIns="0" rtlCol="0" anchor="ctr"/>
          <a:lstStyle/>
          <a:p>
            <a:pPr marL="0" indent="0">
              <a:buNone/>
            </a:pPr>
            <a:r>
              <a:rPr lang="en-US" sz="950" dirty="0">
                <a:solidFill>
                  <a:srgbClr val="1A1A2E"/>
                </a:solidFill>
                <a:latin typeface="Courier New" pitchFamily="34" charset="0"/>
                <a:ea typeface="Courier New" pitchFamily="34" charset="-122"/>
                <a:cs typeface="Courier New" pitchFamily="34" charset="-120"/>
              </a:rPr>
              <a:t>SELECT City, COUNT(*) AS Count</a:t>
            </a:r>
            <a:endParaRPr lang="en-US" sz="950" dirty="0"/>
          </a:p>
          <a:p>
            <a:pPr marL="0" indent="0">
              <a:buNone/>
            </a:pPr>
            <a:r>
              <a:rPr lang="en-US" sz="950" dirty="0">
                <a:solidFill>
                  <a:srgbClr val="1A1A2E"/>
                </a:solidFill>
                <a:latin typeface="Courier New" pitchFamily="34" charset="0"/>
                <a:ea typeface="Courier New" pitchFamily="34" charset="-122"/>
                <a:cs typeface="Courier New" pitchFamily="34" charset="-120"/>
              </a:rPr>
              <a:t>FROM zomato GROUP BY City ORDER BY Count DESC;</a:t>
            </a:r>
            <a:endParaRPr lang="en-US" sz="950" dirty="0"/>
          </a:p>
        </p:txBody>
      </p:sp>
      <p:sp>
        <p:nvSpPr>
          <p:cNvPr id="32" name="Shape 30"/>
          <p:cNvSpPr/>
          <p:nvPr/>
        </p:nvSpPr>
        <p:spPr>
          <a:xfrm>
            <a:off x="347472" y="3858768"/>
            <a:ext cx="4160520" cy="777240"/>
          </a:xfrm>
          <a:prstGeom prst="rect">
            <a:avLst/>
          </a:prstGeom>
          <a:solidFill>
            <a:srgbClr val="FDF5F5"/>
          </a:solidFill>
          <a:ln/>
          <a:effectLst>
            <a:outerShdw blurRad="50800" dist="12700" dir="8100000" algn="bl" rotWithShape="0">
              <a:srgbClr val="CCCCCC">
                <a:alpha val="20000"/>
              </a:srgbClr>
            </a:outerShdw>
          </a:effectLst>
        </p:spPr>
      </p:sp>
      <p:sp>
        <p:nvSpPr>
          <p:cNvPr id="33" name="Shape 31"/>
          <p:cNvSpPr/>
          <p:nvPr/>
        </p:nvSpPr>
        <p:spPr>
          <a:xfrm>
            <a:off x="347472" y="3858768"/>
            <a:ext cx="73152" cy="777240"/>
          </a:xfrm>
          <a:prstGeom prst="rect">
            <a:avLst/>
          </a:prstGeom>
          <a:solidFill>
            <a:srgbClr val="CB202D"/>
          </a:solidFill>
          <a:ln/>
        </p:spPr>
      </p:sp>
      <p:sp>
        <p:nvSpPr>
          <p:cNvPr id="34" name="Text 32"/>
          <p:cNvSpPr/>
          <p:nvPr/>
        </p:nvSpPr>
        <p:spPr>
          <a:xfrm>
            <a:off x="484632" y="3895344"/>
            <a:ext cx="3931920" cy="237744"/>
          </a:xfrm>
          <a:prstGeom prst="rect">
            <a:avLst/>
          </a:prstGeom>
          <a:noFill/>
          <a:ln/>
        </p:spPr>
        <p:txBody>
          <a:bodyPr wrap="square" lIns="0" tIns="0" rIns="0" bIns="0" rtlCol="0" anchor="ctr"/>
          <a:lstStyle/>
          <a:p>
            <a:pPr marL="0" indent="0">
              <a:buNone/>
            </a:pPr>
            <a:r>
              <a:rPr lang="en-US" sz="1200" b="1" dirty="0">
                <a:solidFill>
                  <a:srgbClr val="8B0000"/>
                </a:solidFill>
                <a:latin typeface="Times New Roman" pitchFamily="34" charset="0"/>
                <a:ea typeface="Times New Roman" pitchFamily="34" charset="-122"/>
                <a:cs typeface="Times New Roman" pitchFamily="34" charset="-120"/>
              </a:rPr>
              <a:t>Price Category Analysis</a:t>
            </a:r>
            <a:endParaRPr lang="en-US" sz="1200" dirty="0"/>
          </a:p>
        </p:txBody>
      </p:sp>
      <p:sp>
        <p:nvSpPr>
          <p:cNvPr id="35" name="Text 33"/>
          <p:cNvSpPr/>
          <p:nvPr/>
        </p:nvSpPr>
        <p:spPr>
          <a:xfrm>
            <a:off x="484632" y="4123944"/>
            <a:ext cx="3931920" cy="457200"/>
          </a:xfrm>
          <a:prstGeom prst="rect">
            <a:avLst/>
          </a:prstGeom>
          <a:noFill/>
          <a:ln/>
        </p:spPr>
        <p:txBody>
          <a:bodyPr wrap="square" lIns="0" tIns="0" rIns="0" bIns="0" rtlCol="0" anchor="ctr"/>
          <a:lstStyle/>
          <a:p>
            <a:pPr marL="0" indent="0">
              <a:buNone/>
            </a:pPr>
            <a:r>
              <a:rPr lang="en-US" sz="950" dirty="0">
                <a:solidFill>
                  <a:srgbClr val="1A1A2E"/>
                </a:solidFill>
                <a:latin typeface="Courier New" pitchFamily="34" charset="0"/>
                <a:ea typeface="Courier New" pitchFamily="34" charset="-122"/>
                <a:cs typeface="Courier New" pitchFamily="34" charset="-120"/>
              </a:rPr>
              <a:t>SELECT Price_Bucket, COUNT(*) AS Count</a:t>
            </a:r>
            <a:endParaRPr lang="en-US" sz="950" dirty="0"/>
          </a:p>
          <a:p>
            <a:pPr marL="0" indent="0">
              <a:buNone/>
            </a:pPr>
            <a:r>
              <a:rPr lang="en-US" sz="950" dirty="0">
                <a:solidFill>
                  <a:srgbClr val="1A1A2E"/>
                </a:solidFill>
                <a:latin typeface="Courier New" pitchFamily="34" charset="0"/>
                <a:ea typeface="Courier New" pitchFamily="34" charset="-122"/>
                <a:cs typeface="Courier New" pitchFamily="34" charset="-120"/>
              </a:rPr>
              <a:t>FROM zomato GROUP BY Price_Bucket;</a:t>
            </a:r>
            <a:endParaRPr lang="en-US" sz="950" dirty="0"/>
          </a:p>
        </p:txBody>
      </p:sp>
      <p:sp>
        <p:nvSpPr>
          <p:cNvPr id="36" name="Shape 34"/>
          <p:cNvSpPr/>
          <p:nvPr/>
        </p:nvSpPr>
        <p:spPr>
          <a:xfrm>
            <a:off x="4663440" y="2121408"/>
            <a:ext cx="4160520" cy="777240"/>
          </a:xfrm>
          <a:prstGeom prst="rect">
            <a:avLst/>
          </a:prstGeom>
          <a:solidFill>
            <a:srgbClr val="FDF5F5"/>
          </a:solidFill>
          <a:ln/>
          <a:effectLst>
            <a:outerShdw blurRad="50800" dist="12700" dir="8100000" algn="bl" rotWithShape="0">
              <a:srgbClr val="CCCCCC">
                <a:alpha val="20000"/>
              </a:srgbClr>
            </a:outerShdw>
          </a:effectLst>
        </p:spPr>
      </p:sp>
      <p:sp>
        <p:nvSpPr>
          <p:cNvPr id="37" name="Shape 35"/>
          <p:cNvSpPr/>
          <p:nvPr/>
        </p:nvSpPr>
        <p:spPr>
          <a:xfrm>
            <a:off x="4663440" y="2121408"/>
            <a:ext cx="73152" cy="777240"/>
          </a:xfrm>
          <a:prstGeom prst="rect">
            <a:avLst/>
          </a:prstGeom>
          <a:solidFill>
            <a:srgbClr val="CB202D"/>
          </a:solidFill>
          <a:ln/>
        </p:spPr>
      </p:sp>
      <p:sp>
        <p:nvSpPr>
          <p:cNvPr id="38" name="Text 36"/>
          <p:cNvSpPr/>
          <p:nvPr/>
        </p:nvSpPr>
        <p:spPr>
          <a:xfrm>
            <a:off x="4800600" y="2157984"/>
            <a:ext cx="3931920" cy="237744"/>
          </a:xfrm>
          <a:prstGeom prst="rect">
            <a:avLst/>
          </a:prstGeom>
          <a:noFill/>
          <a:ln/>
        </p:spPr>
        <p:txBody>
          <a:bodyPr wrap="square" lIns="0" tIns="0" rIns="0" bIns="0" rtlCol="0" anchor="ctr"/>
          <a:lstStyle/>
          <a:p>
            <a:pPr marL="0" indent="0">
              <a:buNone/>
            </a:pPr>
            <a:r>
              <a:rPr lang="en-US" sz="1200" b="1" dirty="0">
                <a:solidFill>
                  <a:srgbClr val="8B0000"/>
                </a:solidFill>
                <a:latin typeface="Times New Roman" pitchFamily="34" charset="0"/>
                <a:ea typeface="Times New Roman" pitchFamily="34" charset="-122"/>
                <a:cs typeface="Times New Roman" pitchFamily="34" charset="-120"/>
              </a:rPr>
              <a:t>Online Delivery %</a:t>
            </a:r>
            <a:endParaRPr lang="en-US" sz="1200" dirty="0"/>
          </a:p>
        </p:txBody>
      </p:sp>
      <p:sp>
        <p:nvSpPr>
          <p:cNvPr id="39" name="Text 37"/>
          <p:cNvSpPr/>
          <p:nvPr/>
        </p:nvSpPr>
        <p:spPr>
          <a:xfrm>
            <a:off x="4800600" y="2386584"/>
            <a:ext cx="3931920" cy="457200"/>
          </a:xfrm>
          <a:prstGeom prst="rect">
            <a:avLst/>
          </a:prstGeom>
          <a:noFill/>
          <a:ln/>
        </p:spPr>
        <p:txBody>
          <a:bodyPr wrap="square" lIns="0" tIns="0" rIns="0" bIns="0" rtlCol="0" anchor="ctr"/>
          <a:lstStyle/>
          <a:p>
            <a:pPr marL="0" indent="0">
              <a:buNone/>
            </a:pPr>
            <a:r>
              <a:rPr lang="en-US" sz="950" dirty="0">
                <a:solidFill>
                  <a:srgbClr val="1A1A2E"/>
                </a:solidFill>
                <a:latin typeface="Courier New" pitchFamily="34" charset="0"/>
                <a:ea typeface="Courier New" pitchFamily="34" charset="-122"/>
                <a:cs typeface="Courier New" pitchFamily="34" charset="-120"/>
              </a:rPr>
              <a:t>SELECT AVG(CASE WHEN Has_Online_delivery='Yes'</a:t>
            </a:r>
            <a:endParaRPr lang="en-US" sz="950" dirty="0"/>
          </a:p>
          <a:p>
            <a:pPr marL="0" indent="0">
              <a:buNone/>
            </a:pPr>
            <a:r>
              <a:rPr lang="en-US" sz="950" dirty="0">
                <a:solidFill>
                  <a:srgbClr val="1A1A2E"/>
                </a:solidFill>
                <a:latin typeface="Courier New" pitchFamily="34" charset="0"/>
                <a:ea typeface="Courier New" pitchFamily="34" charset="-122"/>
                <a:cs typeface="Courier New" pitchFamily="34" charset="-120"/>
              </a:rPr>
              <a:t>THEN 1 ELSE 0 END)*100 FROM zomato;</a:t>
            </a:r>
            <a:endParaRPr lang="en-US" sz="950" dirty="0"/>
          </a:p>
        </p:txBody>
      </p:sp>
      <p:sp>
        <p:nvSpPr>
          <p:cNvPr id="40" name="Shape 38"/>
          <p:cNvSpPr/>
          <p:nvPr/>
        </p:nvSpPr>
        <p:spPr>
          <a:xfrm>
            <a:off x="4663440" y="2990088"/>
            <a:ext cx="4160520" cy="777240"/>
          </a:xfrm>
          <a:prstGeom prst="rect">
            <a:avLst/>
          </a:prstGeom>
          <a:solidFill>
            <a:srgbClr val="FDF5F5"/>
          </a:solidFill>
          <a:ln/>
          <a:effectLst>
            <a:outerShdw blurRad="50800" dist="12700" dir="8100000" algn="bl" rotWithShape="0">
              <a:srgbClr val="CCCCCC">
                <a:alpha val="20000"/>
              </a:srgbClr>
            </a:outerShdw>
          </a:effectLst>
        </p:spPr>
      </p:sp>
      <p:sp>
        <p:nvSpPr>
          <p:cNvPr id="41" name="Shape 39"/>
          <p:cNvSpPr/>
          <p:nvPr/>
        </p:nvSpPr>
        <p:spPr>
          <a:xfrm>
            <a:off x="4663440" y="2990088"/>
            <a:ext cx="73152" cy="777240"/>
          </a:xfrm>
          <a:prstGeom prst="rect">
            <a:avLst/>
          </a:prstGeom>
          <a:solidFill>
            <a:srgbClr val="CB202D"/>
          </a:solidFill>
          <a:ln/>
        </p:spPr>
      </p:sp>
      <p:sp>
        <p:nvSpPr>
          <p:cNvPr id="42" name="Text 40"/>
          <p:cNvSpPr/>
          <p:nvPr/>
        </p:nvSpPr>
        <p:spPr>
          <a:xfrm>
            <a:off x="4800600" y="3026664"/>
            <a:ext cx="3931920" cy="237744"/>
          </a:xfrm>
          <a:prstGeom prst="rect">
            <a:avLst/>
          </a:prstGeom>
          <a:noFill/>
          <a:ln/>
        </p:spPr>
        <p:txBody>
          <a:bodyPr wrap="square" lIns="0" tIns="0" rIns="0" bIns="0" rtlCol="0" anchor="ctr"/>
          <a:lstStyle/>
          <a:p>
            <a:pPr marL="0" indent="0">
              <a:buNone/>
            </a:pPr>
            <a:r>
              <a:rPr lang="en-US" sz="1200" b="1" dirty="0">
                <a:solidFill>
                  <a:srgbClr val="8B0000"/>
                </a:solidFill>
                <a:latin typeface="Times New Roman" pitchFamily="34" charset="0"/>
                <a:ea typeface="Times New Roman" pitchFamily="34" charset="-122"/>
                <a:cs typeface="Times New Roman" pitchFamily="34" charset="-120"/>
              </a:rPr>
              <a:t>Rating Bucket Analysis</a:t>
            </a:r>
            <a:endParaRPr lang="en-US" sz="1200" dirty="0"/>
          </a:p>
        </p:txBody>
      </p:sp>
      <p:sp>
        <p:nvSpPr>
          <p:cNvPr id="43" name="Text 41"/>
          <p:cNvSpPr/>
          <p:nvPr/>
        </p:nvSpPr>
        <p:spPr>
          <a:xfrm>
            <a:off x="4800600" y="3255264"/>
            <a:ext cx="3931920" cy="457200"/>
          </a:xfrm>
          <a:prstGeom prst="rect">
            <a:avLst/>
          </a:prstGeom>
          <a:noFill/>
          <a:ln/>
        </p:spPr>
        <p:txBody>
          <a:bodyPr wrap="square" lIns="0" tIns="0" rIns="0" bIns="0" rtlCol="0" anchor="ctr"/>
          <a:lstStyle/>
          <a:p>
            <a:pPr marL="0" indent="0">
              <a:buNone/>
            </a:pPr>
            <a:r>
              <a:rPr lang="en-US" sz="950" dirty="0">
                <a:solidFill>
                  <a:srgbClr val="1A1A2E"/>
                </a:solidFill>
                <a:latin typeface="Courier New" pitchFamily="34" charset="0"/>
                <a:ea typeface="Courier New" pitchFamily="34" charset="-122"/>
                <a:cs typeface="Courier New" pitchFamily="34" charset="-120"/>
              </a:rPr>
              <a:t>SELECT Rating_Bucket, COUNT(*) AS Count</a:t>
            </a:r>
            <a:endParaRPr lang="en-US" sz="950" dirty="0"/>
          </a:p>
          <a:p>
            <a:pPr marL="0" indent="0">
              <a:buNone/>
            </a:pPr>
            <a:r>
              <a:rPr lang="en-US" sz="950" dirty="0">
                <a:solidFill>
                  <a:srgbClr val="1A1A2E"/>
                </a:solidFill>
                <a:latin typeface="Courier New" pitchFamily="34" charset="0"/>
                <a:ea typeface="Courier New" pitchFamily="34" charset="-122"/>
                <a:cs typeface="Courier New" pitchFamily="34" charset="-120"/>
              </a:rPr>
              <a:t>FROM zomato GROUP BY Rating_Bucket;</a:t>
            </a:r>
            <a:endParaRPr lang="en-US" sz="950" dirty="0"/>
          </a:p>
        </p:txBody>
      </p:sp>
      <p:sp>
        <p:nvSpPr>
          <p:cNvPr id="44" name="Shape 42"/>
          <p:cNvSpPr/>
          <p:nvPr/>
        </p:nvSpPr>
        <p:spPr>
          <a:xfrm>
            <a:off x="4663440" y="3858768"/>
            <a:ext cx="4160520" cy="777240"/>
          </a:xfrm>
          <a:prstGeom prst="rect">
            <a:avLst/>
          </a:prstGeom>
          <a:solidFill>
            <a:srgbClr val="FDF5F5"/>
          </a:solidFill>
          <a:ln/>
          <a:effectLst>
            <a:outerShdw blurRad="50800" dist="12700" dir="8100000" algn="bl" rotWithShape="0">
              <a:srgbClr val="CCCCCC">
                <a:alpha val="20000"/>
              </a:srgbClr>
            </a:outerShdw>
          </a:effectLst>
        </p:spPr>
      </p:sp>
      <p:sp>
        <p:nvSpPr>
          <p:cNvPr id="45" name="Shape 43"/>
          <p:cNvSpPr/>
          <p:nvPr/>
        </p:nvSpPr>
        <p:spPr>
          <a:xfrm>
            <a:off x="4663440" y="3858768"/>
            <a:ext cx="73152" cy="777240"/>
          </a:xfrm>
          <a:prstGeom prst="rect">
            <a:avLst/>
          </a:prstGeom>
          <a:solidFill>
            <a:srgbClr val="CB202D"/>
          </a:solidFill>
          <a:ln/>
        </p:spPr>
      </p:sp>
      <p:sp>
        <p:nvSpPr>
          <p:cNvPr id="46" name="Text 44"/>
          <p:cNvSpPr/>
          <p:nvPr/>
        </p:nvSpPr>
        <p:spPr>
          <a:xfrm>
            <a:off x="4800600" y="3895344"/>
            <a:ext cx="3931920" cy="237744"/>
          </a:xfrm>
          <a:prstGeom prst="rect">
            <a:avLst/>
          </a:prstGeom>
          <a:noFill/>
          <a:ln/>
        </p:spPr>
        <p:txBody>
          <a:bodyPr wrap="square" lIns="0" tIns="0" rIns="0" bIns="0" rtlCol="0" anchor="ctr"/>
          <a:lstStyle/>
          <a:p>
            <a:pPr marL="0" indent="0">
              <a:buNone/>
            </a:pPr>
            <a:r>
              <a:rPr lang="en-US" sz="1200" b="1" dirty="0">
                <a:solidFill>
                  <a:srgbClr val="8B0000"/>
                </a:solidFill>
                <a:latin typeface="Times New Roman" pitchFamily="34" charset="0"/>
                <a:ea typeface="Times New Roman" pitchFamily="34" charset="-122"/>
                <a:cs typeface="Times New Roman" pitchFamily="34" charset="-120"/>
              </a:rPr>
              <a:t>Table Booking %</a:t>
            </a:r>
            <a:endParaRPr lang="en-US" sz="1200" dirty="0"/>
          </a:p>
        </p:txBody>
      </p:sp>
      <p:sp>
        <p:nvSpPr>
          <p:cNvPr id="47" name="Text 45"/>
          <p:cNvSpPr/>
          <p:nvPr/>
        </p:nvSpPr>
        <p:spPr>
          <a:xfrm>
            <a:off x="4800600" y="4123944"/>
            <a:ext cx="3931920" cy="457200"/>
          </a:xfrm>
          <a:prstGeom prst="rect">
            <a:avLst/>
          </a:prstGeom>
          <a:noFill/>
          <a:ln/>
        </p:spPr>
        <p:txBody>
          <a:bodyPr wrap="square" lIns="0" tIns="0" rIns="0" bIns="0" rtlCol="0" anchor="ctr"/>
          <a:lstStyle/>
          <a:p>
            <a:pPr marL="0" indent="0">
              <a:buNone/>
            </a:pPr>
            <a:r>
              <a:rPr lang="en-US" sz="950" dirty="0">
                <a:solidFill>
                  <a:srgbClr val="1A1A2E"/>
                </a:solidFill>
                <a:latin typeface="Courier New" pitchFamily="34" charset="0"/>
                <a:ea typeface="Courier New" pitchFamily="34" charset="-122"/>
                <a:cs typeface="Courier New" pitchFamily="34" charset="-120"/>
              </a:rPr>
              <a:t>SELECT AVG(CASE WHEN Has_Table_booking='Yes'</a:t>
            </a:r>
            <a:endParaRPr lang="en-US" sz="950" dirty="0"/>
          </a:p>
          <a:p>
            <a:pPr marL="0" indent="0">
              <a:buNone/>
            </a:pPr>
            <a:r>
              <a:rPr lang="en-US" sz="950" dirty="0">
                <a:solidFill>
                  <a:srgbClr val="1A1A2E"/>
                </a:solidFill>
                <a:latin typeface="Courier New" pitchFamily="34" charset="0"/>
                <a:ea typeface="Courier New" pitchFamily="34" charset="-122"/>
                <a:cs typeface="Courier New" pitchFamily="34" charset="-120"/>
              </a:rPr>
              <a:t>THEN 1 ELSE 0 END)*100 FROM zomato;</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7961061-9332-5E6B-C5A5-CFFFF26B3182}"/>
              </a:ext>
            </a:extLst>
          </p:cNvPr>
          <p:cNvSpPr/>
          <p:nvPr/>
        </p:nvSpPr>
        <p:spPr>
          <a:xfrm>
            <a:off x="0" y="0"/>
            <a:ext cx="201168" cy="5143500"/>
          </a:xfrm>
          <a:prstGeom prst="rect">
            <a:avLst/>
          </a:prstGeom>
          <a:solidFill>
            <a:srgbClr val="CB202D"/>
          </a:solidFill>
          <a:ln/>
        </p:spPr>
      </p:sp>
      <p:sp>
        <p:nvSpPr>
          <p:cNvPr id="3" name="Shape 1">
            <a:extLst>
              <a:ext uri="{FF2B5EF4-FFF2-40B4-BE49-F238E27FC236}">
                <a16:creationId xmlns:a16="http://schemas.microsoft.com/office/drawing/2014/main" id="{2EB840C4-372A-0128-863B-337204B6553F}"/>
              </a:ext>
            </a:extLst>
          </p:cNvPr>
          <p:cNvSpPr/>
          <p:nvPr/>
        </p:nvSpPr>
        <p:spPr>
          <a:xfrm>
            <a:off x="0" y="0"/>
            <a:ext cx="9144000" cy="502920"/>
          </a:xfrm>
          <a:prstGeom prst="rect">
            <a:avLst/>
          </a:prstGeom>
          <a:solidFill>
            <a:srgbClr val="1A1A2E"/>
          </a:solidFill>
          <a:ln/>
        </p:spPr>
      </p:sp>
      <p:sp>
        <p:nvSpPr>
          <p:cNvPr id="4" name="Shape 2">
            <a:extLst>
              <a:ext uri="{FF2B5EF4-FFF2-40B4-BE49-F238E27FC236}">
                <a16:creationId xmlns:a16="http://schemas.microsoft.com/office/drawing/2014/main" id="{D38C432E-BDA5-3C9D-E0F2-9772E0B27A6A}"/>
              </a:ext>
            </a:extLst>
          </p:cNvPr>
          <p:cNvSpPr/>
          <p:nvPr/>
        </p:nvSpPr>
        <p:spPr>
          <a:xfrm>
            <a:off x="7772400" y="0"/>
            <a:ext cx="1371600" cy="502920"/>
          </a:xfrm>
          <a:prstGeom prst="rect">
            <a:avLst/>
          </a:prstGeom>
          <a:solidFill>
            <a:srgbClr val="CB202D"/>
          </a:solidFill>
          <a:ln/>
        </p:spPr>
      </p:sp>
      <p:sp>
        <p:nvSpPr>
          <p:cNvPr id="5" name="Shape 3">
            <a:extLst>
              <a:ext uri="{FF2B5EF4-FFF2-40B4-BE49-F238E27FC236}">
                <a16:creationId xmlns:a16="http://schemas.microsoft.com/office/drawing/2014/main" id="{4D963D8A-7B3D-7A1A-40AD-42695FDA3D9C}"/>
              </a:ext>
            </a:extLst>
          </p:cNvPr>
          <p:cNvSpPr/>
          <p:nvPr/>
        </p:nvSpPr>
        <p:spPr>
          <a:xfrm>
            <a:off x="0" y="4846320"/>
            <a:ext cx="9144000" cy="297180"/>
          </a:xfrm>
          <a:prstGeom prst="rect">
            <a:avLst/>
          </a:prstGeom>
          <a:solidFill>
            <a:srgbClr val="CB202D"/>
          </a:solidFill>
          <a:ln/>
        </p:spPr>
      </p:sp>
      <p:sp>
        <p:nvSpPr>
          <p:cNvPr id="6" name="Text 4">
            <a:extLst>
              <a:ext uri="{FF2B5EF4-FFF2-40B4-BE49-F238E27FC236}">
                <a16:creationId xmlns:a16="http://schemas.microsoft.com/office/drawing/2014/main" id="{1221A69D-EA8C-7559-A1C4-F62BD6D40CC5}"/>
              </a:ext>
            </a:extLst>
          </p:cNvPr>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SQL QUERIES IN ACTION — PART 1</a:t>
            </a:r>
            <a:endParaRPr lang="en-US" sz="2200" dirty="0"/>
          </a:p>
        </p:txBody>
      </p:sp>
      <p:sp>
        <p:nvSpPr>
          <p:cNvPr id="7" name="Shape 5">
            <a:extLst>
              <a:ext uri="{FF2B5EF4-FFF2-40B4-BE49-F238E27FC236}">
                <a16:creationId xmlns:a16="http://schemas.microsoft.com/office/drawing/2014/main" id="{FB8A8762-505B-9C80-8007-F5D45A4916E9}"/>
              </a:ext>
            </a:extLst>
          </p:cNvPr>
          <p:cNvSpPr/>
          <p:nvPr/>
        </p:nvSpPr>
        <p:spPr>
          <a:xfrm>
            <a:off x="347472" y="612648"/>
            <a:ext cx="3200400" cy="1965960"/>
          </a:xfrm>
          <a:prstGeom prst="rect">
            <a:avLst/>
          </a:prstGeom>
          <a:solidFill>
            <a:srgbClr val="1A1A2E"/>
          </a:solidFill>
          <a:ln/>
          <a:effectLst>
            <a:outerShdw blurRad="76200" dist="25400" dir="8100000" algn="bl" rotWithShape="0">
              <a:srgbClr val="000000">
                <a:alpha val="20000"/>
              </a:srgbClr>
            </a:outerShdw>
          </a:effectLst>
        </p:spPr>
      </p:sp>
      <p:sp>
        <p:nvSpPr>
          <p:cNvPr id="8" name="Shape 6">
            <a:extLst>
              <a:ext uri="{FF2B5EF4-FFF2-40B4-BE49-F238E27FC236}">
                <a16:creationId xmlns:a16="http://schemas.microsoft.com/office/drawing/2014/main" id="{89128F71-7D56-CEB6-62DD-666A3BD3BEB3}"/>
              </a:ext>
            </a:extLst>
          </p:cNvPr>
          <p:cNvSpPr/>
          <p:nvPr/>
        </p:nvSpPr>
        <p:spPr>
          <a:xfrm>
            <a:off x="347472" y="612648"/>
            <a:ext cx="3200400" cy="54864"/>
          </a:xfrm>
          <a:prstGeom prst="rect">
            <a:avLst/>
          </a:prstGeom>
          <a:solidFill>
            <a:srgbClr val="CB202D"/>
          </a:solidFill>
          <a:ln/>
        </p:spPr>
      </p:sp>
      <p:sp>
        <p:nvSpPr>
          <p:cNvPr id="9" name="Text 7">
            <a:extLst>
              <a:ext uri="{FF2B5EF4-FFF2-40B4-BE49-F238E27FC236}">
                <a16:creationId xmlns:a16="http://schemas.microsoft.com/office/drawing/2014/main" id="{260EC934-C9B6-3A6C-E1CD-D254D5AD8AA7}"/>
              </a:ext>
            </a:extLst>
          </p:cNvPr>
          <p:cNvSpPr/>
          <p:nvPr/>
        </p:nvSpPr>
        <p:spPr>
          <a:xfrm>
            <a:off x="457200" y="658368"/>
            <a:ext cx="2926080" cy="292608"/>
          </a:xfrm>
          <a:prstGeom prst="rect">
            <a:avLst/>
          </a:prstGeom>
          <a:noFill/>
          <a:ln/>
        </p:spPr>
        <p:txBody>
          <a:bodyPr wrap="square" lIns="0" tIns="0" rIns="0" bIns="0" rtlCol="0" anchor="ctr"/>
          <a:lstStyle/>
          <a:p>
            <a:pPr marL="0" indent="0">
              <a:buNone/>
            </a:pPr>
            <a:r>
              <a:rPr lang="en-US" sz="1200" b="1" dirty="0">
                <a:solidFill>
                  <a:srgbClr val="CB202D"/>
                </a:solidFill>
                <a:latin typeface="Times New Roman" pitchFamily="34" charset="0"/>
                <a:ea typeface="Times New Roman" pitchFamily="34" charset="-122"/>
                <a:cs typeface="Times New Roman" pitchFamily="34" charset="-120"/>
              </a:rPr>
              <a:t>Query 3</a:t>
            </a:r>
            <a:endParaRPr lang="en-US" sz="1200" dirty="0"/>
          </a:p>
        </p:txBody>
      </p:sp>
      <p:sp>
        <p:nvSpPr>
          <p:cNvPr id="10" name="Text 8">
            <a:extLst>
              <a:ext uri="{FF2B5EF4-FFF2-40B4-BE49-F238E27FC236}">
                <a16:creationId xmlns:a16="http://schemas.microsoft.com/office/drawing/2014/main" id="{2F807666-8330-3554-A7A9-8C2BA0064EDF}"/>
              </a:ext>
            </a:extLst>
          </p:cNvPr>
          <p:cNvSpPr/>
          <p:nvPr/>
        </p:nvSpPr>
        <p:spPr>
          <a:xfrm>
            <a:off x="457200" y="914400"/>
            <a:ext cx="2926080" cy="329184"/>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Restaurant Count by City &amp; Country</a:t>
            </a:r>
            <a:endParaRPr lang="en-US" sz="1300" dirty="0"/>
          </a:p>
        </p:txBody>
      </p:sp>
      <p:sp>
        <p:nvSpPr>
          <p:cNvPr id="11" name="Shape 9">
            <a:extLst>
              <a:ext uri="{FF2B5EF4-FFF2-40B4-BE49-F238E27FC236}">
                <a16:creationId xmlns:a16="http://schemas.microsoft.com/office/drawing/2014/main" id="{582F7760-A4C9-1213-4A30-0B4416AFB355}"/>
              </a:ext>
            </a:extLst>
          </p:cNvPr>
          <p:cNvSpPr/>
          <p:nvPr/>
        </p:nvSpPr>
        <p:spPr>
          <a:xfrm>
            <a:off x="502920" y="1261872"/>
            <a:ext cx="2907792" cy="36576"/>
          </a:xfrm>
          <a:prstGeom prst="rect">
            <a:avLst/>
          </a:prstGeom>
          <a:solidFill>
            <a:srgbClr val="E8C4C4"/>
          </a:solidFill>
          <a:ln/>
        </p:spPr>
      </p:sp>
      <p:sp>
        <p:nvSpPr>
          <p:cNvPr id="12" name="Text 10">
            <a:extLst>
              <a:ext uri="{FF2B5EF4-FFF2-40B4-BE49-F238E27FC236}">
                <a16:creationId xmlns:a16="http://schemas.microsoft.com/office/drawing/2014/main" id="{3DA7FA7A-31CA-4F4B-CAD7-F7902F891D8F}"/>
              </a:ext>
            </a:extLst>
          </p:cNvPr>
          <p:cNvSpPr/>
          <p:nvPr/>
        </p:nvSpPr>
        <p:spPr>
          <a:xfrm>
            <a:off x="457200" y="1335024"/>
            <a:ext cx="2926080" cy="256032"/>
          </a:xfrm>
          <a:prstGeom prst="rect">
            <a:avLst/>
          </a:prstGeom>
          <a:noFill/>
          <a:ln/>
        </p:spPr>
        <p:txBody>
          <a:bodyPr wrap="square" lIns="0" tIns="0" rIns="0" bIns="0" rtlCol="0" anchor="ctr"/>
          <a:lstStyle/>
          <a:p>
            <a:pPr marL="0" indent="0">
              <a:buNone/>
            </a:pPr>
            <a:r>
              <a:rPr lang="en-US" sz="1150" b="1" dirty="0">
                <a:solidFill>
                  <a:srgbClr val="E8C4C4"/>
                </a:solidFill>
                <a:latin typeface="Times New Roman" pitchFamily="34" charset="0"/>
                <a:ea typeface="Times New Roman" pitchFamily="34" charset="-122"/>
                <a:cs typeface="Times New Roman" pitchFamily="34" charset="-120"/>
              </a:rPr>
              <a:t>Concept: </a:t>
            </a:r>
            <a:r>
              <a:rPr lang="en-US" sz="1150" dirty="0">
                <a:solidFill>
                  <a:srgbClr val="FFFFFF"/>
                </a:solidFill>
                <a:latin typeface="Times New Roman" pitchFamily="34" charset="0"/>
                <a:ea typeface="Times New Roman" pitchFamily="34" charset="-122"/>
                <a:cs typeface="Times New Roman" pitchFamily="34" charset="-120"/>
              </a:rPr>
              <a:t>JOIN + GROUP BY</a:t>
            </a:r>
            <a:endParaRPr lang="en-US" sz="1150" dirty="0"/>
          </a:p>
        </p:txBody>
      </p:sp>
      <p:sp>
        <p:nvSpPr>
          <p:cNvPr id="13" name="Text 11">
            <a:extLst>
              <a:ext uri="{FF2B5EF4-FFF2-40B4-BE49-F238E27FC236}">
                <a16:creationId xmlns:a16="http://schemas.microsoft.com/office/drawing/2014/main" id="{D60355CB-668A-D5E1-FD26-423959AA5410}"/>
              </a:ext>
            </a:extLst>
          </p:cNvPr>
          <p:cNvSpPr/>
          <p:nvPr/>
        </p:nvSpPr>
        <p:spPr>
          <a:xfrm>
            <a:off x="457200" y="1609344"/>
            <a:ext cx="2926080" cy="658368"/>
          </a:xfrm>
          <a:prstGeom prst="rect">
            <a:avLst/>
          </a:prstGeom>
          <a:noFill/>
          <a:ln/>
        </p:spPr>
        <p:txBody>
          <a:bodyPr wrap="square" lIns="0" tIns="0" rIns="0" bIns="0" rtlCol="0" anchor="ctr"/>
          <a:lstStyle/>
          <a:p>
            <a:pPr marL="0" indent="0">
              <a:buNone/>
            </a:pPr>
            <a:r>
              <a:rPr lang="en-US" sz="1100" b="1" dirty="0">
                <a:solidFill>
                  <a:srgbClr val="E8C4C4"/>
                </a:solidFill>
                <a:latin typeface="Times New Roman" pitchFamily="34" charset="0"/>
                <a:ea typeface="Times New Roman" pitchFamily="34" charset="-122"/>
                <a:cs typeface="Times New Roman" pitchFamily="34" charset="-120"/>
              </a:rPr>
              <a:t>Result: </a:t>
            </a:r>
            <a:r>
              <a:rPr lang="en-US" sz="1100" dirty="0">
                <a:solidFill>
                  <a:srgbClr val="FFFFFF"/>
                </a:solidFill>
                <a:latin typeface="Times New Roman" pitchFamily="34" charset="0"/>
                <a:ea typeface="Times New Roman" pitchFamily="34" charset="-122"/>
                <a:cs typeface="Times New Roman" pitchFamily="34" charset="-120"/>
              </a:rPr>
              <a:t>New Delhi leads with 5,239 restaurants, followed by Gurgaon (1,070) and Noida (986).</a:t>
            </a:r>
            <a:endParaRPr lang="en-US" sz="1100" dirty="0"/>
          </a:p>
        </p:txBody>
      </p:sp>
      <p:sp>
        <p:nvSpPr>
          <p:cNvPr id="14" name="Shape 12">
            <a:extLst>
              <a:ext uri="{FF2B5EF4-FFF2-40B4-BE49-F238E27FC236}">
                <a16:creationId xmlns:a16="http://schemas.microsoft.com/office/drawing/2014/main" id="{5ACDAADB-9C26-D975-39BE-8E6B7AD6CA16}"/>
              </a:ext>
            </a:extLst>
          </p:cNvPr>
          <p:cNvSpPr/>
          <p:nvPr/>
        </p:nvSpPr>
        <p:spPr>
          <a:xfrm>
            <a:off x="3675888" y="612648"/>
            <a:ext cx="5102352" cy="1965960"/>
          </a:xfrm>
          <a:prstGeom prst="rect">
            <a:avLst/>
          </a:prstGeom>
          <a:solidFill>
            <a:srgbClr val="1E1E2E"/>
          </a:solidFill>
          <a:ln/>
        </p:spPr>
      </p:sp>
      <p:pic>
        <p:nvPicPr>
          <p:cNvPr id="15" name="Image 0" descr="preencoded.png">
            <a:extLst>
              <a:ext uri="{FF2B5EF4-FFF2-40B4-BE49-F238E27FC236}">
                <a16:creationId xmlns:a16="http://schemas.microsoft.com/office/drawing/2014/main" id="{3CD7CF07-BFD6-855E-230C-FAABD705D23F}"/>
              </a:ext>
            </a:extLst>
          </p:cNvPr>
          <p:cNvPicPr>
            <a:picLocks noChangeAspect="1"/>
          </p:cNvPicPr>
          <p:nvPr/>
        </p:nvPicPr>
        <p:blipFill>
          <a:blip r:embed="rId2"/>
          <a:srcRect/>
          <a:stretch/>
        </p:blipFill>
        <p:spPr>
          <a:xfrm>
            <a:off x="3730752" y="626012"/>
            <a:ext cx="5010912" cy="1901952"/>
          </a:xfrm>
          <a:prstGeom prst="rect">
            <a:avLst/>
          </a:prstGeom>
        </p:spPr>
      </p:pic>
      <p:sp>
        <p:nvSpPr>
          <p:cNvPr id="16" name="Shape 13">
            <a:extLst>
              <a:ext uri="{FF2B5EF4-FFF2-40B4-BE49-F238E27FC236}">
                <a16:creationId xmlns:a16="http://schemas.microsoft.com/office/drawing/2014/main" id="{4B9AEFCD-8C0D-8821-6EB4-A74D7CA8B3F8}"/>
              </a:ext>
            </a:extLst>
          </p:cNvPr>
          <p:cNvSpPr/>
          <p:nvPr/>
        </p:nvSpPr>
        <p:spPr>
          <a:xfrm>
            <a:off x="347472" y="2651760"/>
            <a:ext cx="8449056" cy="36576"/>
          </a:xfrm>
          <a:prstGeom prst="rect">
            <a:avLst/>
          </a:prstGeom>
          <a:solidFill>
            <a:srgbClr val="E8C4C4"/>
          </a:solidFill>
          <a:ln/>
        </p:spPr>
      </p:sp>
      <p:sp>
        <p:nvSpPr>
          <p:cNvPr id="17" name="Shape 14">
            <a:extLst>
              <a:ext uri="{FF2B5EF4-FFF2-40B4-BE49-F238E27FC236}">
                <a16:creationId xmlns:a16="http://schemas.microsoft.com/office/drawing/2014/main" id="{0087961C-A7F5-D850-AAAB-8EC689FC5841}"/>
              </a:ext>
            </a:extLst>
          </p:cNvPr>
          <p:cNvSpPr/>
          <p:nvPr/>
        </p:nvSpPr>
        <p:spPr>
          <a:xfrm>
            <a:off x="347472" y="2761488"/>
            <a:ext cx="3200400" cy="2029968"/>
          </a:xfrm>
          <a:prstGeom prst="rect">
            <a:avLst/>
          </a:prstGeom>
          <a:solidFill>
            <a:srgbClr val="CB202D"/>
          </a:solidFill>
          <a:ln/>
          <a:effectLst>
            <a:outerShdw blurRad="76200" dist="25400" dir="8100000" algn="bl" rotWithShape="0">
              <a:srgbClr val="000000">
                <a:alpha val="20000"/>
              </a:srgbClr>
            </a:outerShdw>
          </a:effectLst>
        </p:spPr>
      </p:sp>
      <p:sp>
        <p:nvSpPr>
          <p:cNvPr id="18" name="Shape 15">
            <a:extLst>
              <a:ext uri="{FF2B5EF4-FFF2-40B4-BE49-F238E27FC236}">
                <a16:creationId xmlns:a16="http://schemas.microsoft.com/office/drawing/2014/main" id="{1EEB3D62-09DB-FF69-264F-328D10A499A9}"/>
              </a:ext>
            </a:extLst>
          </p:cNvPr>
          <p:cNvSpPr/>
          <p:nvPr/>
        </p:nvSpPr>
        <p:spPr>
          <a:xfrm>
            <a:off x="347472" y="2761488"/>
            <a:ext cx="3200400" cy="54864"/>
          </a:xfrm>
          <a:prstGeom prst="rect">
            <a:avLst/>
          </a:prstGeom>
          <a:solidFill>
            <a:srgbClr val="8B0000"/>
          </a:solidFill>
          <a:ln/>
        </p:spPr>
      </p:sp>
      <p:sp>
        <p:nvSpPr>
          <p:cNvPr id="19" name="Text 16">
            <a:extLst>
              <a:ext uri="{FF2B5EF4-FFF2-40B4-BE49-F238E27FC236}">
                <a16:creationId xmlns:a16="http://schemas.microsoft.com/office/drawing/2014/main" id="{442655B8-A8E4-42EF-72B1-6763ACEB1A54}"/>
              </a:ext>
            </a:extLst>
          </p:cNvPr>
          <p:cNvSpPr/>
          <p:nvPr/>
        </p:nvSpPr>
        <p:spPr>
          <a:xfrm>
            <a:off x="457200" y="2807208"/>
            <a:ext cx="2926080" cy="29260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Query 5</a:t>
            </a:r>
            <a:endParaRPr lang="en-US" sz="1200" dirty="0"/>
          </a:p>
        </p:txBody>
      </p:sp>
      <p:sp>
        <p:nvSpPr>
          <p:cNvPr id="20" name="Text 17">
            <a:extLst>
              <a:ext uri="{FF2B5EF4-FFF2-40B4-BE49-F238E27FC236}">
                <a16:creationId xmlns:a16="http://schemas.microsoft.com/office/drawing/2014/main" id="{B44EDB62-9651-2558-C323-C29F6DD50551}"/>
              </a:ext>
            </a:extLst>
          </p:cNvPr>
          <p:cNvSpPr/>
          <p:nvPr/>
        </p:nvSpPr>
        <p:spPr>
          <a:xfrm>
            <a:off x="457200" y="3072384"/>
            <a:ext cx="2926080" cy="329184"/>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Count of Restaurants by Rating</a:t>
            </a:r>
            <a:endParaRPr lang="en-US" sz="1300" dirty="0"/>
          </a:p>
        </p:txBody>
      </p:sp>
      <p:sp>
        <p:nvSpPr>
          <p:cNvPr id="21" name="Shape 18">
            <a:extLst>
              <a:ext uri="{FF2B5EF4-FFF2-40B4-BE49-F238E27FC236}">
                <a16:creationId xmlns:a16="http://schemas.microsoft.com/office/drawing/2014/main" id="{F28AF732-8DEB-B203-DB76-DD4EEA9568DF}"/>
              </a:ext>
            </a:extLst>
          </p:cNvPr>
          <p:cNvSpPr/>
          <p:nvPr/>
        </p:nvSpPr>
        <p:spPr>
          <a:xfrm>
            <a:off x="502920" y="3419856"/>
            <a:ext cx="2907792" cy="36576"/>
          </a:xfrm>
          <a:prstGeom prst="rect">
            <a:avLst/>
          </a:prstGeom>
          <a:solidFill>
            <a:srgbClr val="FFFFFF"/>
          </a:solidFill>
          <a:ln/>
        </p:spPr>
      </p:sp>
      <p:sp>
        <p:nvSpPr>
          <p:cNvPr id="22" name="Text 19">
            <a:extLst>
              <a:ext uri="{FF2B5EF4-FFF2-40B4-BE49-F238E27FC236}">
                <a16:creationId xmlns:a16="http://schemas.microsoft.com/office/drawing/2014/main" id="{EA160F5C-A9FC-1D32-72CF-4E36B5150C9E}"/>
              </a:ext>
            </a:extLst>
          </p:cNvPr>
          <p:cNvSpPr/>
          <p:nvPr/>
        </p:nvSpPr>
        <p:spPr>
          <a:xfrm>
            <a:off x="457200" y="3493008"/>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Times New Roman" pitchFamily="34" charset="0"/>
                <a:ea typeface="Times New Roman" pitchFamily="34" charset="-122"/>
                <a:cs typeface="Times New Roman" pitchFamily="34" charset="-120"/>
              </a:rPr>
              <a:t>Concept: </a:t>
            </a:r>
            <a:r>
              <a:rPr lang="en-US" sz="1150" dirty="0">
                <a:solidFill>
                  <a:srgbClr val="E8C4C4"/>
                </a:solidFill>
                <a:latin typeface="Times New Roman" pitchFamily="34" charset="0"/>
                <a:ea typeface="Times New Roman" pitchFamily="34" charset="-122"/>
                <a:cs typeface="Times New Roman" pitchFamily="34" charset="-120"/>
              </a:rPr>
              <a:t>GROUP BY + ORDER BY DESC</a:t>
            </a:r>
            <a:endParaRPr lang="en-US" sz="1150" dirty="0"/>
          </a:p>
        </p:txBody>
      </p:sp>
      <p:sp>
        <p:nvSpPr>
          <p:cNvPr id="23" name="Text 20">
            <a:extLst>
              <a:ext uri="{FF2B5EF4-FFF2-40B4-BE49-F238E27FC236}">
                <a16:creationId xmlns:a16="http://schemas.microsoft.com/office/drawing/2014/main" id="{C1F52EE7-EF2A-DFBD-8A80-4F373A0142D8}"/>
              </a:ext>
            </a:extLst>
          </p:cNvPr>
          <p:cNvSpPr/>
          <p:nvPr/>
        </p:nvSpPr>
        <p:spPr>
          <a:xfrm>
            <a:off x="457200" y="3767328"/>
            <a:ext cx="2926080" cy="74980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Result: </a:t>
            </a:r>
            <a:r>
              <a:rPr lang="en-US" sz="1100" dirty="0">
                <a:solidFill>
                  <a:srgbClr val="E8C4C4"/>
                </a:solidFill>
                <a:latin typeface="Times New Roman" pitchFamily="34" charset="0"/>
                <a:ea typeface="Times New Roman" pitchFamily="34" charset="-122"/>
                <a:cs typeface="Times New Roman" pitchFamily="34" charset="-120"/>
              </a:rPr>
              <a:t>Rating 3 has the highest count (3,613), followed by Rating 4 (2,847) and Rating 1 (1,857). Most restaurants are mid-rated.</a:t>
            </a:r>
            <a:endParaRPr lang="en-US" sz="1100" dirty="0"/>
          </a:p>
        </p:txBody>
      </p:sp>
      <p:sp>
        <p:nvSpPr>
          <p:cNvPr id="24" name="Shape 21">
            <a:extLst>
              <a:ext uri="{FF2B5EF4-FFF2-40B4-BE49-F238E27FC236}">
                <a16:creationId xmlns:a16="http://schemas.microsoft.com/office/drawing/2014/main" id="{61133265-23CE-DA51-7F62-EB465CBF8436}"/>
              </a:ext>
            </a:extLst>
          </p:cNvPr>
          <p:cNvSpPr/>
          <p:nvPr/>
        </p:nvSpPr>
        <p:spPr>
          <a:xfrm>
            <a:off x="3675888" y="2761488"/>
            <a:ext cx="5102352" cy="2029968"/>
          </a:xfrm>
          <a:prstGeom prst="rect">
            <a:avLst/>
          </a:prstGeom>
          <a:solidFill>
            <a:srgbClr val="1E1E2E"/>
          </a:solidFill>
          <a:ln/>
        </p:spPr>
      </p:sp>
      <p:pic>
        <p:nvPicPr>
          <p:cNvPr id="25" name="Image 1" descr="preencoded.png">
            <a:extLst>
              <a:ext uri="{FF2B5EF4-FFF2-40B4-BE49-F238E27FC236}">
                <a16:creationId xmlns:a16="http://schemas.microsoft.com/office/drawing/2014/main" id="{749BCC16-A88A-0F04-FD35-F232ED64C2BF}"/>
              </a:ext>
            </a:extLst>
          </p:cNvPr>
          <p:cNvPicPr>
            <a:picLocks noChangeAspect="1"/>
          </p:cNvPicPr>
          <p:nvPr/>
        </p:nvPicPr>
        <p:blipFill>
          <a:blip r:embed="rId3"/>
          <a:srcRect/>
          <a:stretch/>
        </p:blipFill>
        <p:spPr>
          <a:xfrm>
            <a:off x="3730752" y="2798064"/>
            <a:ext cx="5010912" cy="1938528"/>
          </a:xfrm>
          <a:prstGeom prst="rect">
            <a:avLst/>
          </a:prstGeom>
        </p:spPr>
      </p:pic>
    </p:spTree>
    <p:extLst>
      <p:ext uri="{BB962C8B-B14F-4D97-AF65-F5344CB8AC3E}">
        <p14:creationId xmlns:p14="http://schemas.microsoft.com/office/powerpoint/2010/main" val="362909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1A0C4E-0974-98F9-40C0-C48694E6AF5E}"/>
              </a:ext>
            </a:extLst>
          </p:cNvPr>
          <p:cNvSpPr/>
          <p:nvPr/>
        </p:nvSpPr>
        <p:spPr>
          <a:xfrm>
            <a:off x="0" y="0"/>
            <a:ext cx="201168" cy="5143500"/>
          </a:xfrm>
          <a:prstGeom prst="rect">
            <a:avLst/>
          </a:prstGeom>
          <a:solidFill>
            <a:srgbClr val="CB202D"/>
          </a:solidFill>
          <a:ln/>
        </p:spPr>
      </p:sp>
      <p:sp>
        <p:nvSpPr>
          <p:cNvPr id="3" name="Shape 1">
            <a:extLst>
              <a:ext uri="{FF2B5EF4-FFF2-40B4-BE49-F238E27FC236}">
                <a16:creationId xmlns:a16="http://schemas.microsoft.com/office/drawing/2014/main" id="{00B34001-7771-70F4-FEDF-A25103834319}"/>
              </a:ext>
            </a:extLst>
          </p:cNvPr>
          <p:cNvSpPr/>
          <p:nvPr/>
        </p:nvSpPr>
        <p:spPr>
          <a:xfrm>
            <a:off x="0" y="0"/>
            <a:ext cx="9144000" cy="502920"/>
          </a:xfrm>
          <a:prstGeom prst="rect">
            <a:avLst/>
          </a:prstGeom>
          <a:solidFill>
            <a:srgbClr val="1A1A2E"/>
          </a:solidFill>
          <a:ln/>
        </p:spPr>
      </p:sp>
      <p:sp>
        <p:nvSpPr>
          <p:cNvPr id="4" name="Shape 2">
            <a:extLst>
              <a:ext uri="{FF2B5EF4-FFF2-40B4-BE49-F238E27FC236}">
                <a16:creationId xmlns:a16="http://schemas.microsoft.com/office/drawing/2014/main" id="{E5101FF5-D635-83FF-8A52-FA6B208F6DE5}"/>
              </a:ext>
            </a:extLst>
          </p:cNvPr>
          <p:cNvSpPr/>
          <p:nvPr/>
        </p:nvSpPr>
        <p:spPr>
          <a:xfrm>
            <a:off x="7772400" y="0"/>
            <a:ext cx="1371600" cy="502920"/>
          </a:xfrm>
          <a:prstGeom prst="rect">
            <a:avLst/>
          </a:prstGeom>
          <a:solidFill>
            <a:srgbClr val="CB202D"/>
          </a:solidFill>
          <a:ln/>
        </p:spPr>
      </p:sp>
      <p:sp>
        <p:nvSpPr>
          <p:cNvPr id="5" name="Shape 3">
            <a:extLst>
              <a:ext uri="{FF2B5EF4-FFF2-40B4-BE49-F238E27FC236}">
                <a16:creationId xmlns:a16="http://schemas.microsoft.com/office/drawing/2014/main" id="{FF18DF6E-62B3-E008-6252-DDF0C498CCFD}"/>
              </a:ext>
            </a:extLst>
          </p:cNvPr>
          <p:cNvSpPr/>
          <p:nvPr/>
        </p:nvSpPr>
        <p:spPr>
          <a:xfrm>
            <a:off x="0" y="4846320"/>
            <a:ext cx="9144000" cy="297180"/>
          </a:xfrm>
          <a:prstGeom prst="rect">
            <a:avLst/>
          </a:prstGeom>
          <a:solidFill>
            <a:srgbClr val="CB202D"/>
          </a:solidFill>
          <a:ln/>
        </p:spPr>
      </p:sp>
      <p:sp>
        <p:nvSpPr>
          <p:cNvPr id="6" name="Text 4">
            <a:extLst>
              <a:ext uri="{FF2B5EF4-FFF2-40B4-BE49-F238E27FC236}">
                <a16:creationId xmlns:a16="http://schemas.microsoft.com/office/drawing/2014/main" id="{1D88A4C9-1A5F-14DC-0753-1CD474E1BBB7}"/>
              </a:ext>
            </a:extLst>
          </p:cNvPr>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SQL QUERIES IN ACTION — PART 2</a:t>
            </a:r>
            <a:endParaRPr lang="en-US" sz="2200" dirty="0"/>
          </a:p>
        </p:txBody>
      </p:sp>
      <p:sp>
        <p:nvSpPr>
          <p:cNvPr id="7" name="Shape 5">
            <a:extLst>
              <a:ext uri="{FF2B5EF4-FFF2-40B4-BE49-F238E27FC236}">
                <a16:creationId xmlns:a16="http://schemas.microsoft.com/office/drawing/2014/main" id="{FFB80761-B2EC-79EB-5416-B2130B2A14FE}"/>
              </a:ext>
            </a:extLst>
          </p:cNvPr>
          <p:cNvSpPr/>
          <p:nvPr/>
        </p:nvSpPr>
        <p:spPr>
          <a:xfrm>
            <a:off x="347472" y="612648"/>
            <a:ext cx="3200400" cy="1965960"/>
          </a:xfrm>
          <a:prstGeom prst="rect">
            <a:avLst/>
          </a:prstGeom>
          <a:solidFill>
            <a:srgbClr val="1A1A2E"/>
          </a:solidFill>
          <a:ln/>
          <a:effectLst>
            <a:outerShdw blurRad="76200" dist="25400" dir="8100000" algn="bl" rotWithShape="0">
              <a:srgbClr val="000000">
                <a:alpha val="20000"/>
              </a:srgbClr>
            </a:outerShdw>
          </a:effectLst>
        </p:spPr>
      </p:sp>
      <p:sp>
        <p:nvSpPr>
          <p:cNvPr id="8" name="Shape 6">
            <a:extLst>
              <a:ext uri="{FF2B5EF4-FFF2-40B4-BE49-F238E27FC236}">
                <a16:creationId xmlns:a16="http://schemas.microsoft.com/office/drawing/2014/main" id="{97B02169-895C-B4D6-627B-12BF3ABB7C78}"/>
              </a:ext>
            </a:extLst>
          </p:cNvPr>
          <p:cNvSpPr/>
          <p:nvPr/>
        </p:nvSpPr>
        <p:spPr>
          <a:xfrm>
            <a:off x="347472" y="612648"/>
            <a:ext cx="3200400" cy="54864"/>
          </a:xfrm>
          <a:prstGeom prst="rect">
            <a:avLst/>
          </a:prstGeom>
          <a:solidFill>
            <a:srgbClr val="CB202D"/>
          </a:solidFill>
          <a:ln/>
        </p:spPr>
      </p:sp>
      <p:sp>
        <p:nvSpPr>
          <p:cNvPr id="9" name="Text 7">
            <a:extLst>
              <a:ext uri="{FF2B5EF4-FFF2-40B4-BE49-F238E27FC236}">
                <a16:creationId xmlns:a16="http://schemas.microsoft.com/office/drawing/2014/main" id="{E12C8414-04E0-16A5-C278-4124F38F0267}"/>
              </a:ext>
            </a:extLst>
          </p:cNvPr>
          <p:cNvSpPr/>
          <p:nvPr/>
        </p:nvSpPr>
        <p:spPr>
          <a:xfrm>
            <a:off x="457200" y="658368"/>
            <a:ext cx="2926080" cy="292608"/>
          </a:xfrm>
          <a:prstGeom prst="rect">
            <a:avLst/>
          </a:prstGeom>
          <a:noFill/>
          <a:ln/>
        </p:spPr>
        <p:txBody>
          <a:bodyPr wrap="square" lIns="0" tIns="0" rIns="0" bIns="0" rtlCol="0" anchor="ctr"/>
          <a:lstStyle/>
          <a:p>
            <a:pPr marL="0" indent="0">
              <a:buNone/>
            </a:pPr>
            <a:r>
              <a:rPr lang="en-US" sz="1200" b="1" dirty="0">
                <a:solidFill>
                  <a:srgbClr val="CB202D"/>
                </a:solidFill>
                <a:latin typeface="Times New Roman" pitchFamily="34" charset="0"/>
                <a:ea typeface="Times New Roman" pitchFamily="34" charset="-122"/>
                <a:cs typeface="Times New Roman" pitchFamily="34" charset="-120"/>
              </a:rPr>
              <a:t>Query 7</a:t>
            </a:r>
            <a:endParaRPr lang="en-US" sz="1200" dirty="0"/>
          </a:p>
        </p:txBody>
      </p:sp>
      <p:sp>
        <p:nvSpPr>
          <p:cNvPr id="10" name="Text 8">
            <a:extLst>
              <a:ext uri="{FF2B5EF4-FFF2-40B4-BE49-F238E27FC236}">
                <a16:creationId xmlns:a16="http://schemas.microsoft.com/office/drawing/2014/main" id="{1CABBE1F-93F4-1C39-60AB-EA421366BEC1}"/>
              </a:ext>
            </a:extLst>
          </p:cNvPr>
          <p:cNvSpPr/>
          <p:nvPr/>
        </p:nvSpPr>
        <p:spPr>
          <a:xfrm>
            <a:off x="457200" y="914400"/>
            <a:ext cx="2926080" cy="402336"/>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Percentage of Restaurants with Table Booking</a:t>
            </a:r>
            <a:endParaRPr lang="en-US" sz="1300" dirty="0"/>
          </a:p>
        </p:txBody>
      </p:sp>
      <p:sp>
        <p:nvSpPr>
          <p:cNvPr id="11" name="Shape 9">
            <a:extLst>
              <a:ext uri="{FF2B5EF4-FFF2-40B4-BE49-F238E27FC236}">
                <a16:creationId xmlns:a16="http://schemas.microsoft.com/office/drawing/2014/main" id="{B378D9F6-6F46-46DC-126F-16B4EA5832E3}"/>
              </a:ext>
            </a:extLst>
          </p:cNvPr>
          <p:cNvSpPr/>
          <p:nvPr/>
        </p:nvSpPr>
        <p:spPr>
          <a:xfrm>
            <a:off x="502920" y="1335024"/>
            <a:ext cx="2907792" cy="36576"/>
          </a:xfrm>
          <a:prstGeom prst="rect">
            <a:avLst/>
          </a:prstGeom>
          <a:solidFill>
            <a:srgbClr val="E8C4C4"/>
          </a:solidFill>
          <a:ln/>
        </p:spPr>
      </p:sp>
      <p:sp>
        <p:nvSpPr>
          <p:cNvPr id="12" name="Text 10">
            <a:extLst>
              <a:ext uri="{FF2B5EF4-FFF2-40B4-BE49-F238E27FC236}">
                <a16:creationId xmlns:a16="http://schemas.microsoft.com/office/drawing/2014/main" id="{C3B64FEE-0E82-ED93-4E7E-722F7B0D0A17}"/>
              </a:ext>
            </a:extLst>
          </p:cNvPr>
          <p:cNvSpPr/>
          <p:nvPr/>
        </p:nvSpPr>
        <p:spPr>
          <a:xfrm>
            <a:off x="457200" y="1408176"/>
            <a:ext cx="2926080" cy="256032"/>
          </a:xfrm>
          <a:prstGeom prst="rect">
            <a:avLst/>
          </a:prstGeom>
          <a:noFill/>
          <a:ln/>
        </p:spPr>
        <p:txBody>
          <a:bodyPr wrap="square" lIns="0" tIns="0" rIns="0" bIns="0" rtlCol="0" anchor="ctr"/>
          <a:lstStyle/>
          <a:p>
            <a:pPr marL="0" indent="0">
              <a:buNone/>
            </a:pPr>
            <a:r>
              <a:rPr lang="en-US" sz="1150" b="1" dirty="0">
                <a:solidFill>
                  <a:srgbClr val="E8C4C4"/>
                </a:solidFill>
                <a:latin typeface="Times New Roman" pitchFamily="34" charset="0"/>
                <a:ea typeface="Times New Roman" pitchFamily="34" charset="-122"/>
                <a:cs typeface="Times New Roman" pitchFamily="34" charset="-120"/>
              </a:rPr>
              <a:t>Concept: </a:t>
            </a:r>
            <a:r>
              <a:rPr lang="en-US" sz="1150" dirty="0">
                <a:solidFill>
                  <a:srgbClr val="FFFFFF"/>
                </a:solidFill>
                <a:latin typeface="Times New Roman" pitchFamily="34" charset="0"/>
                <a:ea typeface="Times New Roman" pitchFamily="34" charset="-122"/>
                <a:cs typeface="Times New Roman" pitchFamily="34" charset="-120"/>
              </a:rPr>
              <a:t>CONCAT + ROUND + Subquery</a:t>
            </a:r>
            <a:endParaRPr lang="en-US" sz="1150" dirty="0"/>
          </a:p>
        </p:txBody>
      </p:sp>
      <p:sp>
        <p:nvSpPr>
          <p:cNvPr id="13" name="Text 11">
            <a:extLst>
              <a:ext uri="{FF2B5EF4-FFF2-40B4-BE49-F238E27FC236}">
                <a16:creationId xmlns:a16="http://schemas.microsoft.com/office/drawing/2014/main" id="{067C0E9B-2756-4A87-E1E1-82CB1D4204B2}"/>
              </a:ext>
            </a:extLst>
          </p:cNvPr>
          <p:cNvSpPr/>
          <p:nvPr/>
        </p:nvSpPr>
        <p:spPr>
          <a:xfrm>
            <a:off x="457200" y="1682496"/>
            <a:ext cx="2926080" cy="658368"/>
          </a:xfrm>
          <a:prstGeom prst="rect">
            <a:avLst/>
          </a:prstGeom>
          <a:noFill/>
          <a:ln/>
        </p:spPr>
        <p:txBody>
          <a:bodyPr wrap="square" lIns="0" tIns="0" rIns="0" bIns="0" rtlCol="0" anchor="ctr"/>
          <a:lstStyle/>
          <a:p>
            <a:pPr marL="0" indent="0">
              <a:buNone/>
            </a:pPr>
            <a:r>
              <a:rPr lang="en-US" sz="1100" b="1" dirty="0">
                <a:solidFill>
                  <a:srgbClr val="E8C4C4"/>
                </a:solidFill>
                <a:latin typeface="Times New Roman" pitchFamily="34" charset="0"/>
                <a:ea typeface="Times New Roman" pitchFamily="34" charset="-122"/>
                <a:cs typeface="Times New Roman" pitchFamily="34" charset="-120"/>
              </a:rPr>
              <a:t>Result: </a:t>
            </a:r>
            <a:r>
              <a:rPr lang="en-US" sz="1100" dirty="0">
                <a:solidFill>
                  <a:srgbClr val="FFFFFF"/>
                </a:solidFill>
                <a:latin typeface="Times New Roman" pitchFamily="34" charset="0"/>
                <a:ea typeface="Times New Roman" pitchFamily="34" charset="-122"/>
                <a:cs typeface="Times New Roman" pitchFamily="34" charset="-120"/>
              </a:rPr>
              <a:t>Only 13.11% of restaurants offer table booking, while 86.89% do not — showing low adoption of advance reservations.</a:t>
            </a:r>
            <a:endParaRPr lang="en-US" sz="1100" dirty="0"/>
          </a:p>
        </p:txBody>
      </p:sp>
      <p:sp>
        <p:nvSpPr>
          <p:cNvPr id="14" name="Shape 12">
            <a:extLst>
              <a:ext uri="{FF2B5EF4-FFF2-40B4-BE49-F238E27FC236}">
                <a16:creationId xmlns:a16="http://schemas.microsoft.com/office/drawing/2014/main" id="{C1CB49D7-0F75-863E-9B90-C3AD2354E7B3}"/>
              </a:ext>
            </a:extLst>
          </p:cNvPr>
          <p:cNvSpPr/>
          <p:nvPr/>
        </p:nvSpPr>
        <p:spPr>
          <a:xfrm>
            <a:off x="3675888" y="612648"/>
            <a:ext cx="5102352" cy="1965960"/>
          </a:xfrm>
          <a:prstGeom prst="rect">
            <a:avLst/>
          </a:prstGeom>
          <a:solidFill>
            <a:srgbClr val="1E1E2E"/>
          </a:solidFill>
          <a:ln/>
        </p:spPr>
      </p:sp>
      <p:sp>
        <p:nvSpPr>
          <p:cNvPr id="16" name="Shape 13">
            <a:extLst>
              <a:ext uri="{FF2B5EF4-FFF2-40B4-BE49-F238E27FC236}">
                <a16:creationId xmlns:a16="http://schemas.microsoft.com/office/drawing/2014/main" id="{9B7DC7BF-FE69-B661-CC8D-98CA630615D0}"/>
              </a:ext>
            </a:extLst>
          </p:cNvPr>
          <p:cNvSpPr/>
          <p:nvPr/>
        </p:nvSpPr>
        <p:spPr>
          <a:xfrm>
            <a:off x="347472" y="2651760"/>
            <a:ext cx="8449056" cy="36576"/>
          </a:xfrm>
          <a:prstGeom prst="rect">
            <a:avLst/>
          </a:prstGeom>
          <a:solidFill>
            <a:srgbClr val="E8C4C4"/>
          </a:solidFill>
          <a:ln/>
        </p:spPr>
      </p:sp>
      <p:sp>
        <p:nvSpPr>
          <p:cNvPr id="17" name="Shape 14">
            <a:extLst>
              <a:ext uri="{FF2B5EF4-FFF2-40B4-BE49-F238E27FC236}">
                <a16:creationId xmlns:a16="http://schemas.microsoft.com/office/drawing/2014/main" id="{AC8549D1-88BD-59C4-7A3E-C68F2632A61B}"/>
              </a:ext>
            </a:extLst>
          </p:cNvPr>
          <p:cNvSpPr/>
          <p:nvPr/>
        </p:nvSpPr>
        <p:spPr>
          <a:xfrm>
            <a:off x="347472" y="2761488"/>
            <a:ext cx="3200400" cy="2029968"/>
          </a:xfrm>
          <a:prstGeom prst="rect">
            <a:avLst/>
          </a:prstGeom>
          <a:solidFill>
            <a:srgbClr val="CB202D"/>
          </a:solidFill>
          <a:ln/>
          <a:effectLst>
            <a:outerShdw blurRad="76200" dist="25400" dir="8100000" algn="bl" rotWithShape="0">
              <a:srgbClr val="000000">
                <a:alpha val="20000"/>
              </a:srgbClr>
            </a:outerShdw>
          </a:effectLst>
        </p:spPr>
      </p:sp>
      <p:sp>
        <p:nvSpPr>
          <p:cNvPr id="18" name="Shape 15">
            <a:extLst>
              <a:ext uri="{FF2B5EF4-FFF2-40B4-BE49-F238E27FC236}">
                <a16:creationId xmlns:a16="http://schemas.microsoft.com/office/drawing/2014/main" id="{AD9D827B-526E-9FE7-DF8C-8DA5D7489ED4}"/>
              </a:ext>
            </a:extLst>
          </p:cNvPr>
          <p:cNvSpPr/>
          <p:nvPr/>
        </p:nvSpPr>
        <p:spPr>
          <a:xfrm>
            <a:off x="347472" y="2761488"/>
            <a:ext cx="3200400" cy="54864"/>
          </a:xfrm>
          <a:prstGeom prst="rect">
            <a:avLst/>
          </a:prstGeom>
          <a:solidFill>
            <a:srgbClr val="8B0000"/>
          </a:solidFill>
          <a:ln/>
        </p:spPr>
      </p:sp>
      <p:sp>
        <p:nvSpPr>
          <p:cNvPr id="19" name="Text 16">
            <a:extLst>
              <a:ext uri="{FF2B5EF4-FFF2-40B4-BE49-F238E27FC236}">
                <a16:creationId xmlns:a16="http://schemas.microsoft.com/office/drawing/2014/main" id="{DBB3D4E4-AD84-FB9F-14B3-87C5C7E2C35B}"/>
              </a:ext>
            </a:extLst>
          </p:cNvPr>
          <p:cNvSpPr/>
          <p:nvPr/>
        </p:nvSpPr>
        <p:spPr>
          <a:xfrm>
            <a:off x="457200" y="2807208"/>
            <a:ext cx="2926080" cy="29260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Query 8</a:t>
            </a:r>
            <a:endParaRPr lang="en-US" sz="1200" dirty="0"/>
          </a:p>
        </p:txBody>
      </p:sp>
      <p:sp>
        <p:nvSpPr>
          <p:cNvPr id="20" name="Text 17">
            <a:extLst>
              <a:ext uri="{FF2B5EF4-FFF2-40B4-BE49-F238E27FC236}">
                <a16:creationId xmlns:a16="http://schemas.microsoft.com/office/drawing/2014/main" id="{60AAE310-8EBF-9B30-1FF0-DEF7909803B2}"/>
              </a:ext>
            </a:extLst>
          </p:cNvPr>
          <p:cNvSpPr/>
          <p:nvPr/>
        </p:nvSpPr>
        <p:spPr>
          <a:xfrm>
            <a:off x="457200" y="3072384"/>
            <a:ext cx="2926080" cy="402336"/>
          </a:xfrm>
          <a:prstGeom prst="rect">
            <a:avLst/>
          </a:prstGeom>
          <a:noFill/>
          <a:ln/>
        </p:spPr>
        <p:txBody>
          <a:bodyPr wrap="square" lIns="0" tIns="0" rIns="0" bIns="0" rtlCol="0" anchor="ctr"/>
          <a:lstStyle/>
          <a:p>
            <a:pPr marL="0" indent="0">
              <a:buNone/>
            </a:pPr>
            <a:r>
              <a:rPr lang="en-US" sz="1300" b="1" dirty="0">
                <a:solidFill>
                  <a:srgbClr val="FFFFFF"/>
                </a:solidFill>
                <a:latin typeface="Times New Roman" pitchFamily="34" charset="0"/>
                <a:ea typeface="Times New Roman" pitchFamily="34" charset="-122"/>
                <a:cs typeface="Times New Roman" pitchFamily="34" charset="-120"/>
              </a:rPr>
              <a:t>Percentage of Restaurants with Online Delivery</a:t>
            </a:r>
            <a:endParaRPr lang="en-US" sz="1300" dirty="0"/>
          </a:p>
        </p:txBody>
      </p:sp>
      <p:sp>
        <p:nvSpPr>
          <p:cNvPr id="21" name="Shape 18">
            <a:extLst>
              <a:ext uri="{FF2B5EF4-FFF2-40B4-BE49-F238E27FC236}">
                <a16:creationId xmlns:a16="http://schemas.microsoft.com/office/drawing/2014/main" id="{6998AF31-DF06-BEFE-D1FE-C7029E3C2673}"/>
              </a:ext>
            </a:extLst>
          </p:cNvPr>
          <p:cNvSpPr/>
          <p:nvPr/>
        </p:nvSpPr>
        <p:spPr>
          <a:xfrm>
            <a:off x="502920" y="3493008"/>
            <a:ext cx="2907792" cy="36576"/>
          </a:xfrm>
          <a:prstGeom prst="rect">
            <a:avLst/>
          </a:prstGeom>
          <a:solidFill>
            <a:srgbClr val="FFFFFF"/>
          </a:solidFill>
          <a:ln/>
        </p:spPr>
      </p:sp>
      <p:sp>
        <p:nvSpPr>
          <p:cNvPr id="22" name="Text 19">
            <a:extLst>
              <a:ext uri="{FF2B5EF4-FFF2-40B4-BE49-F238E27FC236}">
                <a16:creationId xmlns:a16="http://schemas.microsoft.com/office/drawing/2014/main" id="{26E3E6F2-64FC-C86D-F79A-FC6D2B17E58C}"/>
              </a:ext>
            </a:extLst>
          </p:cNvPr>
          <p:cNvSpPr/>
          <p:nvPr/>
        </p:nvSpPr>
        <p:spPr>
          <a:xfrm>
            <a:off x="457200" y="3566160"/>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Times New Roman" pitchFamily="34" charset="0"/>
                <a:ea typeface="Times New Roman" pitchFamily="34" charset="-122"/>
                <a:cs typeface="Times New Roman" pitchFamily="34" charset="-120"/>
              </a:rPr>
              <a:t>Concept: </a:t>
            </a:r>
            <a:r>
              <a:rPr lang="en-US" sz="1150" dirty="0">
                <a:solidFill>
                  <a:srgbClr val="E8C4C4"/>
                </a:solidFill>
                <a:latin typeface="Times New Roman" pitchFamily="34" charset="0"/>
                <a:ea typeface="Times New Roman" pitchFamily="34" charset="-122"/>
                <a:cs typeface="Times New Roman" pitchFamily="34" charset="-120"/>
              </a:rPr>
              <a:t>COUNT(*) + Subquery + GROUP BY</a:t>
            </a:r>
            <a:endParaRPr lang="en-US" sz="1150" dirty="0"/>
          </a:p>
        </p:txBody>
      </p:sp>
      <p:sp>
        <p:nvSpPr>
          <p:cNvPr id="23" name="Text 20">
            <a:extLst>
              <a:ext uri="{FF2B5EF4-FFF2-40B4-BE49-F238E27FC236}">
                <a16:creationId xmlns:a16="http://schemas.microsoft.com/office/drawing/2014/main" id="{F6D0A606-9F52-F088-D002-C19636EF623D}"/>
              </a:ext>
            </a:extLst>
          </p:cNvPr>
          <p:cNvSpPr/>
          <p:nvPr/>
        </p:nvSpPr>
        <p:spPr>
          <a:xfrm>
            <a:off x="457200" y="3840480"/>
            <a:ext cx="2926080" cy="749808"/>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Result</a:t>
            </a:r>
            <a:r>
              <a:rPr lang="en-US" sz="1100" b="1">
                <a:solidFill>
                  <a:srgbClr val="FFFFFF"/>
                </a:solidFill>
                <a:latin typeface="Times New Roman" pitchFamily="34" charset="0"/>
                <a:ea typeface="Times New Roman" pitchFamily="34" charset="-122"/>
                <a:cs typeface="Times New Roman" pitchFamily="34" charset="-120"/>
              </a:rPr>
              <a:t>: </a:t>
            </a:r>
            <a:r>
              <a:rPr lang="en-US" sz="1100">
                <a:solidFill>
                  <a:srgbClr val="E8C4C4"/>
                </a:solidFill>
                <a:latin typeface="Times New Roman" pitchFamily="34" charset="0"/>
                <a:ea typeface="Times New Roman" pitchFamily="34" charset="-122"/>
                <a:cs typeface="Times New Roman" pitchFamily="34" charset="-120"/>
              </a:rPr>
              <a:t>28.00</a:t>
            </a:r>
            <a:r>
              <a:rPr lang="en-US" sz="1100" dirty="0">
                <a:solidFill>
                  <a:srgbClr val="E8C4C4"/>
                </a:solidFill>
                <a:latin typeface="Times New Roman" pitchFamily="34" charset="0"/>
                <a:ea typeface="Times New Roman" pitchFamily="34" charset="-122"/>
                <a:cs typeface="Times New Roman" pitchFamily="34" charset="-120"/>
              </a:rPr>
              <a:t>% of restaurants offer online delivery while 71.92% do not. This confirms that home delivery is still the minority service offering.</a:t>
            </a:r>
            <a:endParaRPr lang="en-US" sz="1100" dirty="0"/>
          </a:p>
        </p:txBody>
      </p:sp>
      <p:sp>
        <p:nvSpPr>
          <p:cNvPr id="24" name="Shape 21">
            <a:extLst>
              <a:ext uri="{FF2B5EF4-FFF2-40B4-BE49-F238E27FC236}">
                <a16:creationId xmlns:a16="http://schemas.microsoft.com/office/drawing/2014/main" id="{745700B2-7313-5B78-6DD0-6D161717F980}"/>
              </a:ext>
            </a:extLst>
          </p:cNvPr>
          <p:cNvSpPr/>
          <p:nvPr/>
        </p:nvSpPr>
        <p:spPr>
          <a:xfrm>
            <a:off x="3675888" y="2761488"/>
            <a:ext cx="5102352" cy="2029968"/>
          </a:xfrm>
          <a:prstGeom prst="rect">
            <a:avLst/>
          </a:prstGeom>
          <a:solidFill>
            <a:srgbClr val="1E1E2E"/>
          </a:solidFill>
          <a:ln/>
        </p:spPr>
      </p:sp>
      <p:pic>
        <p:nvPicPr>
          <p:cNvPr id="25" name="Image 1" descr="preencoded.png">
            <a:extLst>
              <a:ext uri="{FF2B5EF4-FFF2-40B4-BE49-F238E27FC236}">
                <a16:creationId xmlns:a16="http://schemas.microsoft.com/office/drawing/2014/main" id="{E61F6808-4F84-5395-941C-694A918F311E}"/>
              </a:ext>
            </a:extLst>
          </p:cNvPr>
          <p:cNvPicPr>
            <a:picLocks noChangeAspect="1"/>
          </p:cNvPicPr>
          <p:nvPr/>
        </p:nvPicPr>
        <p:blipFill>
          <a:blip r:embed="rId2"/>
          <a:srcRect/>
          <a:stretch/>
        </p:blipFill>
        <p:spPr>
          <a:xfrm>
            <a:off x="3730752" y="2798064"/>
            <a:ext cx="5010912" cy="1938528"/>
          </a:xfrm>
          <a:prstGeom prst="rect">
            <a:avLst/>
          </a:prstGeom>
        </p:spPr>
      </p:pic>
      <p:pic>
        <p:nvPicPr>
          <p:cNvPr id="27" name="Picture 26">
            <a:extLst>
              <a:ext uri="{FF2B5EF4-FFF2-40B4-BE49-F238E27FC236}">
                <a16:creationId xmlns:a16="http://schemas.microsoft.com/office/drawing/2014/main" id="{1F12CC33-9BC0-874D-CDC7-C1DEF3A44B1A}"/>
              </a:ext>
            </a:extLst>
          </p:cNvPr>
          <p:cNvPicPr>
            <a:picLocks noChangeAspect="1"/>
          </p:cNvPicPr>
          <p:nvPr/>
        </p:nvPicPr>
        <p:blipFill>
          <a:blip r:embed="rId3"/>
          <a:stretch>
            <a:fillRect/>
          </a:stretch>
        </p:blipFill>
        <p:spPr>
          <a:xfrm>
            <a:off x="3730753" y="2798064"/>
            <a:ext cx="5001768" cy="1938528"/>
          </a:xfrm>
          <a:prstGeom prst="rect">
            <a:avLst/>
          </a:prstGeom>
        </p:spPr>
      </p:pic>
      <p:pic>
        <p:nvPicPr>
          <p:cNvPr id="29" name="Picture 28">
            <a:extLst>
              <a:ext uri="{FF2B5EF4-FFF2-40B4-BE49-F238E27FC236}">
                <a16:creationId xmlns:a16="http://schemas.microsoft.com/office/drawing/2014/main" id="{01682B83-1C69-7BF3-2850-55D5DC68AE24}"/>
              </a:ext>
            </a:extLst>
          </p:cNvPr>
          <p:cNvPicPr>
            <a:picLocks noChangeAspect="1"/>
          </p:cNvPicPr>
          <p:nvPr/>
        </p:nvPicPr>
        <p:blipFill>
          <a:blip r:embed="rId4"/>
          <a:stretch>
            <a:fillRect/>
          </a:stretch>
        </p:blipFill>
        <p:spPr>
          <a:xfrm>
            <a:off x="3730752" y="658368"/>
            <a:ext cx="5001769" cy="1874520"/>
          </a:xfrm>
          <a:prstGeom prst="rect">
            <a:avLst/>
          </a:prstGeom>
        </p:spPr>
      </p:pic>
    </p:spTree>
    <p:extLst>
      <p:ext uri="{BB962C8B-B14F-4D97-AF65-F5344CB8AC3E}">
        <p14:creationId xmlns:p14="http://schemas.microsoft.com/office/powerpoint/2010/main" val="793807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WEEK 2 — POWER BI: INTERACTIVE DASHBOARD</a:t>
            </a:r>
            <a:endParaRPr lang="en-US" sz="2200" dirty="0"/>
          </a:p>
        </p:txBody>
      </p:sp>
      <p:sp>
        <p:nvSpPr>
          <p:cNvPr id="7" name="Text 5"/>
          <p:cNvSpPr/>
          <p:nvPr/>
        </p:nvSpPr>
        <p:spPr>
          <a:xfrm>
            <a:off x="347472" y="640080"/>
            <a:ext cx="4023360" cy="347472"/>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Dashboard Features</a:t>
            </a:r>
            <a:endParaRPr lang="en-US" sz="1500" dirty="0"/>
          </a:p>
        </p:txBody>
      </p:sp>
      <p:sp>
        <p:nvSpPr>
          <p:cNvPr id="8" name="Shape 6"/>
          <p:cNvSpPr/>
          <p:nvPr/>
        </p:nvSpPr>
        <p:spPr>
          <a:xfrm>
            <a:off x="347472" y="1078992"/>
            <a:ext cx="4023360" cy="566928"/>
          </a:xfrm>
          <a:prstGeom prst="rect">
            <a:avLst/>
          </a:prstGeom>
          <a:solidFill>
            <a:srgbClr val="FDF5F5"/>
          </a:solidFill>
          <a:ln/>
          <a:effectLst>
            <a:outerShdw blurRad="38100" dist="12700" dir="8100000" algn="bl" rotWithShape="0">
              <a:srgbClr val="DDDDDD">
                <a:alpha val="20000"/>
              </a:srgbClr>
            </a:outerShdw>
          </a:effectLst>
        </p:spPr>
      </p:sp>
      <p:sp>
        <p:nvSpPr>
          <p:cNvPr id="9" name="Shape 7"/>
          <p:cNvSpPr/>
          <p:nvPr/>
        </p:nvSpPr>
        <p:spPr>
          <a:xfrm>
            <a:off x="347472" y="1078992"/>
            <a:ext cx="64008" cy="566928"/>
          </a:xfrm>
          <a:prstGeom prst="rect">
            <a:avLst/>
          </a:prstGeom>
          <a:solidFill>
            <a:srgbClr val="CB202D"/>
          </a:solidFill>
          <a:ln/>
        </p:spPr>
      </p:sp>
      <p:sp>
        <p:nvSpPr>
          <p:cNvPr id="10" name="Text 8"/>
          <p:cNvSpPr/>
          <p:nvPr/>
        </p:nvSpPr>
        <p:spPr>
          <a:xfrm>
            <a:off x="502920" y="1106424"/>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KPI Cards</a:t>
            </a:r>
            <a:endParaRPr lang="en-US" sz="1300" dirty="0"/>
          </a:p>
        </p:txBody>
      </p:sp>
      <p:sp>
        <p:nvSpPr>
          <p:cNvPr id="11" name="Text 9"/>
          <p:cNvSpPr/>
          <p:nvPr/>
        </p:nvSpPr>
        <p:spPr>
          <a:xfrm>
            <a:off x="502920" y="1316736"/>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Total Restaurants, Avg Rating, Delivery %, Booking %</a:t>
            </a:r>
            <a:endParaRPr lang="en-US" sz="1100" dirty="0"/>
          </a:p>
        </p:txBody>
      </p:sp>
      <p:sp>
        <p:nvSpPr>
          <p:cNvPr id="12" name="Shape 10"/>
          <p:cNvSpPr/>
          <p:nvPr/>
        </p:nvSpPr>
        <p:spPr>
          <a:xfrm>
            <a:off x="347472" y="1746504"/>
            <a:ext cx="4023360" cy="566928"/>
          </a:xfrm>
          <a:prstGeom prst="rect">
            <a:avLst/>
          </a:prstGeom>
          <a:solidFill>
            <a:srgbClr val="FFFFFF"/>
          </a:solidFill>
          <a:ln/>
          <a:effectLst>
            <a:outerShdw blurRad="38100" dist="12700" dir="8100000" algn="bl" rotWithShape="0">
              <a:srgbClr val="DDDDDD">
                <a:alpha val="20000"/>
              </a:srgbClr>
            </a:outerShdw>
          </a:effectLst>
        </p:spPr>
      </p:sp>
      <p:sp>
        <p:nvSpPr>
          <p:cNvPr id="13" name="Shape 11"/>
          <p:cNvSpPr/>
          <p:nvPr/>
        </p:nvSpPr>
        <p:spPr>
          <a:xfrm>
            <a:off x="347472" y="1746504"/>
            <a:ext cx="64008" cy="566928"/>
          </a:xfrm>
          <a:prstGeom prst="rect">
            <a:avLst/>
          </a:prstGeom>
          <a:solidFill>
            <a:srgbClr val="8B0000"/>
          </a:solidFill>
          <a:ln/>
        </p:spPr>
      </p:sp>
      <p:sp>
        <p:nvSpPr>
          <p:cNvPr id="14" name="Text 12"/>
          <p:cNvSpPr/>
          <p:nvPr/>
        </p:nvSpPr>
        <p:spPr>
          <a:xfrm>
            <a:off x="502920" y="1773936"/>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Bar Charts</a:t>
            </a:r>
            <a:endParaRPr lang="en-US" sz="1300" dirty="0"/>
          </a:p>
        </p:txBody>
      </p:sp>
      <p:sp>
        <p:nvSpPr>
          <p:cNvPr id="15" name="Text 13"/>
          <p:cNvSpPr/>
          <p:nvPr/>
        </p:nvSpPr>
        <p:spPr>
          <a:xfrm>
            <a:off x="502920" y="1984248"/>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City-wise &amp; cuisine-wise restaurant distribution</a:t>
            </a:r>
            <a:endParaRPr lang="en-US" sz="1100" dirty="0"/>
          </a:p>
        </p:txBody>
      </p:sp>
      <p:sp>
        <p:nvSpPr>
          <p:cNvPr id="16" name="Shape 14"/>
          <p:cNvSpPr/>
          <p:nvPr/>
        </p:nvSpPr>
        <p:spPr>
          <a:xfrm>
            <a:off x="347472" y="2414016"/>
            <a:ext cx="4023360" cy="566928"/>
          </a:xfrm>
          <a:prstGeom prst="rect">
            <a:avLst/>
          </a:prstGeom>
          <a:solidFill>
            <a:srgbClr val="FDF5F5"/>
          </a:solidFill>
          <a:ln/>
          <a:effectLst>
            <a:outerShdw blurRad="38100" dist="12700" dir="8100000" algn="bl" rotWithShape="0">
              <a:srgbClr val="DDDDDD">
                <a:alpha val="20000"/>
              </a:srgbClr>
            </a:outerShdw>
          </a:effectLst>
        </p:spPr>
      </p:sp>
      <p:sp>
        <p:nvSpPr>
          <p:cNvPr id="17" name="Shape 15"/>
          <p:cNvSpPr/>
          <p:nvPr/>
        </p:nvSpPr>
        <p:spPr>
          <a:xfrm>
            <a:off x="347472" y="2414016"/>
            <a:ext cx="64008" cy="566928"/>
          </a:xfrm>
          <a:prstGeom prst="rect">
            <a:avLst/>
          </a:prstGeom>
          <a:solidFill>
            <a:srgbClr val="CB202D"/>
          </a:solidFill>
          <a:ln/>
        </p:spPr>
      </p:sp>
      <p:sp>
        <p:nvSpPr>
          <p:cNvPr id="18" name="Text 16"/>
          <p:cNvSpPr/>
          <p:nvPr/>
        </p:nvSpPr>
        <p:spPr>
          <a:xfrm>
            <a:off x="502920" y="2441448"/>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Column Charts</a:t>
            </a:r>
            <a:endParaRPr lang="en-US" sz="1300" dirty="0"/>
          </a:p>
        </p:txBody>
      </p:sp>
      <p:sp>
        <p:nvSpPr>
          <p:cNvPr id="19" name="Text 17"/>
          <p:cNvSpPr/>
          <p:nvPr/>
        </p:nvSpPr>
        <p:spPr>
          <a:xfrm>
            <a:off x="502920" y="2651760"/>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Price bucket and rating bucket breakdowns</a:t>
            </a:r>
            <a:endParaRPr lang="en-US" sz="1100" dirty="0"/>
          </a:p>
        </p:txBody>
      </p:sp>
      <p:sp>
        <p:nvSpPr>
          <p:cNvPr id="20" name="Shape 18"/>
          <p:cNvSpPr/>
          <p:nvPr/>
        </p:nvSpPr>
        <p:spPr>
          <a:xfrm>
            <a:off x="347472" y="3081528"/>
            <a:ext cx="4023360" cy="566928"/>
          </a:xfrm>
          <a:prstGeom prst="rect">
            <a:avLst/>
          </a:prstGeom>
          <a:solidFill>
            <a:srgbClr val="FFFFFF"/>
          </a:solidFill>
          <a:ln/>
          <a:effectLst>
            <a:outerShdw blurRad="38100" dist="12700" dir="8100000" algn="bl" rotWithShape="0">
              <a:srgbClr val="DDDDDD">
                <a:alpha val="20000"/>
              </a:srgbClr>
            </a:outerShdw>
          </a:effectLst>
        </p:spPr>
      </p:sp>
      <p:sp>
        <p:nvSpPr>
          <p:cNvPr id="21" name="Shape 19"/>
          <p:cNvSpPr/>
          <p:nvPr/>
        </p:nvSpPr>
        <p:spPr>
          <a:xfrm>
            <a:off x="347472" y="3081528"/>
            <a:ext cx="64008" cy="566928"/>
          </a:xfrm>
          <a:prstGeom prst="rect">
            <a:avLst/>
          </a:prstGeom>
          <a:solidFill>
            <a:srgbClr val="8B0000"/>
          </a:solidFill>
          <a:ln/>
        </p:spPr>
      </p:sp>
      <p:sp>
        <p:nvSpPr>
          <p:cNvPr id="22" name="Text 20"/>
          <p:cNvSpPr/>
          <p:nvPr/>
        </p:nvSpPr>
        <p:spPr>
          <a:xfrm>
            <a:off x="502920" y="3108960"/>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Line Chart</a:t>
            </a:r>
            <a:endParaRPr lang="en-US" sz="1300" dirty="0"/>
          </a:p>
        </p:txBody>
      </p:sp>
      <p:sp>
        <p:nvSpPr>
          <p:cNvPr id="23" name="Text 21"/>
          <p:cNvSpPr/>
          <p:nvPr/>
        </p:nvSpPr>
        <p:spPr>
          <a:xfrm>
            <a:off x="502920" y="3319272"/>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Restaurant openings trend 2010–2018</a:t>
            </a:r>
            <a:endParaRPr lang="en-US" sz="1100" dirty="0"/>
          </a:p>
        </p:txBody>
      </p:sp>
      <p:sp>
        <p:nvSpPr>
          <p:cNvPr id="24" name="Shape 22"/>
          <p:cNvSpPr/>
          <p:nvPr/>
        </p:nvSpPr>
        <p:spPr>
          <a:xfrm>
            <a:off x="347472" y="3749040"/>
            <a:ext cx="4023360" cy="566928"/>
          </a:xfrm>
          <a:prstGeom prst="rect">
            <a:avLst/>
          </a:prstGeom>
          <a:solidFill>
            <a:srgbClr val="FDF5F5"/>
          </a:solidFill>
          <a:ln/>
          <a:effectLst>
            <a:outerShdw blurRad="38100" dist="12700" dir="8100000" algn="bl" rotWithShape="0">
              <a:srgbClr val="DDDDDD">
                <a:alpha val="20000"/>
              </a:srgbClr>
            </a:outerShdw>
          </a:effectLst>
        </p:spPr>
      </p:sp>
      <p:sp>
        <p:nvSpPr>
          <p:cNvPr id="25" name="Shape 23"/>
          <p:cNvSpPr/>
          <p:nvPr/>
        </p:nvSpPr>
        <p:spPr>
          <a:xfrm>
            <a:off x="347472" y="3749040"/>
            <a:ext cx="64008" cy="566928"/>
          </a:xfrm>
          <a:prstGeom prst="rect">
            <a:avLst/>
          </a:prstGeom>
          <a:solidFill>
            <a:srgbClr val="CB202D"/>
          </a:solidFill>
          <a:ln/>
        </p:spPr>
      </p:sp>
      <p:sp>
        <p:nvSpPr>
          <p:cNvPr id="26" name="Text 24"/>
          <p:cNvSpPr/>
          <p:nvPr/>
        </p:nvSpPr>
        <p:spPr>
          <a:xfrm>
            <a:off x="502920" y="3776472"/>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Donut Charts</a:t>
            </a:r>
            <a:endParaRPr lang="en-US" sz="1300" dirty="0"/>
          </a:p>
        </p:txBody>
      </p:sp>
      <p:sp>
        <p:nvSpPr>
          <p:cNvPr id="27" name="Text 25"/>
          <p:cNvSpPr/>
          <p:nvPr/>
        </p:nvSpPr>
        <p:spPr>
          <a:xfrm>
            <a:off x="502920" y="3986784"/>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Online delivery &amp; table booking percentages</a:t>
            </a:r>
            <a:endParaRPr lang="en-US" sz="1100" dirty="0"/>
          </a:p>
        </p:txBody>
      </p:sp>
      <p:sp>
        <p:nvSpPr>
          <p:cNvPr id="28" name="Shape 26"/>
          <p:cNvSpPr/>
          <p:nvPr/>
        </p:nvSpPr>
        <p:spPr>
          <a:xfrm>
            <a:off x="4517136" y="640080"/>
            <a:ext cx="36576" cy="4023360"/>
          </a:xfrm>
          <a:prstGeom prst="rect">
            <a:avLst/>
          </a:prstGeom>
          <a:solidFill>
            <a:srgbClr val="E8C4C4"/>
          </a:solidFill>
          <a:ln/>
        </p:spPr>
      </p:sp>
      <p:sp>
        <p:nvSpPr>
          <p:cNvPr id="29" name="Text 27"/>
          <p:cNvSpPr/>
          <p:nvPr/>
        </p:nvSpPr>
        <p:spPr>
          <a:xfrm>
            <a:off x="4663440" y="640080"/>
            <a:ext cx="4114800" cy="347472"/>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DAX Measures Created</a:t>
            </a:r>
            <a:endParaRPr lang="en-US" sz="1500" dirty="0"/>
          </a:p>
        </p:txBody>
      </p:sp>
      <p:sp>
        <p:nvSpPr>
          <p:cNvPr id="30" name="Shape 28"/>
          <p:cNvSpPr/>
          <p:nvPr/>
        </p:nvSpPr>
        <p:spPr>
          <a:xfrm>
            <a:off x="4663440" y="1078992"/>
            <a:ext cx="4114800" cy="475488"/>
          </a:xfrm>
          <a:prstGeom prst="rect">
            <a:avLst/>
          </a:prstGeom>
          <a:solidFill>
            <a:srgbClr val="1A1A2E"/>
          </a:solidFill>
          <a:ln/>
        </p:spPr>
      </p:sp>
      <p:sp>
        <p:nvSpPr>
          <p:cNvPr id="31" name="Text 29"/>
          <p:cNvSpPr/>
          <p:nvPr/>
        </p:nvSpPr>
        <p:spPr>
          <a:xfrm>
            <a:off x="4754880" y="1097280"/>
            <a:ext cx="3931920" cy="438912"/>
          </a:xfrm>
          <a:prstGeom prst="rect">
            <a:avLst/>
          </a:prstGeom>
          <a:noFill/>
          <a:ln/>
        </p:spPr>
        <p:txBody>
          <a:bodyPr wrap="square" lIns="0" tIns="0" rIns="0" bIns="0" rtlCol="0" anchor="ctr"/>
          <a:lstStyle/>
          <a:p>
            <a:pPr marL="0" indent="0">
              <a:buNone/>
            </a:pPr>
            <a:r>
              <a:rPr lang="en-US" sz="950" dirty="0">
                <a:solidFill>
                  <a:srgbClr val="E8C4C4"/>
                </a:solidFill>
                <a:latin typeface="Courier New" pitchFamily="34" charset="0"/>
                <a:ea typeface="Courier New" pitchFamily="34" charset="-122"/>
                <a:cs typeface="Courier New" pitchFamily="34" charset="-120"/>
              </a:rPr>
              <a:t>Total Restaurants = COUNTROWS(zomato)</a:t>
            </a:r>
            <a:endParaRPr lang="en-US" sz="950" dirty="0"/>
          </a:p>
        </p:txBody>
      </p:sp>
      <p:sp>
        <p:nvSpPr>
          <p:cNvPr id="32" name="Shape 30"/>
          <p:cNvSpPr/>
          <p:nvPr/>
        </p:nvSpPr>
        <p:spPr>
          <a:xfrm>
            <a:off x="4663440" y="1645920"/>
            <a:ext cx="4114800" cy="475488"/>
          </a:xfrm>
          <a:prstGeom prst="rect">
            <a:avLst/>
          </a:prstGeom>
          <a:solidFill>
            <a:srgbClr val="1A1A2E"/>
          </a:solidFill>
          <a:ln/>
        </p:spPr>
      </p:sp>
      <p:sp>
        <p:nvSpPr>
          <p:cNvPr id="33" name="Text 31"/>
          <p:cNvSpPr/>
          <p:nvPr/>
        </p:nvSpPr>
        <p:spPr>
          <a:xfrm>
            <a:off x="4754880" y="1664208"/>
            <a:ext cx="3931920" cy="438912"/>
          </a:xfrm>
          <a:prstGeom prst="rect">
            <a:avLst/>
          </a:prstGeom>
          <a:noFill/>
          <a:ln/>
        </p:spPr>
        <p:txBody>
          <a:bodyPr wrap="square" lIns="0" tIns="0" rIns="0" bIns="0" rtlCol="0" anchor="ctr"/>
          <a:lstStyle/>
          <a:p>
            <a:pPr marL="0" indent="0">
              <a:buNone/>
            </a:pPr>
            <a:r>
              <a:rPr lang="en-US" sz="950" dirty="0">
                <a:solidFill>
                  <a:srgbClr val="E8C4C4"/>
                </a:solidFill>
                <a:latin typeface="Courier New" pitchFamily="34" charset="0"/>
                <a:ea typeface="Courier New" pitchFamily="34" charset="-122"/>
                <a:cs typeface="Courier New" pitchFamily="34" charset="-120"/>
              </a:rPr>
              <a:t>Avg Rating = AVERAGE(zomato[Aggregate_rating])</a:t>
            </a:r>
            <a:endParaRPr lang="en-US" sz="950" dirty="0"/>
          </a:p>
        </p:txBody>
      </p:sp>
      <p:sp>
        <p:nvSpPr>
          <p:cNvPr id="34" name="Shape 32"/>
          <p:cNvSpPr/>
          <p:nvPr/>
        </p:nvSpPr>
        <p:spPr>
          <a:xfrm>
            <a:off x="4663440" y="2212848"/>
            <a:ext cx="4114800" cy="475488"/>
          </a:xfrm>
          <a:prstGeom prst="rect">
            <a:avLst/>
          </a:prstGeom>
          <a:solidFill>
            <a:srgbClr val="1A1A2E"/>
          </a:solidFill>
          <a:ln/>
        </p:spPr>
      </p:sp>
      <p:sp>
        <p:nvSpPr>
          <p:cNvPr id="35" name="Text 33"/>
          <p:cNvSpPr/>
          <p:nvPr/>
        </p:nvSpPr>
        <p:spPr>
          <a:xfrm>
            <a:off x="4754880" y="2231136"/>
            <a:ext cx="3931920" cy="438912"/>
          </a:xfrm>
          <a:prstGeom prst="rect">
            <a:avLst/>
          </a:prstGeom>
          <a:noFill/>
          <a:ln/>
        </p:spPr>
        <p:txBody>
          <a:bodyPr wrap="square" lIns="0" tIns="0" rIns="0" bIns="0" rtlCol="0" anchor="ctr"/>
          <a:lstStyle/>
          <a:p>
            <a:pPr marL="0" indent="0">
              <a:buNone/>
            </a:pPr>
            <a:r>
              <a:rPr lang="en-US" sz="950" dirty="0">
                <a:solidFill>
                  <a:srgbClr val="E8C4C4"/>
                </a:solidFill>
                <a:latin typeface="Courier New" pitchFamily="34" charset="0"/>
                <a:ea typeface="Courier New" pitchFamily="34" charset="-122"/>
                <a:cs typeface="Courier New" pitchFamily="34" charset="-120"/>
              </a:rPr>
              <a:t>Online Delivery % =DIVIDE(COUNTROWS(FILTER(zomato,</a:t>
            </a:r>
            <a:endParaRPr lang="en-US" sz="950" dirty="0"/>
          </a:p>
          <a:p>
            <a:pPr marL="0" indent="0">
              <a:buNone/>
            </a:pPr>
            <a:r>
              <a:rPr lang="en-US" sz="950" dirty="0">
                <a:solidFill>
                  <a:srgbClr val="E8C4C4"/>
                </a:solidFill>
                <a:latin typeface="Courier New" pitchFamily="34" charset="0"/>
                <a:ea typeface="Courier New" pitchFamily="34" charset="-122"/>
                <a:cs typeface="Courier New" pitchFamily="34" charset="-120"/>
              </a:rPr>
              <a:t>zomato[Has_Online_delivery]="Yes")),</a:t>
            </a:r>
            <a:endParaRPr lang="en-US" sz="950" dirty="0"/>
          </a:p>
          <a:p>
            <a:pPr marL="0" indent="0">
              <a:buNone/>
            </a:pPr>
            <a:r>
              <a:rPr lang="en-US" sz="950" dirty="0">
                <a:solidFill>
                  <a:srgbClr val="E8C4C4"/>
                </a:solidFill>
                <a:latin typeface="Courier New" pitchFamily="34" charset="0"/>
                <a:ea typeface="Courier New" pitchFamily="34" charset="-122"/>
                <a:cs typeface="Courier New" pitchFamily="34" charset="-120"/>
              </a:rPr>
              <a:t>[Total Restaurants])*100</a:t>
            </a:r>
            <a:endParaRPr lang="en-US" sz="950" dirty="0"/>
          </a:p>
        </p:txBody>
      </p:sp>
      <p:sp>
        <p:nvSpPr>
          <p:cNvPr id="36" name="Shape 34"/>
          <p:cNvSpPr/>
          <p:nvPr/>
        </p:nvSpPr>
        <p:spPr>
          <a:xfrm>
            <a:off x="4663440" y="2779776"/>
            <a:ext cx="4114800" cy="475488"/>
          </a:xfrm>
          <a:prstGeom prst="rect">
            <a:avLst/>
          </a:prstGeom>
          <a:solidFill>
            <a:srgbClr val="1A1A2E"/>
          </a:solidFill>
          <a:ln/>
        </p:spPr>
      </p:sp>
      <p:sp>
        <p:nvSpPr>
          <p:cNvPr id="37" name="Text 35"/>
          <p:cNvSpPr/>
          <p:nvPr/>
        </p:nvSpPr>
        <p:spPr>
          <a:xfrm>
            <a:off x="4754880" y="2798064"/>
            <a:ext cx="3931920" cy="438912"/>
          </a:xfrm>
          <a:prstGeom prst="rect">
            <a:avLst/>
          </a:prstGeom>
          <a:noFill/>
          <a:ln/>
        </p:spPr>
        <p:txBody>
          <a:bodyPr wrap="square" lIns="0" tIns="0" rIns="0" bIns="0" rtlCol="0" anchor="ctr"/>
          <a:lstStyle/>
          <a:p>
            <a:pPr marL="0" indent="0">
              <a:buNone/>
            </a:pPr>
            <a:r>
              <a:rPr lang="en-US" sz="950" dirty="0">
                <a:solidFill>
                  <a:srgbClr val="E8C4C4"/>
                </a:solidFill>
                <a:latin typeface="Courier New" pitchFamily="34" charset="0"/>
                <a:ea typeface="Courier New" pitchFamily="34" charset="-122"/>
                <a:cs typeface="Courier New" pitchFamily="34" charset="-120"/>
              </a:rPr>
              <a:t>Table Booking % =DIVIDE(COUNTROWS(FILTER(zomato,</a:t>
            </a:r>
            <a:endParaRPr lang="en-US" sz="950" dirty="0"/>
          </a:p>
          <a:p>
            <a:pPr marL="0" indent="0">
              <a:buNone/>
            </a:pPr>
            <a:r>
              <a:rPr lang="en-US" sz="950" dirty="0">
                <a:solidFill>
                  <a:srgbClr val="E8C4C4"/>
                </a:solidFill>
                <a:latin typeface="Courier New" pitchFamily="34" charset="0"/>
                <a:ea typeface="Courier New" pitchFamily="34" charset="-122"/>
                <a:cs typeface="Courier New" pitchFamily="34" charset="-120"/>
              </a:rPr>
              <a:t>zomato[Has_Table_booking]="Yes")),</a:t>
            </a:r>
            <a:endParaRPr lang="en-US" sz="950" dirty="0"/>
          </a:p>
          <a:p>
            <a:pPr marL="0" indent="0">
              <a:buNone/>
            </a:pPr>
            <a:r>
              <a:rPr lang="en-US" sz="950" dirty="0">
                <a:solidFill>
                  <a:srgbClr val="E8C4C4"/>
                </a:solidFill>
                <a:latin typeface="Courier New" pitchFamily="34" charset="0"/>
                <a:ea typeface="Courier New" pitchFamily="34" charset="-122"/>
                <a:cs typeface="Courier New" pitchFamily="34" charset="-120"/>
              </a:rPr>
              <a:t>[Total Restaurants])*100</a:t>
            </a:r>
            <a:endParaRPr lang="en-US" sz="950" dirty="0"/>
          </a:p>
        </p:txBody>
      </p:sp>
      <p:sp>
        <p:nvSpPr>
          <p:cNvPr id="38" name="Text 36"/>
          <p:cNvSpPr/>
          <p:nvPr/>
        </p:nvSpPr>
        <p:spPr>
          <a:xfrm>
            <a:off x="4663440" y="3401568"/>
            <a:ext cx="411480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Slicers Added</a:t>
            </a:r>
            <a:endParaRPr lang="en-US" sz="1400" dirty="0"/>
          </a:p>
        </p:txBody>
      </p:sp>
      <p:sp>
        <p:nvSpPr>
          <p:cNvPr id="39" name="Shape 37"/>
          <p:cNvSpPr/>
          <p:nvPr/>
        </p:nvSpPr>
        <p:spPr>
          <a:xfrm>
            <a:off x="4663440" y="3749040"/>
            <a:ext cx="1280160" cy="475488"/>
          </a:xfrm>
          <a:prstGeom prst="rect">
            <a:avLst/>
          </a:prstGeom>
          <a:solidFill>
            <a:srgbClr val="CB202D"/>
          </a:solidFill>
          <a:ln/>
          <a:effectLst>
            <a:outerShdw blurRad="63500" dist="25400" dir="8100000" algn="bl" rotWithShape="0">
              <a:srgbClr val="999999">
                <a:alpha val="20000"/>
              </a:srgbClr>
            </a:outerShdw>
          </a:effectLst>
        </p:spPr>
      </p:sp>
      <p:sp>
        <p:nvSpPr>
          <p:cNvPr id="40" name="Text 38"/>
          <p:cNvSpPr/>
          <p:nvPr/>
        </p:nvSpPr>
        <p:spPr>
          <a:xfrm>
            <a:off x="4663440" y="3749040"/>
            <a:ext cx="128016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City</a:t>
            </a:r>
            <a:endParaRPr lang="en-US" sz="1400" dirty="0"/>
          </a:p>
        </p:txBody>
      </p:sp>
      <p:sp>
        <p:nvSpPr>
          <p:cNvPr id="41" name="Shape 39"/>
          <p:cNvSpPr/>
          <p:nvPr/>
        </p:nvSpPr>
        <p:spPr>
          <a:xfrm>
            <a:off x="6053328" y="3749040"/>
            <a:ext cx="1280160" cy="475488"/>
          </a:xfrm>
          <a:prstGeom prst="rect">
            <a:avLst/>
          </a:prstGeom>
          <a:solidFill>
            <a:srgbClr val="CB202D"/>
          </a:solidFill>
          <a:ln/>
          <a:effectLst>
            <a:outerShdw blurRad="63500" dist="25400" dir="8100000" algn="bl" rotWithShape="0">
              <a:srgbClr val="999999">
                <a:alpha val="20000"/>
              </a:srgbClr>
            </a:outerShdw>
          </a:effectLst>
        </p:spPr>
      </p:sp>
      <p:sp>
        <p:nvSpPr>
          <p:cNvPr id="42" name="Text 40"/>
          <p:cNvSpPr/>
          <p:nvPr/>
        </p:nvSpPr>
        <p:spPr>
          <a:xfrm>
            <a:off x="6053328" y="3749040"/>
            <a:ext cx="128016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Country</a:t>
            </a:r>
            <a:endParaRPr lang="en-US" sz="1400" dirty="0"/>
          </a:p>
        </p:txBody>
      </p:sp>
      <p:sp>
        <p:nvSpPr>
          <p:cNvPr id="43" name="Shape 41"/>
          <p:cNvSpPr/>
          <p:nvPr/>
        </p:nvSpPr>
        <p:spPr>
          <a:xfrm>
            <a:off x="7443216" y="3749040"/>
            <a:ext cx="1280160" cy="475488"/>
          </a:xfrm>
          <a:prstGeom prst="rect">
            <a:avLst/>
          </a:prstGeom>
          <a:solidFill>
            <a:srgbClr val="CB202D"/>
          </a:solidFill>
          <a:ln/>
          <a:effectLst>
            <a:outerShdw blurRad="63500" dist="25400" dir="8100000" algn="bl" rotWithShape="0">
              <a:srgbClr val="999999">
                <a:alpha val="20000"/>
              </a:srgbClr>
            </a:outerShdw>
          </a:effectLst>
        </p:spPr>
      </p:sp>
      <p:sp>
        <p:nvSpPr>
          <p:cNvPr id="44" name="Text 42"/>
          <p:cNvSpPr/>
          <p:nvPr/>
        </p:nvSpPr>
        <p:spPr>
          <a:xfrm>
            <a:off x="7443216" y="3749040"/>
            <a:ext cx="128016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Year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B202D"/>
          </a:solidFill>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POWER BI DASHBOARD — ZOMATO ANALYTICS</a:t>
            </a:r>
            <a:endParaRPr lang="en-US" sz="2000" dirty="0"/>
          </a:p>
        </p:txBody>
      </p:sp>
      <p:sp>
        <p:nvSpPr>
          <p:cNvPr id="5" name="Shape 2"/>
          <p:cNvSpPr/>
          <p:nvPr/>
        </p:nvSpPr>
        <p:spPr>
          <a:xfrm>
            <a:off x="0" y="4846320"/>
            <a:ext cx="9144000" cy="297180"/>
          </a:xfrm>
          <a:prstGeom prst="rect">
            <a:avLst/>
          </a:prstGeom>
          <a:solidFill>
            <a:srgbClr val="8B0000"/>
          </a:solidFill>
          <a:ln/>
        </p:spPr>
      </p:sp>
      <p:sp>
        <p:nvSpPr>
          <p:cNvPr id="6" name="Text 3"/>
          <p:cNvSpPr/>
          <p:nvPr/>
        </p:nvSpPr>
        <p:spPr>
          <a:xfrm>
            <a:off x="274320" y="4855464"/>
            <a:ext cx="8595360" cy="274320"/>
          </a:xfrm>
          <a:prstGeom prst="rect">
            <a:avLst/>
          </a:prstGeom>
          <a:noFill/>
          <a:ln/>
        </p:spPr>
        <p:txBody>
          <a:bodyPr wrap="square" lIns="0" tIns="0" rIns="0" bIns="0" rtlCol="0" anchor="ctr"/>
          <a:lstStyle/>
          <a:p>
            <a:pPr marL="0" indent="0" algn="ctr">
              <a:buNone/>
            </a:pPr>
            <a:r>
              <a:rPr lang="en-US" sz="1000" i="1" dirty="0">
                <a:solidFill>
                  <a:srgbClr val="E8C4C4"/>
                </a:solidFill>
                <a:latin typeface="Times New Roman" pitchFamily="34" charset="0"/>
                <a:ea typeface="Times New Roman" pitchFamily="34" charset="-122"/>
                <a:cs typeface="Times New Roman" pitchFamily="34" charset="-120"/>
              </a:rPr>
              <a:t>Week 3 — Power BI Dashboard  |  Slicers: City · Country · Year  |  DAX Measures Applied</a:t>
            </a:r>
            <a:endParaRPr lang="en-US" sz="1000" dirty="0"/>
          </a:p>
        </p:txBody>
      </p:sp>
      <p:pic>
        <p:nvPicPr>
          <p:cNvPr id="8" name="Picture 7">
            <a:extLst>
              <a:ext uri="{FF2B5EF4-FFF2-40B4-BE49-F238E27FC236}">
                <a16:creationId xmlns:a16="http://schemas.microsoft.com/office/drawing/2014/main" id="{956A2C76-D322-92EA-2B43-1C578FF3A0F7}"/>
              </a:ext>
            </a:extLst>
          </p:cNvPr>
          <p:cNvPicPr>
            <a:picLocks noChangeAspect="1"/>
          </p:cNvPicPr>
          <p:nvPr/>
        </p:nvPicPr>
        <p:blipFill>
          <a:blip r:embed="rId3"/>
          <a:stretch>
            <a:fillRect/>
          </a:stretch>
        </p:blipFill>
        <p:spPr>
          <a:xfrm>
            <a:off x="0" y="557784"/>
            <a:ext cx="9144000" cy="42748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WEEK 3 — TABLEAU: INTERACTIVE DASHBOARD</a:t>
            </a:r>
            <a:endParaRPr lang="en-US" sz="2200" dirty="0"/>
          </a:p>
        </p:txBody>
      </p:sp>
      <p:sp>
        <p:nvSpPr>
          <p:cNvPr id="7" name="Text 5"/>
          <p:cNvSpPr/>
          <p:nvPr/>
        </p:nvSpPr>
        <p:spPr>
          <a:xfrm>
            <a:off x="347472" y="640080"/>
            <a:ext cx="4023360" cy="347472"/>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Dashboard Features</a:t>
            </a:r>
            <a:endParaRPr lang="en-US" sz="1500" dirty="0"/>
          </a:p>
        </p:txBody>
      </p:sp>
      <p:sp>
        <p:nvSpPr>
          <p:cNvPr id="8" name="Shape 6"/>
          <p:cNvSpPr/>
          <p:nvPr/>
        </p:nvSpPr>
        <p:spPr>
          <a:xfrm>
            <a:off x="347472" y="1078992"/>
            <a:ext cx="4023360" cy="566928"/>
          </a:xfrm>
          <a:prstGeom prst="rect">
            <a:avLst/>
          </a:prstGeom>
          <a:solidFill>
            <a:srgbClr val="FDF5F5"/>
          </a:solidFill>
          <a:ln/>
          <a:effectLst>
            <a:outerShdw blurRad="38100" dist="12700" dir="8100000" algn="bl" rotWithShape="0">
              <a:srgbClr val="DDDDDD">
                <a:alpha val="20000"/>
              </a:srgbClr>
            </a:outerShdw>
          </a:effectLst>
        </p:spPr>
      </p:sp>
      <p:sp>
        <p:nvSpPr>
          <p:cNvPr id="9" name="Shape 7"/>
          <p:cNvSpPr/>
          <p:nvPr/>
        </p:nvSpPr>
        <p:spPr>
          <a:xfrm>
            <a:off x="347472" y="1078992"/>
            <a:ext cx="64008" cy="566928"/>
          </a:xfrm>
          <a:prstGeom prst="rect">
            <a:avLst/>
          </a:prstGeom>
          <a:solidFill>
            <a:srgbClr val="CB202D"/>
          </a:solidFill>
          <a:ln/>
        </p:spPr>
      </p:sp>
      <p:sp>
        <p:nvSpPr>
          <p:cNvPr id="10" name="Text 8"/>
          <p:cNvSpPr/>
          <p:nvPr/>
        </p:nvSpPr>
        <p:spPr>
          <a:xfrm>
            <a:off x="502920" y="1106424"/>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Bar Chart</a:t>
            </a:r>
            <a:endParaRPr lang="en-US" sz="1300" dirty="0"/>
          </a:p>
        </p:txBody>
      </p:sp>
      <p:sp>
        <p:nvSpPr>
          <p:cNvPr id="11" name="Text 9"/>
          <p:cNvSpPr/>
          <p:nvPr/>
        </p:nvSpPr>
        <p:spPr>
          <a:xfrm>
            <a:off x="502920" y="1316736"/>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Top 10 cities by restaurant count — interactive &amp; sortable</a:t>
            </a:r>
            <a:endParaRPr lang="en-US" sz="1100" dirty="0"/>
          </a:p>
        </p:txBody>
      </p:sp>
      <p:sp>
        <p:nvSpPr>
          <p:cNvPr id="12" name="Shape 10"/>
          <p:cNvSpPr/>
          <p:nvPr/>
        </p:nvSpPr>
        <p:spPr>
          <a:xfrm>
            <a:off x="347472" y="1746504"/>
            <a:ext cx="4023360" cy="566928"/>
          </a:xfrm>
          <a:prstGeom prst="rect">
            <a:avLst/>
          </a:prstGeom>
          <a:solidFill>
            <a:srgbClr val="FFFFFF"/>
          </a:solidFill>
          <a:ln/>
          <a:effectLst>
            <a:outerShdw blurRad="38100" dist="12700" dir="8100000" algn="bl" rotWithShape="0">
              <a:srgbClr val="DDDDDD">
                <a:alpha val="20000"/>
              </a:srgbClr>
            </a:outerShdw>
          </a:effectLst>
        </p:spPr>
      </p:sp>
      <p:sp>
        <p:nvSpPr>
          <p:cNvPr id="13" name="Shape 11"/>
          <p:cNvSpPr/>
          <p:nvPr/>
        </p:nvSpPr>
        <p:spPr>
          <a:xfrm>
            <a:off x="347472" y="1746504"/>
            <a:ext cx="64008" cy="566928"/>
          </a:xfrm>
          <a:prstGeom prst="rect">
            <a:avLst/>
          </a:prstGeom>
          <a:solidFill>
            <a:srgbClr val="8B0000"/>
          </a:solidFill>
          <a:ln/>
        </p:spPr>
      </p:sp>
      <p:sp>
        <p:nvSpPr>
          <p:cNvPr id="14" name="Text 12"/>
          <p:cNvSpPr/>
          <p:nvPr/>
        </p:nvSpPr>
        <p:spPr>
          <a:xfrm>
            <a:off x="502920" y="1773936"/>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Map View</a:t>
            </a:r>
            <a:endParaRPr lang="en-US" sz="1300" dirty="0"/>
          </a:p>
        </p:txBody>
      </p:sp>
      <p:sp>
        <p:nvSpPr>
          <p:cNvPr id="15" name="Text 13"/>
          <p:cNvSpPr/>
          <p:nvPr/>
        </p:nvSpPr>
        <p:spPr>
          <a:xfrm>
            <a:off x="502920" y="1984248"/>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Geographic spread of restaurants across 15 countries</a:t>
            </a:r>
            <a:endParaRPr lang="en-US" sz="1100" dirty="0"/>
          </a:p>
        </p:txBody>
      </p:sp>
      <p:sp>
        <p:nvSpPr>
          <p:cNvPr id="16" name="Shape 14"/>
          <p:cNvSpPr/>
          <p:nvPr/>
        </p:nvSpPr>
        <p:spPr>
          <a:xfrm>
            <a:off x="347472" y="2414016"/>
            <a:ext cx="4023360" cy="566928"/>
          </a:xfrm>
          <a:prstGeom prst="rect">
            <a:avLst/>
          </a:prstGeom>
          <a:solidFill>
            <a:srgbClr val="FDF5F5"/>
          </a:solidFill>
          <a:ln/>
          <a:effectLst>
            <a:outerShdw blurRad="38100" dist="12700" dir="8100000" algn="bl" rotWithShape="0">
              <a:srgbClr val="DDDDDD">
                <a:alpha val="20000"/>
              </a:srgbClr>
            </a:outerShdw>
          </a:effectLst>
        </p:spPr>
      </p:sp>
      <p:sp>
        <p:nvSpPr>
          <p:cNvPr id="17" name="Shape 15"/>
          <p:cNvSpPr/>
          <p:nvPr/>
        </p:nvSpPr>
        <p:spPr>
          <a:xfrm>
            <a:off x="347472" y="2414016"/>
            <a:ext cx="64008" cy="566928"/>
          </a:xfrm>
          <a:prstGeom prst="rect">
            <a:avLst/>
          </a:prstGeom>
          <a:solidFill>
            <a:srgbClr val="CB202D"/>
          </a:solidFill>
          <a:ln/>
        </p:spPr>
      </p:sp>
      <p:sp>
        <p:nvSpPr>
          <p:cNvPr id="18" name="Text 16"/>
          <p:cNvSpPr/>
          <p:nvPr/>
        </p:nvSpPr>
        <p:spPr>
          <a:xfrm>
            <a:off x="502920" y="2441448"/>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Treemap</a:t>
            </a:r>
            <a:endParaRPr lang="en-US" sz="1300" dirty="0"/>
          </a:p>
        </p:txBody>
      </p:sp>
      <p:sp>
        <p:nvSpPr>
          <p:cNvPr id="19" name="Text 17"/>
          <p:cNvSpPr/>
          <p:nvPr/>
        </p:nvSpPr>
        <p:spPr>
          <a:xfrm>
            <a:off x="502920" y="2651760"/>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Cuisine popularity ranked by restaurant count</a:t>
            </a:r>
            <a:endParaRPr lang="en-US" sz="1100" dirty="0"/>
          </a:p>
        </p:txBody>
      </p:sp>
      <p:sp>
        <p:nvSpPr>
          <p:cNvPr id="20" name="Shape 18"/>
          <p:cNvSpPr/>
          <p:nvPr/>
        </p:nvSpPr>
        <p:spPr>
          <a:xfrm>
            <a:off x="347472" y="3081528"/>
            <a:ext cx="4023360" cy="566928"/>
          </a:xfrm>
          <a:prstGeom prst="rect">
            <a:avLst/>
          </a:prstGeom>
          <a:solidFill>
            <a:srgbClr val="FFFFFF"/>
          </a:solidFill>
          <a:ln/>
          <a:effectLst>
            <a:outerShdw blurRad="38100" dist="12700" dir="8100000" algn="bl" rotWithShape="0">
              <a:srgbClr val="DDDDDD">
                <a:alpha val="20000"/>
              </a:srgbClr>
            </a:outerShdw>
          </a:effectLst>
        </p:spPr>
      </p:sp>
      <p:sp>
        <p:nvSpPr>
          <p:cNvPr id="21" name="Shape 19"/>
          <p:cNvSpPr/>
          <p:nvPr/>
        </p:nvSpPr>
        <p:spPr>
          <a:xfrm>
            <a:off x="347472" y="3081528"/>
            <a:ext cx="64008" cy="566928"/>
          </a:xfrm>
          <a:prstGeom prst="rect">
            <a:avLst/>
          </a:prstGeom>
          <a:solidFill>
            <a:srgbClr val="8B0000"/>
          </a:solidFill>
          <a:ln/>
        </p:spPr>
      </p:sp>
      <p:sp>
        <p:nvSpPr>
          <p:cNvPr id="22" name="Text 20"/>
          <p:cNvSpPr/>
          <p:nvPr/>
        </p:nvSpPr>
        <p:spPr>
          <a:xfrm>
            <a:off x="502920" y="3108960"/>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Line Chart</a:t>
            </a:r>
            <a:endParaRPr lang="en-US" sz="1300" dirty="0"/>
          </a:p>
        </p:txBody>
      </p:sp>
      <p:sp>
        <p:nvSpPr>
          <p:cNvPr id="23" name="Text 21"/>
          <p:cNvSpPr/>
          <p:nvPr/>
        </p:nvSpPr>
        <p:spPr>
          <a:xfrm>
            <a:off x="502920" y="3319272"/>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Restaurant openings trend from 2010 to 2018</a:t>
            </a:r>
            <a:endParaRPr lang="en-US" sz="1100" dirty="0"/>
          </a:p>
        </p:txBody>
      </p:sp>
      <p:sp>
        <p:nvSpPr>
          <p:cNvPr id="24" name="Shape 22"/>
          <p:cNvSpPr/>
          <p:nvPr/>
        </p:nvSpPr>
        <p:spPr>
          <a:xfrm>
            <a:off x="347472" y="3749040"/>
            <a:ext cx="4023360" cy="566928"/>
          </a:xfrm>
          <a:prstGeom prst="rect">
            <a:avLst/>
          </a:prstGeom>
          <a:solidFill>
            <a:srgbClr val="FDF5F5"/>
          </a:solidFill>
          <a:ln/>
          <a:effectLst>
            <a:outerShdw blurRad="38100" dist="12700" dir="8100000" algn="bl" rotWithShape="0">
              <a:srgbClr val="DDDDDD">
                <a:alpha val="20000"/>
              </a:srgbClr>
            </a:outerShdw>
          </a:effectLst>
        </p:spPr>
      </p:sp>
      <p:sp>
        <p:nvSpPr>
          <p:cNvPr id="25" name="Shape 23"/>
          <p:cNvSpPr/>
          <p:nvPr/>
        </p:nvSpPr>
        <p:spPr>
          <a:xfrm>
            <a:off x="347472" y="3749040"/>
            <a:ext cx="64008" cy="566928"/>
          </a:xfrm>
          <a:prstGeom prst="rect">
            <a:avLst/>
          </a:prstGeom>
          <a:solidFill>
            <a:srgbClr val="CB202D"/>
          </a:solidFill>
          <a:ln/>
        </p:spPr>
      </p:sp>
      <p:sp>
        <p:nvSpPr>
          <p:cNvPr id="26" name="Text 24"/>
          <p:cNvSpPr/>
          <p:nvPr/>
        </p:nvSpPr>
        <p:spPr>
          <a:xfrm>
            <a:off x="502920" y="3776472"/>
            <a:ext cx="3749040" cy="228600"/>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Pie / Donut</a:t>
            </a:r>
            <a:endParaRPr lang="en-US" sz="1300" dirty="0"/>
          </a:p>
        </p:txBody>
      </p:sp>
      <p:sp>
        <p:nvSpPr>
          <p:cNvPr id="27" name="Text 25"/>
          <p:cNvSpPr/>
          <p:nvPr/>
        </p:nvSpPr>
        <p:spPr>
          <a:xfrm>
            <a:off x="502920" y="3986784"/>
            <a:ext cx="3749040" cy="256032"/>
          </a:xfrm>
          <a:prstGeom prst="rect">
            <a:avLst/>
          </a:prstGeom>
          <a:noFill/>
          <a:ln/>
        </p:spPr>
        <p:txBody>
          <a:bodyPr wrap="square" lIns="0" tIns="0" rIns="0" bIns="0" rtlCol="0" anchor="ctr"/>
          <a:lstStyle/>
          <a:p>
            <a:pPr marL="0" indent="0">
              <a:buNone/>
            </a:pPr>
            <a:r>
              <a:rPr lang="en-US" sz="1100" dirty="0">
                <a:solidFill>
                  <a:srgbClr val="888888"/>
                </a:solidFill>
                <a:latin typeface="Times New Roman" pitchFamily="34" charset="0"/>
                <a:ea typeface="Times New Roman" pitchFamily="34" charset="-122"/>
                <a:cs typeface="Times New Roman" pitchFamily="34" charset="-120"/>
              </a:rPr>
              <a:t>Online delivery &amp; table booking percentage breakdown</a:t>
            </a:r>
            <a:endParaRPr lang="en-US" sz="1100" dirty="0"/>
          </a:p>
        </p:txBody>
      </p:sp>
      <p:sp>
        <p:nvSpPr>
          <p:cNvPr id="28" name="Shape 26"/>
          <p:cNvSpPr/>
          <p:nvPr/>
        </p:nvSpPr>
        <p:spPr>
          <a:xfrm>
            <a:off x="4517136" y="640080"/>
            <a:ext cx="36576" cy="4023360"/>
          </a:xfrm>
          <a:prstGeom prst="rect">
            <a:avLst/>
          </a:prstGeom>
          <a:solidFill>
            <a:srgbClr val="E8C4C4"/>
          </a:solidFill>
          <a:ln/>
        </p:spPr>
      </p:sp>
      <p:sp>
        <p:nvSpPr>
          <p:cNvPr id="29" name="Text 27"/>
          <p:cNvSpPr/>
          <p:nvPr/>
        </p:nvSpPr>
        <p:spPr>
          <a:xfrm>
            <a:off x="4663440" y="640080"/>
            <a:ext cx="4114800" cy="347472"/>
          </a:xfrm>
          <a:prstGeom prst="rect">
            <a:avLst/>
          </a:prstGeom>
          <a:noFill/>
          <a:ln/>
        </p:spPr>
        <p:txBody>
          <a:bodyPr wrap="square" lIns="0" tIns="0" rIns="0" bIns="0" rtlCol="0" anchor="ctr"/>
          <a:lstStyle/>
          <a:p>
            <a:pPr marL="0" indent="0">
              <a:buNone/>
            </a:pPr>
            <a:r>
              <a:rPr lang="en-US" sz="1500" b="1" dirty="0">
                <a:solidFill>
                  <a:srgbClr val="CB202D"/>
                </a:solidFill>
                <a:latin typeface="Times New Roman" pitchFamily="34" charset="0"/>
                <a:ea typeface="Times New Roman" pitchFamily="34" charset="-122"/>
                <a:cs typeface="Times New Roman" pitchFamily="34" charset="-120"/>
              </a:rPr>
              <a:t>Calculated Fields Created</a:t>
            </a:r>
            <a:endParaRPr lang="en-US" sz="1500" dirty="0"/>
          </a:p>
        </p:txBody>
      </p:sp>
      <p:sp>
        <p:nvSpPr>
          <p:cNvPr id="30" name="Shape 28"/>
          <p:cNvSpPr/>
          <p:nvPr/>
        </p:nvSpPr>
        <p:spPr>
          <a:xfrm>
            <a:off x="4663440" y="1078992"/>
            <a:ext cx="4114800" cy="475488"/>
          </a:xfrm>
          <a:prstGeom prst="rect">
            <a:avLst/>
          </a:prstGeom>
          <a:solidFill>
            <a:srgbClr val="1A1A2E"/>
          </a:solidFill>
          <a:ln/>
        </p:spPr>
      </p:sp>
      <p:sp>
        <p:nvSpPr>
          <p:cNvPr id="31" name="Text 29"/>
          <p:cNvSpPr/>
          <p:nvPr/>
        </p:nvSpPr>
        <p:spPr>
          <a:xfrm>
            <a:off x="4754880" y="1097280"/>
            <a:ext cx="3931920" cy="438912"/>
          </a:xfrm>
          <a:prstGeom prst="rect">
            <a:avLst/>
          </a:prstGeom>
          <a:noFill/>
          <a:ln/>
        </p:spPr>
        <p:txBody>
          <a:bodyPr wrap="square" lIns="0" tIns="0" rIns="0" bIns="0" rtlCol="0" anchor="ctr"/>
          <a:lstStyle/>
          <a:p>
            <a:pPr marL="0" indent="0">
              <a:buNone/>
            </a:pPr>
            <a:r>
              <a:rPr lang="en-US" sz="900" dirty="0">
                <a:solidFill>
                  <a:srgbClr val="E8C4C4"/>
                </a:solidFill>
                <a:latin typeface="Courier New" pitchFamily="34" charset="0"/>
                <a:ea typeface="Courier New" pitchFamily="34" charset="-122"/>
                <a:cs typeface="Courier New" pitchFamily="34" charset="-120"/>
              </a:rPr>
              <a:t>Total Restaurants</a:t>
            </a:r>
            <a:endParaRPr lang="en-US" sz="900" dirty="0"/>
          </a:p>
          <a:p>
            <a:pPr marL="0" indent="0">
              <a:buNone/>
            </a:pPr>
            <a:r>
              <a:rPr lang="en-US" sz="900" dirty="0">
                <a:solidFill>
                  <a:srgbClr val="E8C4C4"/>
                </a:solidFill>
                <a:latin typeface="Courier New" pitchFamily="34" charset="0"/>
                <a:ea typeface="Courier New" pitchFamily="34" charset="-122"/>
                <a:cs typeface="Courier New" pitchFamily="34" charset="-120"/>
              </a:rPr>
              <a:t>= COUNT([RestaurantID])</a:t>
            </a:r>
            <a:endParaRPr lang="en-US" sz="900" dirty="0"/>
          </a:p>
        </p:txBody>
      </p:sp>
      <p:sp>
        <p:nvSpPr>
          <p:cNvPr id="32" name="Shape 30"/>
          <p:cNvSpPr/>
          <p:nvPr/>
        </p:nvSpPr>
        <p:spPr>
          <a:xfrm>
            <a:off x="4663440" y="1645920"/>
            <a:ext cx="4114800" cy="475488"/>
          </a:xfrm>
          <a:prstGeom prst="rect">
            <a:avLst/>
          </a:prstGeom>
          <a:solidFill>
            <a:srgbClr val="1A1A2E"/>
          </a:solidFill>
          <a:ln/>
        </p:spPr>
      </p:sp>
      <p:sp>
        <p:nvSpPr>
          <p:cNvPr id="33" name="Text 31"/>
          <p:cNvSpPr/>
          <p:nvPr/>
        </p:nvSpPr>
        <p:spPr>
          <a:xfrm>
            <a:off x="4754880" y="1664208"/>
            <a:ext cx="3931920" cy="438912"/>
          </a:xfrm>
          <a:prstGeom prst="rect">
            <a:avLst/>
          </a:prstGeom>
          <a:noFill/>
          <a:ln/>
        </p:spPr>
        <p:txBody>
          <a:bodyPr wrap="square" lIns="0" tIns="0" rIns="0" bIns="0" rtlCol="0" anchor="ctr"/>
          <a:lstStyle/>
          <a:p>
            <a:pPr marL="0" indent="0">
              <a:buNone/>
            </a:pPr>
            <a:r>
              <a:rPr lang="en-US" sz="900" dirty="0">
                <a:solidFill>
                  <a:srgbClr val="E8C4C4"/>
                </a:solidFill>
                <a:latin typeface="Courier New" pitchFamily="34" charset="0"/>
                <a:ea typeface="Courier New" pitchFamily="34" charset="-122"/>
                <a:cs typeface="Courier New" pitchFamily="34" charset="-120"/>
              </a:rPr>
              <a:t>Avg Rating</a:t>
            </a:r>
            <a:endParaRPr lang="en-US" sz="900" dirty="0"/>
          </a:p>
          <a:p>
            <a:pPr marL="0" indent="0">
              <a:buNone/>
            </a:pPr>
            <a:r>
              <a:rPr lang="en-US" sz="900" dirty="0">
                <a:solidFill>
                  <a:srgbClr val="E8C4C4"/>
                </a:solidFill>
                <a:latin typeface="Courier New" pitchFamily="34" charset="0"/>
                <a:ea typeface="Courier New" pitchFamily="34" charset="-122"/>
                <a:cs typeface="Courier New" pitchFamily="34" charset="-120"/>
              </a:rPr>
              <a:t>= AVG([Aggregate_rating])</a:t>
            </a:r>
            <a:endParaRPr lang="en-US" sz="900" dirty="0"/>
          </a:p>
        </p:txBody>
      </p:sp>
      <p:sp>
        <p:nvSpPr>
          <p:cNvPr id="34" name="Shape 32"/>
          <p:cNvSpPr/>
          <p:nvPr/>
        </p:nvSpPr>
        <p:spPr>
          <a:xfrm>
            <a:off x="4663440" y="2212848"/>
            <a:ext cx="4114800" cy="475488"/>
          </a:xfrm>
          <a:prstGeom prst="rect">
            <a:avLst/>
          </a:prstGeom>
          <a:solidFill>
            <a:srgbClr val="1A1A2E"/>
          </a:solidFill>
          <a:ln/>
        </p:spPr>
      </p:sp>
      <p:sp>
        <p:nvSpPr>
          <p:cNvPr id="35" name="Text 33"/>
          <p:cNvSpPr/>
          <p:nvPr/>
        </p:nvSpPr>
        <p:spPr>
          <a:xfrm>
            <a:off x="4754880" y="2231136"/>
            <a:ext cx="3931920" cy="438912"/>
          </a:xfrm>
          <a:prstGeom prst="rect">
            <a:avLst/>
          </a:prstGeom>
          <a:noFill/>
          <a:ln/>
        </p:spPr>
        <p:txBody>
          <a:bodyPr wrap="square" lIns="0" tIns="0" rIns="0" bIns="0" rtlCol="0" anchor="ctr"/>
          <a:lstStyle/>
          <a:p>
            <a:pPr marL="0" indent="0">
              <a:buNone/>
            </a:pPr>
            <a:r>
              <a:rPr lang="en-US" sz="900" dirty="0">
                <a:solidFill>
                  <a:srgbClr val="E8C4C4"/>
                </a:solidFill>
                <a:latin typeface="Courier New" pitchFamily="34" charset="0"/>
                <a:ea typeface="Courier New" pitchFamily="34" charset="-122"/>
                <a:cs typeface="Courier New" pitchFamily="34" charset="-120"/>
              </a:rPr>
              <a:t>Online Delivery %</a:t>
            </a:r>
            <a:r>
              <a:rPr lang="en-US" sz="900" dirty="0"/>
              <a:t> </a:t>
            </a:r>
            <a:r>
              <a:rPr lang="en-US" sz="900" dirty="0">
                <a:solidFill>
                  <a:srgbClr val="E8C4C4"/>
                </a:solidFill>
                <a:latin typeface="Courier New" pitchFamily="34" charset="0"/>
                <a:ea typeface="Courier New" pitchFamily="34" charset="-122"/>
                <a:cs typeface="Courier New" pitchFamily="34" charset="-120"/>
              </a:rPr>
              <a:t>= COUNTD(IF [Has_Online_delivery]='Yes'</a:t>
            </a:r>
            <a:endParaRPr lang="en-US" sz="900" dirty="0"/>
          </a:p>
          <a:p>
            <a:pPr marL="0" indent="0">
              <a:buNone/>
            </a:pPr>
            <a:r>
              <a:rPr lang="en-US" sz="900" dirty="0">
                <a:solidFill>
                  <a:srgbClr val="E8C4C4"/>
                </a:solidFill>
                <a:latin typeface="Courier New" pitchFamily="34" charset="0"/>
                <a:ea typeface="Courier New" pitchFamily="34" charset="-122"/>
                <a:cs typeface="Courier New" pitchFamily="34" charset="-120"/>
              </a:rPr>
              <a:t>THEN [RestaurantID] END)</a:t>
            </a:r>
            <a:endParaRPr lang="en-US" sz="900" dirty="0"/>
          </a:p>
          <a:p>
            <a:pPr marL="0" indent="0">
              <a:buNone/>
            </a:pPr>
            <a:r>
              <a:rPr lang="en-US" sz="900" dirty="0">
                <a:solidFill>
                  <a:srgbClr val="E8C4C4"/>
                </a:solidFill>
                <a:latin typeface="Courier New" pitchFamily="34" charset="0"/>
                <a:ea typeface="Courier New" pitchFamily="34" charset="-122"/>
                <a:cs typeface="Courier New" pitchFamily="34" charset="-120"/>
              </a:rPr>
              <a:t>/ TOTAL(COUNT([RestaurantID])) * 100</a:t>
            </a:r>
            <a:endParaRPr lang="en-US" sz="900" dirty="0"/>
          </a:p>
        </p:txBody>
      </p:sp>
      <p:sp>
        <p:nvSpPr>
          <p:cNvPr id="36" name="Shape 34"/>
          <p:cNvSpPr/>
          <p:nvPr/>
        </p:nvSpPr>
        <p:spPr>
          <a:xfrm>
            <a:off x="4663440" y="2779776"/>
            <a:ext cx="4114800" cy="475488"/>
          </a:xfrm>
          <a:prstGeom prst="rect">
            <a:avLst/>
          </a:prstGeom>
          <a:solidFill>
            <a:srgbClr val="1A1A2E"/>
          </a:solidFill>
          <a:ln/>
        </p:spPr>
      </p:sp>
      <p:sp>
        <p:nvSpPr>
          <p:cNvPr id="37" name="Text 35"/>
          <p:cNvSpPr/>
          <p:nvPr/>
        </p:nvSpPr>
        <p:spPr>
          <a:xfrm>
            <a:off x="4754880" y="2798064"/>
            <a:ext cx="3931920" cy="438912"/>
          </a:xfrm>
          <a:prstGeom prst="rect">
            <a:avLst/>
          </a:prstGeom>
          <a:noFill/>
          <a:ln/>
        </p:spPr>
        <p:txBody>
          <a:bodyPr wrap="square" lIns="0" tIns="0" rIns="0" bIns="0" rtlCol="0" anchor="ctr"/>
          <a:lstStyle/>
          <a:p>
            <a:pPr marL="0" indent="0">
              <a:buNone/>
            </a:pPr>
            <a:r>
              <a:rPr lang="en-US" sz="900" dirty="0">
                <a:solidFill>
                  <a:srgbClr val="E8C4C4"/>
                </a:solidFill>
                <a:latin typeface="Courier New" pitchFamily="34" charset="0"/>
                <a:ea typeface="Courier New" pitchFamily="34" charset="-122"/>
                <a:cs typeface="Courier New" pitchFamily="34" charset="-120"/>
              </a:rPr>
              <a:t>Table Booking %</a:t>
            </a:r>
            <a:r>
              <a:rPr lang="en-US" sz="900" dirty="0"/>
              <a:t> </a:t>
            </a:r>
            <a:r>
              <a:rPr lang="en-US" sz="900" dirty="0">
                <a:solidFill>
                  <a:srgbClr val="E8C4C4"/>
                </a:solidFill>
                <a:latin typeface="Courier New" pitchFamily="34" charset="0"/>
                <a:ea typeface="Courier New" pitchFamily="34" charset="-122"/>
                <a:cs typeface="Courier New" pitchFamily="34" charset="-120"/>
              </a:rPr>
              <a:t>= COUNTD(IF [Has_Table_booking]='Yes'</a:t>
            </a:r>
            <a:endParaRPr lang="en-US" sz="900" dirty="0"/>
          </a:p>
          <a:p>
            <a:pPr marL="0" indent="0">
              <a:buNone/>
            </a:pPr>
            <a:r>
              <a:rPr lang="en-US" sz="900" dirty="0">
                <a:solidFill>
                  <a:srgbClr val="E8C4C4"/>
                </a:solidFill>
                <a:latin typeface="Courier New" pitchFamily="34" charset="0"/>
                <a:ea typeface="Courier New" pitchFamily="34" charset="-122"/>
                <a:cs typeface="Courier New" pitchFamily="34" charset="-120"/>
              </a:rPr>
              <a:t>THEN [RestaurantID] END)</a:t>
            </a:r>
            <a:endParaRPr lang="en-US" sz="900" dirty="0"/>
          </a:p>
          <a:p>
            <a:pPr marL="0" indent="0">
              <a:buNone/>
            </a:pPr>
            <a:r>
              <a:rPr lang="en-US" sz="900" dirty="0">
                <a:solidFill>
                  <a:srgbClr val="E8C4C4"/>
                </a:solidFill>
                <a:latin typeface="Courier New" pitchFamily="34" charset="0"/>
                <a:ea typeface="Courier New" pitchFamily="34" charset="-122"/>
                <a:cs typeface="Courier New" pitchFamily="34" charset="-120"/>
              </a:rPr>
              <a:t>/ TOTAL(COUNT([RestaurantID])) * 100</a:t>
            </a:r>
            <a:endParaRPr lang="en-US" sz="900" dirty="0"/>
          </a:p>
        </p:txBody>
      </p:sp>
      <p:sp>
        <p:nvSpPr>
          <p:cNvPr id="38" name="Text 36"/>
          <p:cNvSpPr/>
          <p:nvPr/>
        </p:nvSpPr>
        <p:spPr>
          <a:xfrm>
            <a:off x="4663440" y="3401568"/>
            <a:ext cx="411480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Filters / Parameters Added</a:t>
            </a:r>
            <a:endParaRPr lang="en-US" sz="1400" dirty="0"/>
          </a:p>
        </p:txBody>
      </p:sp>
      <p:sp>
        <p:nvSpPr>
          <p:cNvPr id="39" name="Shape 37"/>
          <p:cNvSpPr/>
          <p:nvPr/>
        </p:nvSpPr>
        <p:spPr>
          <a:xfrm>
            <a:off x="4663440" y="3749040"/>
            <a:ext cx="1280160" cy="475488"/>
          </a:xfrm>
          <a:prstGeom prst="rect">
            <a:avLst/>
          </a:prstGeom>
          <a:solidFill>
            <a:srgbClr val="CB202D"/>
          </a:solidFill>
          <a:ln/>
          <a:effectLst>
            <a:outerShdw blurRad="63500" dist="25400" dir="8100000" algn="bl" rotWithShape="0">
              <a:srgbClr val="999999">
                <a:alpha val="20000"/>
              </a:srgbClr>
            </a:outerShdw>
          </a:effectLst>
        </p:spPr>
      </p:sp>
      <p:sp>
        <p:nvSpPr>
          <p:cNvPr id="40" name="Text 38"/>
          <p:cNvSpPr/>
          <p:nvPr/>
        </p:nvSpPr>
        <p:spPr>
          <a:xfrm>
            <a:off x="4663440" y="3749040"/>
            <a:ext cx="128016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Country</a:t>
            </a:r>
            <a:endParaRPr lang="en-US" sz="1400" dirty="0"/>
          </a:p>
        </p:txBody>
      </p:sp>
      <p:sp>
        <p:nvSpPr>
          <p:cNvPr id="41" name="Shape 39"/>
          <p:cNvSpPr/>
          <p:nvPr/>
        </p:nvSpPr>
        <p:spPr>
          <a:xfrm>
            <a:off x="6053328" y="3749040"/>
            <a:ext cx="1280160" cy="475488"/>
          </a:xfrm>
          <a:prstGeom prst="rect">
            <a:avLst/>
          </a:prstGeom>
          <a:solidFill>
            <a:srgbClr val="CB202D"/>
          </a:solidFill>
          <a:ln/>
          <a:effectLst>
            <a:outerShdw blurRad="63500" dist="25400" dir="8100000" algn="bl" rotWithShape="0">
              <a:srgbClr val="999999">
                <a:alpha val="20000"/>
              </a:srgbClr>
            </a:outerShdw>
          </a:effectLst>
        </p:spPr>
      </p:sp>
      <p:sp>
        <p:nvSpPr>
          <p:cNvPr id="42" name="Text 40"/>
          <p:cNvSpPr/>
          <p:nvPr/>
        </p:nvSpPr>
        <p:spPr>
          <a:xfrm>
            <a:off x="6053328" y="3749040"/>
            <a:ext cx="128016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City</a:t>
            </a:r>
            <a:endParaRPr lang="en-US" sz="1400" dirty="0"/>
          </a:p>
        </p:txBody>
      </p:sp>
      <p:sp>
        <p:nvSpPr>
          <p:cNvPr id="43" name="Shape 41"/>
          <p:cNvSpPr/>
          <p:nvPr/>
        </p:nvSpPr>
        <p:spPr>
          <a:xfrm>
            <a:off x="7443216" y="3749040"/>
            <a:ext cx="1280160" cy="475488"/>
          </a:xfrm>
          <a:prstGeom prst="rect">
            <a:avLst/>
          </a:prstGeom>
          <a:solidFill>
            <a:srgbClr val="CB202D"/>
          </a:solidFill>
          <a:ln/>
          <a:effectLst>
            <a:outerShdw blurRad="63500" dist="25400" dir="8100000" algn="bl" rotWithShape="0">
              <a:srgbClr val="999999">
                <a:alpha val="20000"/>
              </a:srgbClr>
            </a:outerShdw>
          </a:effectLst>
        </p:spPr>
      </p:sp>
      <p:sp>
        <p:nvSpPr>
          <p:cNvPr id="44" name="Text 42"/>
          <p:cNvSpPr/>
          <p:nvPr/>
        </p:nvSpPr>
        <p:spPr>
          <a:xfrm>
            <a:off x="7443216" y="3749040"/>
            <a:ext cx="128016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Year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CB202D"/>
          </a:solidFill>
          <a:ln/>
        </p:spPr>
      </p:sp>
      <p:sp>
        <p:nvSpPr>
          <p:cNvPr id="3" name="Text 1"/>
          <p:cNvSpPr/>
          <p:nvPr/>
        </p:nvSpPr>
        <p:spPr>
          <a:xfrm>
            <a:off x="274320" y="0"/>
            <a:ext cx="859536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TABLEAU DASHBOARD — ZOMATO ANALYTICS</a:t>
            </a:r>
            <a:endParaRPr lang="en-US" sz="2000" dirty="0"/>
          </a:p>
        </p:txBody>
      </p:sp>
      <p:sp>
        <p:nvSpPr>
          <p:cNvPr id="6" name="Text 4"/>
          <p:cNvSpPr/>
          <p:nvPr/>
        </p:nvSpPr>
        <p:spPr>
          <a:xfrm>
            <a:off x="274320" y="640080"/>
            <a:ext cx="8595360" cy="402336"/>
          </a:xfrm>
          <a:prstGeom prst="rect">
            <a:avLst/>
          </a:prstGeom>
          <a:noFill/>
          <a:ln/>
        </p:spPr>
        <p:txBody>
          <a:bodyPr wrap="square" lIns="0" tIns="0" rIns="0" bIns="0" rtlCol="0" anchor="ctr"/>
          <a:lstStyle/>
          <a:p>
            <a:pPr marL="0" indent="0" algn="ctr">
              <a:buNone/>
            </a:pPr>
            <a:endParaRPr lang="en-US" sz="1400" dirty="0"/>
          </a:p>
        </p:txBody>
      </p:sp>
      <p:sp>
        <p:nvSpPr>
          <p:cNvPr id="48" name="Shape 46"/>
          <p:cNvSpPr/>
          <p:nvPr/>
        </p:nvSpPr>
        <p:spPr>
          <a:xfrm>
            <a:off x="0" y="4846320"/>
            <a:ext cx="9144000" cy="297180"/>
          </a:xfrm>
          <a:prstGeom prst="rect">
            <a:avLst/>
          </a:prstGeom>
          <a:solidFill>
            <a:srgbClr val="8B0000"/>
          </a:solidFill>
          <a:ln/>
        </p:spPr>
      </p:sp>
      <p:sp>
        <p:nvSpPr>
          <p:cNvPr id="49" name="Text 47"/>
          <p:cNvSpPr/>
          <p:nvPr/>
        </p:nvSpPr>
        <p:spPr>
          <a:xfrm>
            <a:off x="274320" y="4855464"/>
            <a:ext cx="8595360" cy="274320"/>
          </a:xfrm>
          <a:prstGeom prst="rect">
            <a:avLst/>
          </a:prstGeom>
          <a:noFill/>
          <a:ln/>
        </p:spPr>
        <p:txBody>
          <a:bodyPr wrap="square" lIns="0" tIns="0" rIns="0" bIns="0" rtlCol="0" anchor="ctr"/>
          <a:lstStyle/>
          <a:p>
            <a:pPr marL="0" indent="0" algn="ctr">
              <a:buNone/>
            </a:pPr>
            <a:r>
              <a:rPr lang="en-US" sz="1000" i="1" dirty="0">
                <a:solidFill>
                  <a:srgbClr val="E8C4C4"/>
                </a:solidFill>
                <a:latin typeface="Times New Roman" pitchFamily="34" charset="0"/>
                <a:ea typeface="Times New Roman" pitchFamily="34" charset="-122"/>
                <a:cs typeface="Times New Roman" pitchFamily="34" charset="-120"/>
              </a:rPr>
              <a:t>Week 3 — Tableau Dashboard  |  Filters: Country · City · Year  |  Calculated Fields Applied</a:t>
            </a:r>
            <a:endParaRPr lang="en-US" sz="1000" dirty="0"/>
          </a:p>
        </p:txBody>
      </p:sp>
      <p:pic>
        <p:nvPicPr>
          <p:cNvPr id="8" name="Picture 7">
            <a:extLst>
              <a:ext uri="{FF2B5EF4-FFF2-40B4-BE49-F238E27FC236}">
                <a16:creationId xmlns:a16="http://schemas.microsoft.com/office/drawing/2014/main" id="{9760DB79-0AE4-9886-DC69-9ABFE7074B8E}"/>
              </a:ext>
            </a:extLst>
          </p:cNvPr>
          <p:cNvPicPr>
            <a:picLocks noChangeAspect="1"/>
          </p:cNvPicPr>
          <p:nvPr/>
        </p:nvPicPr>
        <p:blipFill>
          <a:blip r:embed="rId3"/>
          <a:stretch>
            <a:fillRect/>
          </a:stretch>
        </p:blipFill>
        <p:spPr>
          <a:xfrm>
            <a:off x="0" y="548640"/>
            <a:ext cx="9144000" cy="43068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KEY KPIs &amp; METRICS</a:t>
            </a:r>
            <a:endParaRPr lang="en-US" sz="2200" dirty="0"/>
          </a:p>
        </p:txBody>
      </p:sp>
      <p:sp>
        <p:nvSpPr>
          <p:cNvPr id="7" name="Shape 5"/>
          <p:cNvSpPr/>
          <p:nvPr/>
        </p:nvSpPr>
        <p:spPr>
          <a:xfrm>
            <a:off x="347472" y="658368"/>
            <a:ext cx="2011680" cy="1920240"/>
          </a:xfrm>
          <a:prstGeom prst="rect">
            <a:avLst/>
          </a:prstGeom>
          <a:solidFill>
            <a:srgbClr val="CB202D"/>
          </a:solidFill>
          <a:ln/>
          <a:effectLst>
            <a:outerShdw blurRad="101600" dist="25400" dir="8100000" algn="bl" rotWithShape="0">
              <a:srgbClr val="000000">
                <a:alpha val="20000"/>
              </a:srgbClr>
            </a:outerShdw>
          </a:effectLst>
        </p:spPr>
      </p:sp>
      <p:sp>
        <p:nvSpPr>
          <p:cNvPr id="8" name="Text 6"/>
          <p:cNvSpPr/>
          <p:nvPr/>
        </p:nvSpPr>
        <p:spPr>
          <a:xfrm>
            <a:off x="347472" y="841248"/>
            <a:ext cx="20116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Times New Roman" pitchFamily="34" charset="0"/>
                <a:ea typeface="Times New Roman" pitchFamily="34" charset="-122"/>
                <a:cs typeface="Times New Roman" pitchFamily="34" charset="-120"/>
              </a:rPr>
              <a:t>9,551</a:t>
            </a:r>
            <a:endParaRPr lang="en-US" sz="3400" dirty="0"/>
          </a:p>
        </p:txBody>
      </p:sp>
      <p:sp>
        <p:nvSpPr>
          <p:cNvPr id="9" name="Shape 7"/>
          <p:cNvSpPr/>
          <p:nvPr/>
        </p:nvSpPr>
        <p:spPr>
          <a:xfrm>
            <a:off x="667512" y="1645920"/>
            <a:ext cx="1371600" cy="36576"/>
          </a:xfrm>
          <a:prstGeom prst="rect">
            <a:avLst/>
          </a:prstGeom>
          <a:solidFill>
            <a:srgbClr val="E8C4C4"/>
          </a:solidFill>
          <a:ln/>
        </p:spPr>
      </p:sp>
      <p:sp>
        <p:nvSpPr>
          <p:cNvPr id="10" name="Text 8"/>
          <p:cNvSpPr/>
          <p:nvPr/>
        </p:nvSpPr>
        <p:spPr>
          <a:xfrm>
            <a:off x="347472" y="1719072"/>
            <a:ext cx="20116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Total Restaurants</a:t>
            </a:r>
            <a:endParaRPr lang="en-US" sz="1300" dirty="0"/>
          </a:p>
        </p:txBody>
      </p:sp>
      <p:sp>
        <p:nvSpPr>
          <p:cNvPr id="11" name="Text 9"/>
          <p:cNvSpPr/>
          <p:nvPr/>
        </p:nvSpPr>
        <p:spPr>
          <a:xfrm>
            <a:off x="347472" y="2048256"/>
            <a:ext cx="2011680" cy="274320"/>
          </a:xfrm>
          <a:prstGeom prst="rect">
            <a:avLst/>
          </a:prstGeom>
          <a:noFill/>
          <a:ln/>
        </p:spPr>
        <p:txBody>
          <a:bodyPr wrap="square" lIns="0" tIns="0" rIns="0" bIns="0" rtlCol="0" anchor="ctr"/>
          <a:lstStyle/>
          <a:p>
            <a:pPr marL="0" indent="0" algn="ctr">
              <a:buNone/>
            </a:pPr>
            <a:r>
              <a:rPr lang="en-US" sz="1050" dirty="0">
                <a:solidFill>
                  <a:srgbClr val="E8C4C4"/>
                </a:solidFill>
                <a:latin typeface="Times New Roman" pitchFamily="34" charset="0"/>
                <a:ea typeface="Times New Roman" pitchFamily="34" charset="-122"/>
                <a:cs typeface="Times New Roman" pitchFamily="34" charset="-120"/>
              </a:rPr>
              <a:t>Across 15 countries</a:t>
            </a:r>
            <a:endParaRPr lang="en-US" sz="1050" dirty="0"/>
          </a:p>
        </p:txBody>
      </p:sp>
      <p:sp>
        <p:nvSpPr>
          <p:cNvPr id="12" name="Shape 10"/>
          <p:cNvSpPr/>
          <p:nvPr/>
        </p:nvSpPr>
        <p:spPr>
          <a:xfrm>
            <a:off x="2523744" y="658368"/>
            <a:ext cx="2011680" cy="1920240"/>
          </a:xfrm>
          <a:prstGeom prst="rect">
            <a:avLst/>
          </a:prstGeom>
          <a:solidFill>
            <a:srgbClr val="1A1A2E"/>
          </a:solidFill>
          <a:ln/>
          <a:effectLst>
            <a:outerShdw blurRad="101600" dist="25400" dir="8100000" algn="bl" rotWithShape="0">
              <a:srgbClr val="000000">
                <a:alpha val="20000"/>
              </a:srgbClr>
            </a:outerShdw>
          </a:effectLst>
        </p:spPr>
      </p:sp>
      <p:sp>
        <p:nvSpPr>
          <p:cNvPr id="13" name="Text 11"/>
          <p:cNvSpPr/>
          <p:nvPr/>
        </p:nvSpPr>
        <p:spPr>
          <a:xfrm>
            <a:off x="2523744" y="841248"/>
            <a:ext cx="20116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Times New Roman" pitchFamily="34" charset="0"/>
                <a:ea typeface="Times New Roman" pitchFamily="34" charset="-122"/>
                <a:cs typeface="Times New Roman" pitchFamily="34" charset="-120"/>
              </a:rPr>
              <a:t>2.54</a:t>
            </a:r>
            <a:endParaRPr lang="en-US" sz="3400" dirty="0"/>
          </a:p>
        </p:txBody>
      </p:sp>
      <p:sp>
        <p:nvSpPr>
          <p:cNvPr id="14" name="Shape 12"/>
          <p:cNvSpPr/>
          <p:nvPr/>
        </p:nvSpPr>
        <p:spPr>
          <a:xfrm>
            <a:off x="2843784" y="1645920"/>
            <a:ext cx="1371600" cy="36576"/>
          </a:xfrm>
          <a:prstGeom prst="rect">
            <a:avLst/>
          </a:prstGeom>
          <a:solidFill>
            <a:srgbClr val="E8C4C4"/>
          </a:solidFill>
          <a:ln/>
        </p:spPr>
      </p:sp>
      <p:sp>
        <p:nvSpPr>
          <p:cNvPr id="15" name="Text 13"/>
          <p:cNvSpPr/>
          <p:nvPr/>
        </p:nvSpPr>
        <p:spPr>
          <a:xfrm>
            <a:off x="2523744" y="1719072"/>
            <a:ext cx="20116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Average Rating</a:t>
            </a:r>
            <a:endParaRPr lang="en-US" sz="1300" dirty="0"/>
          </a:p>
        </p:txBody>
      </p:sp>
      <p:sp>
        <p:nvSpPr>
          <p:cNvPr id="16" name="Text 14"/>
          <p:cNvSpPr/>
          <p:nvPr/>
        </p:nvSpPr>
        <p:spPr>
          <a:xfrm>
            <a:off x="2523744" y="2048256"/>
            <a:ext cx="2011680" cy="274320"/>
          </a:xfrm>
          <a:prstGeom prst="rect">
            <a:avLst/>
          </a:prstGeom>
          <a:noFill/>
          <a:ln/>
        </p:spPr>
        <p:txBody>
          <a:bodyPr wrap="square" lIns="0" tIns="0" rIns="0" bIns="0" rtlCol="0" anchor="ctr"/>
          <a:lstStyle/>
          <a:p>
            <a:pPr marL="0" indent="0" algn="ctr">
              <a:buNone/>
            </a:pPr>
            <a:r>
              <a:rPr lang="en-US" sz="1050" dirty="0">
                <a:solidFill>
                  <a:srgbClr val="E8C4C4"/>
                </a:solidFill>
                <a:latin typeface="Times New Roman" pitchFamily="34" charset="0"/>
                <a:ea typeface="Times New Roman" pitchFamily="34" charset="-122"/>
                <a:cs typeface="Times New Roman" pitchFamily="34" charset="-120"/>
              </a:rPr>
              <a:t>Out of 5.0 scale</a:t>
            </a:r>
            <a:endParaRPr lang="en-US" sz="1050" dirty="0"/>
          </a:p>
        </p:txBody>
      </p:sp>
      <p:sp>
        <p:nvSpPr>
          <p:cNvPr id="17" name="Shape 15"/>
          <p:cNvSpPr/>
          <p:nvPr/>
        </p:nvSpPr>
        <p:spPr>
          <a:xfrm>
            <a:off x="4700016" y="658368"/>
            <a:ext cx="2011680" cy="1920240"/>
          </a:xfrm>
          <a:prstGeom prst="rect">
            <a:avLst/>
          </a:prstGeom>
          <a:solidFill>
            <a:srgbClr val="CB202D"/>
          </a:solidFill>
          <a:ln/>
          <a:effectLst>
            <a:outerShdw blurRad="101600" dist="25400" dir="8100000" algn="bl" rotWithShape="0">
              <a:srgbClr val="000000">
                <a:alpha val="20000"/>
              </a:srgbClr>
            </a:outerShdw>
          </a:effectLst>
        </p:spPr>
      </p:sp>
      <p:sp>
        <p:nvSpPr>
          <p:cNvPr id="18" name="Text 16"/>
          <p:cNvSpPr/>
          <p:nvPr/>
        </p:nvSpPr>
        <p:spPr>
          <a:xfrm>
            <a:off x="4700016" y="841248"/>
            <a:ext cx="20116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Times New Roman" pitchFamily="34" charset="0"/>
                <a:ea typeface="Times New Roman" pitchFamily="34" charset="-122"/>
                <a:cs typeface="Times New Roman" pitchFamily="34" charset="-120"/>
              </a:rPr>
              <a:t>25.66%</a:t>
            </a:r>
            <a:endParaRPr lang="en-US" sz="3400" dirty="0"/>
          </a:p>
        </p:txBody>
      </p:sp>
      <p:sp>
        <p:nvSpPr>
          <p:cNvPr id="19" name="Shape 17"/>
          <p:cNvSpPr/>
          <p:nvPr/>
        </p:nvSpPr>
        <p:spPr>
          <a:xfrm>
            <a:off x="5020056" y="1645920"/>
            <a:ext cx="1371600" cy="36576"/>
          </a:xfrm>
          <a:prstGeom prst="rect">
            <a:avLst/>
          </a:prstGeom>
          <a:solidFill>
            <a:srgbClr val="E8C4C4"/>
          </a:solidFill>
          <a:ln/>
        </p:spPr>
      </p:sp>
      <p:sp>
        <p:nvSpPr>
          <p:cNvPr id="20" name="Text 18"/>
          <p:cNvSpPr/>
          <p:nvPr/>
        </p:nvSpPr>
        <p:spPr>
          <a:xfrm>
            <a:off x="4700016" y="1719072"/>
            <a:ext cx="20116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Online Delivery</a:t>
            </a:r>
            <a:endParaRPr lang="en-US" sz="1300" dirty="0"/>
          </a:p>
        </p:txBody>
      </p:sp>
      <p:sp>
        <p:nvSpPr>
          <p:cNvPr id="21" name="Text 19"/>
          <p:cNvSpPr/>
          <p:nvPr/>
        </p:nvSpPr>
        <p:spPr>
          <a:xfrm>
            <a:off x="4700016" y="2048256"/>
            <a:ext cx="2011680" cy="274320"/>
          </a:xfrm>
          <a:prstGeom prst="rect">
            <a:avLst/>
          </a:prstGeom>
          <a:noFill/>
          <a:ln/>
        </p:spPr>
        <p:txBody>
          <a:bodyPr wrap="square" lIns="0" tIns="0" rIns="0" bIns="0" rtlCol="0" anchor="ctr"/>
          <a:lstStyle/>
          <a:p>
            <a:pPr marL="0" indent="0" algn="ctr">
              <a:buNone/>
            </a:pPr>
            <a:r>
              <a:rPr lang="en-US" sz="1050" dirty="0">
                <a:solidFill>
                  <a:srgbClr val="E8C4C4"/>
                </a:solidFill>
                <a:latin typeface="Times New Roman" pitchFamily="34" charset="0"/>
                <a:ea typeface="Times New Roman" pitchFamily="34" charset="-122"/>
                <a:cs typeface="Times New Roman" pitchFamily="34" charset="-120"/>
              </a:rPr>
              <a:t>Have delivery option</a:t>
            </a:r>
            <a:endParaRPr lang="en-US" sz="1050" dirty="0"/>
          </a:p>
        </p:txBody>
      </p:sp>
      <p:sp>
        <p:nvSpPr>
          <p:cNvPr id="22" name="Shape 20"/>
          <p:cNvSpPr/>
          <p:nvPr/>
        </p:nvSpPr>
        <p:spPr>
          <a:xfrm>
            <a:off x="6876288" y="658368"/>
            <a:ext cx="2011680" cy="1920240"/>
          </a:xfrm>
          <a:prstGeom prst="rect">
            <a:avLst/>
          </a:prstGeom>
          <a:solidFill>
            <a:srgbClr val="1A1A2E"/>
          </a:solidFill>
          <a:ln/>
          <a:effectLst>
            <a:outerShdw blurRad="101600" dist="25400" dir="8100000" algn="bl" rotWithShape="0">
              <a:srgbClr val="000000">
                <a:alpha val="20000"/>
              </a:srgbClr>
            </a:outerShdw>
          </a:effectLst>
        </p:spPr>
      </p:sp>
      <p:sp>
        <p:nvSpPr>
          <p:cNvPr id="23" name="Text 21"/>
          <p:cNvSpPr/>
          <p:nvPr/>
        </p:nvSpPr>
        <p:spPr>
          <a:xfrm>
            <a:off x="6876288" y="841248"/>
            <a:ext cx="20116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Times New Roman" pitchFamily="34" charset="0"/>
                <a:ea typeface="Times New Roman" pitchFamily="34" charset="-122"/>
                <a:cs typeface="Times New Roman" pitchFamily="34" charset="-120"/>
              </a:rPr>
              <a:t>12.12%</a:t>
            </a:r>
            <a:endParaRPr lang="en-US" sz="3400" dirty="0"/>
          </a:p>
        </p:txBody>
      </p:sp>
      <p:sp>
        <p:nvSpPr>
          <p:cNvPr id="24" name="Shape 22"/>
          <p:cNvSpPr/>
          <p:nvPr/>
        </p:nvSpPr>
        <p:spPr>
          <a:xfrm>
            <a:off x="7196328" y="1645920"/>
            <a:ext cx="1371600" cy="36576"/>
          </a:xfrm>
          <a:prstGeom prst="rect">
            <a:avLst/>
          </a:prstGeom>
          <a:solidFill>
            <a:srgbClr val="E8C4C4"/>
          </a:solidFill>
          <a:ln/>
        </p:spPr>
      </p:sp>
      <p:sp>
        <p:nvSpPr>
          <p:cNvPr id="25" name="Text 23"/>
          <p:cNvSpPr/>
          <p:nvPr/>
        </p:nvSpPr>
        <p:spPr>
          <a:xfrm>
            <a:off x="6876288" y="1719072"/>
            <a:ext cx="20116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Table Booking</a:t>
            </a:r>
            <a:endParaRPr lang="en-US" sz="1300" dirty="0"/>
          </a:p>
        </p:txBody>
      </p:sp>
      <p:sp>
        <p:nvSpPr>
          <p:cNvPr id="26" name="Text 24"/>
          <p:cNvSpPr/>
          <p:nvPr/>
        </p:nvSpPr>
        <p:spPr>
          <a:xfrm>
            <a:off x="6876288" y="2048256"/>
            <a:ext cx="2011680" cy="274320"/>
          </a:xfrm>
          <a:prstGeom prst="rect">
            <a:avLst/>
          </a:prstGeom>
          <a:noFill/>
          <a:ln/>
        </p:spPr>
        <p:txBody>
          <a:bodyPr wrap="square" lIns="0" tIns="0" rIns="0" bIns="0" rtlCol="0" anchor="ctr"/>
          <a:lstStyle/>
          <a:p>
            <a:pPr marL="0" indent="0" algn="ctr">
              <a:buNone/>
            </a:pPr>
            <a:r>
              <a:rPr lang="en-US" sz="1050" dirty="0">
                <a:solidFill>
                  <a:srgbClr val="E8C4C4"/>
                </a:solidFill>
                <a:latin typeface="Times New Roman" pitchFamily="34" charset="0"/>
                <a:ea typeface="Times New Roman" pitchFamily="34" charset="-122"/>
                <a:cs typeface="Times New Roman" pitchFamily="34" charset="-120"/>
              </a:rPr>
              <a:t>Offer reservations</a:t>
            </a:r>
            <a:endParaRPr lang="en-US" sz="1050" dirty="0"/>
          </a:p>
        </p:txBody>
      </p:sp>
      <p:sp>
        <p:nvSpPr>
          <p:cNvPr id="27" name="Text 25"/>
          <p:cNvSpPr/>
          <p:nvPr/>
        </p:nvSpPr>
        <p:spPr>
          <a:xfrm>
            <a:off x="347472" y="2779776"/>
            <a:ext cx="411480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Price Distribution</a:t>
            </a:r>
            <a:endParaRPr lang="en-US" sz="1400" dirty="0"/>
          </a:p>
        </p:txBody>
      </p:sp>
      <p:graphicFrame>
        <p:nvGraphicFramePr>
          <p:cNvPr id="28" name="Chart 0"/>
          <p:cNvGraphicFramePr/>
          <p:nvPr/>
        </p:nvGraphicFramePr>
        <p:xfrm>
          <a:off x="347472" y="3090672"/>
          <a:ext cx="4114800" cy="1554480"/>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 26"/>
          <p:cNvSpPr/>
          <p:nvPr/>
        </p:nvSpPr>
        <p:spPr>
          <a:xfrm>
            <a:off x="4663440" y="2779776"/>
            <a:ext cx="411480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Rating Distribution</a:t>
            </a:r>
            <a:endParaRPr lang="en-US" sz="1400" dirty="0"/>
          </a:p>
        </p:txBody>
      </p:sp>
      <p:graphicFrame>
        <p:nvGraphicFramePr>
          <p:cNvPr id="30" name="Chart 1"/>
          <p:cNvGraphicFramePr/>
          <p:nvPr/>
        </p:nvGraphicFramePr>
        <p:xfrm>
          <a:off x="4663440" y="3090672"/>
          <a:ext cx="4114800" cy="15544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INSIGHTS — PRICING &amp; DELIVERY</a:t>
            </a:r>
            <a:endParaRPr lang="en-US" sz="2200" dirty="0"/>
          </a:p>
        </p:txBody>
      </p:sp>
      <p:sp>
        <p:nvSpPr>
          <p:cNvPr id="7" name="Shape 5"/>
          <p:cNvSpPr/>
          <p:nvPr/>
        </p:nvSpPr>
        <p:spPr>
          <a:xfrm>
            <a:off x="347472" y="658368"/>
            <a:ext cx="8449056" cy="1325880"/>
          </a:xfrm>
          <a:prstGeom prst="rect">
            <a:avLst/>
          </a:prstGeom>
          <a:solidFill>
            <a:srgbClr val="FDF5F5"/>
          </a:solidFill>
          <a:ln/>
          <a:effectLst>
            <a:outerShdw blurRad="63500" dist="25400" dir="8100000" algn="bl" rotWithShape="0">
              <a:srgbClr val="CCCCCC">
                <a:alpha val="20000"/>
              </a:srgbClr>
            </a:outerShdw>
          </a:effectLst>
        </p:spPr>
      </p:sp>
      <p:sp>
        <p:nvSpPr>
          <p:cNvPr id="8" name="Shape 6"/>
          <p:cNvSpPr/>
          <p:nvPr/>
        </p:nvSpPr>
        <p:spPr>
          <a:xfrm>
            <a:off x="347472" y="658368"/>
            <a:ext cx="91440" cy="1325880"/>
          </a:xfrm>
          <a:prstGeom prst="rect">
            <a:avLst/>
          </a:prstGeom>
          <a:solidFill>
            <a:srgbClr val="CB202D"/>
          </a:solidFill>
          <a:ln/>
        </p:spPr>
      </p:sp>
      <p:sp>
        <p:nvSpPr>
          <p:cNvPr id="9" name="Text 7"/>
          <p:cNvSpPr/>
          <p:nvPr/>
        </p:nvSpPr>
        <p:spPr>
          <a:xfrm>
            <a:off x="548640" y="713232"/>
            <a:ext cx="8046720" cy="320040"/>
          </a:xfrm>
          <a:prstGeom prst="rect">
            <a:avLst/>
          </a:prstGeom>
          <a:noFill/>
          <a:ln/>
        </p:spPr>
        <p:txBody>
          <a:bodyPr wrap="square" lIns="0" tIns="0" rIns="0" bIns="0" rtlCol="0" anchor="ctr"/>
          <a:lstStyle/>
          <a:p>
            <a:pPr marL="0" indent="0">
              <a:buNone/>
            </a:pPr>
            <a:r>
              <a:rPr lang="en-US" sz="1500" b="1" dirty="0">
                <a:solidFill>
                  <a:srgbClr val="8B0000"/>
                </a:solidFill>
                <a:latin typeface="Times New Roman" pitchFamily="34" charset="0"/>
                <a:ea typeface="Times New Roman" pitchFamily="34" charset="-122"/>
                <a:cs typeface="Times New Roman" pitchFamily="34" charset="-120"/>
              </a:rPr>
              <a:t>💡  Insight 1: Pricing Trends</a:t>
            </a:r>
            <a:endParaRPr lang="en-US" sz="1500" dirty="0"/>
          </a:p>
        </p:txBody>
      </p:sp>
      <p:sp>
        <p:nvSpPr>
          <p:cNvPr id="10" name="Text 8"/>
          <p:cNvSpPr/>
          <p:nvPr/>
        </p:nvSpPr>
        <p:spPr>
          <a:xfrm>
            <a:off x="548640" y="1024128"/>
            <a:ext cx="8046720" cy="640080"/>
          </a:xfrm>
          <a:prstGeom prst="rect">
            <a:avLst/>
          </a:prstGeom>
          <a:noFill/>
          <a:ln/>
        </p:spPr>
        <p:txBody>
          <a:bodyPr wrap="square" lIns="0" tIns="0" rIns="0" bIns="0" rtlCol="0" anchor="ctr"/>
          <a:lstStyle/>
          <a:p>
            <a:pPr marL="0" indent="0" algn="just">
              <a:buNone/>
            </a:pPr>
            <a:r>
              <a:rPr lang="en-US" sz="1250" dirty="0">
                <a:solidFill>
                  <a:srgbClr val="1A1A2E"/>
                </a:solidFill>
                <a:latin typeface="Times New Roman" pitchFamily="34" charset="0"/>
                <a:ea typeface="Times New Roman" pitchFamily="34" charset="-122"/>
                <a:cs typeface="Times New Roman" pitchFamily="34" charset="-120"/>
              </a:rPr>
              <a:t>54.2% of restaurants fall in the Low Price category (₹0–500), indicating Zomato is dominated by budget-friendly options. Only 8.1% are in the High Price segment (₹1500+), suggesting a largely price-sensitive customer base across the platform.</a:t>
            </a:r>
            <a:endParaRPr lang="en-US" sz="1250" dirty="0"/>
          </a:p>
        </p:txBody>
      </p:sp>
      <p:sp>
        <p:nvSpPr>
          <p:cNvPr id="11" name="Text 9"/>
          <p:cNvSpPr/>
          <p:nvPr/>
        </p:nvSpPr>
        <p:spPr>
          <a:xfrm>
            <a:off x="347472" y="2121408"/>
            <a:ext cx="457200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Online Delivery vs Table Booking</a:t>
            </a:r>
            <a:endParaRPr lang="en-US" sz="1400" dirty="0"/>
          </a:p>
        </p:txBody>
      </p:sp>
      <p:graphicFrame>
        <p:nvGraphicFramePr>
          <p:cNvPr id="12" name="Chart 0"/>
          <p:cNvGraphicFramePr/>
          <p:nvPr/>
        </p:nvGraphicFramePr>
        <p:xfrm>
          <a:off x="347472" y="2450592"/>
          <a:ext cx="329184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3840480" y="2121408"/>
            <a:ext cx="457200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Table Booking Distribution</a:t>
            </a:r>
            <a:endParaRPr lang="en-US" sz="1400" dirty="0"/>
          </a:p>
        </p:txBody>
      </p:sp>
      <p:graphicFrame>
        <p:nvGraphicFramePr>
          <p:cNvPr id="14" name="Chart 1"/>
          <p:cNvGraphicFramePr/>
          <p:nvPr/>
        </p:nvGraphicFramePr>
        <p:xfrm>
          <a:off x="3840480" y="2450592"/>
          <a:ext cx="329184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15" name="Shape 11"/>
          <p:cNvSpPr/>
          <p:nvPr/>
        </p:nvSpPr>
        <p:spPr>
          <a:xfrm>
            <a:off x="7269480" y="2450592"/>
            <a:ext cx="1527048" cy="2103120"/>
          </a:xfrm>
          <a:prstGeom prst="rect">
            <a:avLst/>
          </a:prstGeom>
          <a:solidFill>
            <a:srgbClr val="1A1A2E"/>
          </a:solidFill>
          <a:ln/>
        </p:spPr>
      </p:sp>
      <p:sp>
        <p:nvSpPr>
          <p:cNvPr id="16" name="Text 12"/>
          <p:cNvSpPr/>
          <p:nvPr/>
        </p:nvSpPr>
        <p:spPr>
          <a:xfrm>
            <a:off x="7269480" y="2542032"/>
            <a:ext cx="1527048" cy="502920"/>
          </a:xfrm>
          <a:prstGeom prst="rect">
            <a:avLst/>
          </a:prstGeom>
          <a:noFill/>
          <a:ln/>
        </p:spPr>
        <p:txBody>
          <a:bodyPr wrap="square" lIns="0" tIns="0" rIns="0" bIns="0" rtlCol="0" anchor="ctr"/>
          <a:lstStyle/>
          <a:p>
            <a:pPr marL="0" indent="0" algn="ctr">
              <a:buNone/>
            </a:pPr>
            <a:r>
              <a:rPr lang="en-US" sz="1200" b="1" dirty="0">
                <a:solidFill>
                  <a:srgbClr val="E8C4C4"/>
                </a:solidFill>
                <a:latin typeface="Times New Roman" pitchFamily="34" charset="0"/>
                <a:ea typeface="Times New Roman" pitchFamily="34" charset="-122"/>
                <a:cs typeface="Times New Roman" pitchFamily="34" charset="-120"/>
              </a:rPr>
              <a:t>Key</a:t>
            </a:r>
            <a:endParaRPr lang="en-US" sz="1200" dirty="0"/>
          </a:p>
          <a:p>
            <a:pPr marL="0" indent="0" algn="ctr">
              <a:buNone/>
            </a:pPr>
            <a:r>
              <a:rPr lang="en-US" sz="1200" b="1" dirty="0">
                <a:solidFill>
                  <a:srgbClr val="E8C4C4"/>
                </a:solidFill>
                <a:latin typeface="Times New Roman" pitchFamily="34" charset="0"/>
                <a:ea typeface="Times New Roman" pitchFamily="34" charset="-122"/>
                <a:cs typeface="Times New Roman" pitchFamily="34" charset="-120"/>
              </a:rPr>
              <a:t>Takeaway</a:t>
            </a:r>
            <a:endParaRPr lang="en-US" sz="1200" dirty="0"/>
          </a:p>
        </p:txBody>
      </p:sp>
      <p:sp>
        <p:nvSpPr>
          <p:cNvPr id="17" name="Text 13"/>
          <p:cNvSpPr/>
          <p:nvPr/>
        </p:nvSpPr>
        <p:spPr>
          <a:xfrm>
            <a:off x="7315200" y="3108960"/>
            <a:ext cx="1435608" cy="1234440"/>
          </a:xfrm>
          <a:prstGeom prst="rect">
            <a:avLst/>
          </a:prstGeom>
          <a:noFill/>
          <a:ln/>
        </p:spPr>
        <p:txBody>
          <a:bodyPr wrap="square" lIns="0" tIns="0" rIns="0" bIns="0" rtlCol="0" anchor="ctr"/>
          <a:lstStyle/>
          <a:p>
            <a:pPr marL="0" indent="0" algn="l">
              <a:buNone/>
            </a:pPr>
            <a:r>
              <a:rPr lang="en-US" sz="1000" dirty="0">
                <a:solidFill>
                  <a:srgbClr val="FFFFFF"/>
                </a:solidFill>
                <a:latin typeface="Times New Roman" pitchFamily="34" charset="0"/>
                <a:ea typeface="Times New Roman" pitchFamily="34" charset="-122"/>
                <a:cs typeface="Times New Roman" pitchFamily="34" charset="-120"/>
              </a:rPr>
              <a:t>Online delivery (25.66%) is 2× more common than table booking (12.12%). Customers clearly prefer delivery over dine-in reservations.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INSIGHTS — RATINGS &amp; CITY DISTRIBUTION</a:t>
            </a:r>
            <a:endParaRPr lang="en-US" sz="2200" dirty="0"/>
          </a:p>
        </p:txBody>
      </p:sp>
      <p:sp>
        <p:nvSpPr>
          <p:cNvPr id="7" name="Shape 5"/>
          <p:cNvSpPr/>
          <p:nvPr/>
        </p:nvSpPr>
        <p:spPr>
          <a:xfrm>
            <a:off x="347472" y="658368"/>
            <a:ext cx="8449056" cy="1143000"/>
          </a:xfrm>
          <a:prstGeom prst="rect">
            <a:avLst/>
          </a:prstGeom>
          <a:solidFill>
            <a:srgbClr val="FDF5F5"/>
          </a:solidFill>
          <a:ln/>
        </p:spPr>
      </p:sp>
      <p:sp>
        <p:nvSpPr>
          <p:cNvPr id="8" name="Shape 6"/>
          <p:cNvSpPr/>
          <p:nvPr/>
        </p:nvSpPr>
        <p:spPr>
          <a:xfrm>
            <a:off x="347472" y="658368"/>
            <a:ext cx="91440" cy="1143000"/>
          </a:xfrm>
          <a:prstGeom prst="rect">
            <a:avLst/>
          </a:prstGeom>
          <a:solidFill>
            <a:srgbClr val="CB202D"/>
          </a:solidFill>
          <a:ln/>
        </p:spPr>
      </p:sp>
      <p:sp>
        <p:nvSpPr>
          <p:cNvPr id="9" name="Text 7"/>
          <p:cNvSpPr/>
          <p:nvPr/>
        </p:nvSpPr>
        <p:spPr>
          <a:xfrm>
            <a:off x="548640" y="713232"/>
            <a:ext cx="8046720" cy="292608"/>
          </a:xfrm>
          <a:prstGeom prst="rect">
            <a:avLst/>
          </a:prstGeom>
          <a:noFill/>
          <a:ln/>
        </p:spPr>
        <p:txBody>
          <a:bodyPr wrap="square" lIns="0" tIns="0" rIns="0" bIns="0" rtlCol="0" anchor="ctr"/>
          <a:lstStyle/>
          <a:p>
            <a:pPr marL="0" indent="0">
              <a:buNone/>
            </a:pPr>
            <a:r>
              <a:rPr lang="en-US" sz="1500" b="1" dirty="0">
                <a:solidFill>
                  <a:srgbClr val="8B0000"/>
                </a:solidFill>
                <a:latin typeface="Times New Roman" pitchFamily="34" charset="0"/>
                <a:ea typeface="Times New Roman" pitchFamily="34" charset="-122"/>
                <a:cs typeface="Times New Roman" pitchFamily="34" charset="-120"/>
              </a:rPr>
              <a:t>💡  Insight 2: Customer Ratings</a:t>
            </a:r>
            <a:endParaRPr lang="en-US" sz="1500" dirty="0"/>
          </a:p>
        </p:txBody>
      </p:sp>
      <p:sp>
        <p:nvSpPr>
          <p:cNvPr id="10" name="Text 8"/>
          <p:cNvSpPr/>
          <p:nvPr/>
        </p:nvSpPr>
        <p:spPr>
          <a:xfrm>
            <a:off x="548640" y="1005840"/>
            <a:ext cx="8046720" cy="566928"/>
          </a:xfrm>
          <a:prstGeom prst="rect">
            <a:avLst/>
          </a:prstGeom>
          <a:noFill/>
          <a:ln/>
        </p:spPr>
        <p:txBody>
          <a:bodyPr wrap="square" lIns="0" tIns="0" rIns="0" bIns="0" rtlCol="0" anchor="ctr"/>
          <a:lstStyle/>
          <a:p>
            <a:pPr marL="0" indent="0" algn="just">
              <a:buNone/>
            </a:pPr>
            <a:r>
              <a:rPr lang="en-US" sz="1250" dirty="0">
                <a:solidFill>
                  <a:srgbClr val="1A1A2E"/>
                </a:solidFill>
                <a:latin typeface="Times New Roman" pitchFamily="34" charset="0"/>
                <a:ea typeface="Times New Roman" pitchFamily="34" charset="-122"/>
                <a:cs typeface="Times New Roman" pitchFamily="34" charset="-120"/>
              </a:rPr>
              <a:t>Average rating of 2.54/5 shows moderate satisfaction. The 3–4 bucket has the highest count (4,600), meaning most restaurants offer average-to-good experiences. Very few achieve excellence (4–5 range: only 1,400 restaurants).</a:t>
            </a:r>
            <a:endParaRPr lang="en-US" sz="1250" dirty="0"/>
          </a:p>
        </p:txBody>
      </p:sp>
      <p:sp>
        <p:nvSpPr>
          <p:cNvPr id="11" name="Text 9"/>
          <p:cNvSpPr/>
          <p:nvPr/>
        </p:nvSpPr>
        <p:spPr>
          <a:xfrm>
            <a:off x="347472" y="1920240"/>
            <a:ext cx="502920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Top Cities by Restaurant Count</a:t>
            </a:r>
            <a:endParaRPr lang="en-US" sz="1400" dirty="0"/>
          </a:p>
        </p:txBody>
      </p:sp>
      <p:graphicFrame>
        <p:nvGraphicFramePr>
          <p:cNvPr id="12" name="Chart 0"/>
          <p:cNvGraphicFramePr/>
          <p:nvPr/>
        </p:nvGraphicFramePr>
        <p:xfrm>
          <a:off x="347472" y="2240280"/>
          <a:ext cx="50292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5532120" y="1920240"/>
            <a:ext cx="3246120" cy="292608"/>
          </a:xfrm>
          <a:prstGeom prst="rect">
            <a:avLst/>
          </a:prstGeom>
          <a:noFill/>
          <a:ln/>
        </p:spPr>
        <p:txBody>
          <a:bodyPr wrap="square" lIns="0" tIns="0" rIns="0" bIns="0" rtlCol="0" anchor="ctr"/>
          <a:lstStyle/>
          <a:p>
            <a:pPr marL="0" indent="0">
              <a:buNone/>
            </a:pPr>
            <a:r>
              <a:rPr lang="en-US" sz="1400" b="1" dirty="0">
                <a:solidFill>
                  <a:srgbClr val="CB202D"/>
                </a:solidFill>
                <a:latin typeface="Times New Roman" pitchFamily="34" charset="0"/>
                <a:ea typeface="Times New Roman" pitchFamily="34" charset="-122"/>
                <a:cs typeface="Times New Roman" pitchFamily="34" charset="-120"/>
              </a:rPr>
              <a:t>Restaurant Openings Trend</a:t>
            </a:r>
            <a:endParaRPr lang="en-US" sz="1400" dirty="0"/>
          </a:p>
        </p:txBody>
      </p:sp>
      <p:graphicFrame>
        <p:nvGraphicFramePr>
          <p:cNvPr id="14" name="Chart 1"/>
          <p:cNvGraphicFramePr/>
          <p:nvPr/>
        </p:nvGraphicFramePr>
        <p:xfrm>
          <a:off x="5532120" y="2240280"/>
          <a:ext cx="324612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CHALLENGES &amp; LEARNINGS</a:t>
            </a:r>
            <a:endParaRPr lang="en-US" sz="2200" dirty="0"/>
          </a:p>
        </p:txBody>
      </p:sp>
      <p:sp>
        <p:nvSpPr>
          <p:cNvPr id="7" name="Shape 5"/>
          <p:cNvSpPr/>
          <p:nvPr/>
        </p:nvSpPr>
        <p:spPr>
          <a:xfrm>
            <a:off x="347472" y="640080"/>
            <a:ext cx="3931920" cy="384048"/>
          </a:xfrm>
          <a:prstGeom prst="rect">
            <a:avLst/>
          </a:prstGeom>
          <a:solidFill>
            <a:srgbClr val="CB202D"/>
          </a:solidFill>
          <a:ln/>
        </p:spPr>
      </p:sp>
      <p:sp>
        <p:nvSpPr>
          <p:cNvPr id="8" name="Text 6"/>
          <p:cNvSpPr/>
          <p:nvPr/>
        </p:nvSpPr>
        <p:spPr>
          <a:xfrm>
            <a:off x="438912" y="640080"/>
            <a:ext cx="3749040" cy="384048"/>
          </a:xfrm>
          <a:prstGeom prst="rect">
            <a:avLst/>
          </a:prstGeom>
          <a:noFill/>
          <a:ln/>
        </p:spPr>
        <p:txBody>
          <a:bodyPr wrap="square" lIns="0" tIns="0" rIns="0" bIns="0"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Challenges Faced</a:t>
            </a:r>
            <a:endParaRPr lang="en-US" sz="1600" dirty="0"/>
          </a:p>
        </p:txBody>
      </p:sp>
      <p:sp>
        <p:nvSpPr>
          <p:cNvPr id="9" name="Shape 7"/>
          <p:cNvSpPr/>
          <p:nvPr/>
        </p:nvSpPr>
        <p:spPr>
          <a:xfrm>
            <a:off x="347472" y="1097280"/>
            <a:ext cx="3931920" cy="521208"/>
          </a:xfrm>
          <a:prstGeom prst="rect">
            <a:avLst/>
          </a:prstGeom>
          <a:solidFill>
            <a:srgbClr val="FDF5F5"/>
          </a:solidFill>
          <a:ln/>
        </p:spPr>
      </p:sp>
      <p:sp>
        <p:nvSpPr>
          <p:cNvPr id="10" name="Shape 8"/>
          <p:cNvSpPr/>
          <p:nvPr/>
        </p:nvSpPr>
        <p:spPr>
          <a:xfrm>
            <a:off x="402336" y="1170432"/>
            <a:ext cx="219456" cy="219456"/>
          </a:xfrm>
          <a:prstGeom prst="ellipse">
            <a:avLst/>
          </a:prstGeom>
          <a:solidFill>
            <a:srgbClr val="CB202D"/>
          </a:solidFill>
          <a:ln/>
        </p:spPr>
      </p:sp>
      <p:sp>
        <p:nvSpPr>
          <p:cNvPr id="11" name="Text 9"/>
          <p:cNvSpPr/>
          <p:nvPr/>
        </p:nvSpPr>
        <p:spPr>
          <a:xfrm>
            <a:off x="402336" y="117043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a:t>
            </a:r>
            <a:endParaRPr lang="en-US" sz="1000" dirty="0"/>
          </a:p>
        </p:txBody>
      </p:sp>
      <p:sp>
        <p:nvSpPr>
          <p:cNvPr id="12" name="Text 10"/>
          <p:cNvSpPr/>
          <p:nvPr/>
        </p:nvSpPr>
        <p:spPr>
          <a:xfrm>
            <a:off x="704088" y="1115568"/>
            <a:ext cx="3493008" cy="466344"/>
          </a:xfrm>
          <a:prstGeom prst="rect">
            <a:avLst/>
          </a:prstGeom>
          <a:noFill/>
          <a:ln/>
        </p:spPr>
        <p:txBody>
          <a:bodyPr wrap="square" lIns="0" tIns="0" rIns="0" bIns="0" rtlCol="0" anchor="ctr"/>
          <a:lstStyle/>
          <a:p>
            <a:pPr marL="0" indent="0" algn="l">
              <a:buNone/>
            </a:pPr>
            <a:r>
              <a:rPr lang="en-US" sz="1150" dirty="0">
                <a:solidFill>
                  <a:srgbClr val="1A1A2E"/>
                </a:solidFill>
                <a:latin typeface="Times New Roman" pitchFamily="34" charset="0"/>
                <a:ea typeface="Times New Roman" pitchFamily="34" charset="-122"/>
                <a:cs typeface="Times New Roman" pitchFamily="34" charset="-120"/>
              </a:rPr>
              <a:t>Handling missing &amp; inconsistent data across 9,551 rows in Power Query.</a:t>
            </a:r>
            <a:endParaRPr lang="en-US" sz="1150" dirty="0"/>
          </a:p>
        </p:txBody>
      </p:sp>
      <p:sp>
        <p:nvSpPr>
          <p:cNvPr id="13" name="Shape 11"/>
          <p:cNvSpPr/>
          <p:nvPr/>
        </p:nvSpPr>
        <p:spPr>
          <a:xfrm>
            <a:off x="347472" y="1709928"/>
            <a:ext cx="3931920" cy="521208"/>
          </a:xfrm>
          <a:prstGeom prst="rect">
            <a:avLst/>
          </a:prstGeom>
          <a:solidFill>
            <a:srgbClr val="FFFFFF"/>
          </a:solidFill>
          <a:ln/>
        </p:spPr>
      </p:sp>
      <p:sp>
        <p:nvSpPr>
          <p:cNvPr id="14" name="Shape 12"/>
          <p:cNvSpPr/>
          <p:nvPr/>
        </p:nvSpPr>
        <p:spPr>
          <a:xfrm>
            <a:off x="402336" y="1783080"/>
            <a:ext cx="219456" cy="219456"/>
          </a:xfrm>
          <a:prstGeom prst="ellipse">
            <a:avLst/>
          </a:prstGeom>
          <a:solidFill>
            <a:srgbClr val="CB202D"/>
          </a:solidFill>
          <a:ln/>
        </p:spPr>
      </p:sp>
      <p:sp>
        <p:nvSpPr>
          <p:cNvPr id="15" name="Text 13"/>
          <p:cNvSpPr/>
          <p:nvPr/>
        </p:nvSpPr>
        <p:spPr>
          <a:xfrm>
            <a:off x="402336" y="1783080"/>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2</a:t>
            </a:r>
            <a:endParaRPr lang="en-US" sz="1000" dirty="0"/>
          </a:p>
        </p:txBody>
      </p:sp>
      <p:sp>
        <p:nvSpPr>
          <p:cNvPr id="16" name="Text 14"/>
          <p:cNvSpPr/>
          <p:nvPr/>
        </p:nvSpPr>
        <p:spPr>
          <a:xfrm>
            <a:off x="704088" y="1728216"/>
            <a:ext cx="3493008" cy="466344"/>
          </a:xfrm>
          <a:prstGeom prst="rect">
            <a:avLst/>
          </a:prstGeom>
          <a:noFill/>
          <a:ln/>
        </p:spPr>
        <p:txBody>
          <a:bodyPr wrap="square" lIns="0" tIns="0" rIns="0" bIns="0" rtlCol="0" anchor="ctr"/>
          <a:lstStyle/>
          <a:p>
            <a:pPr marL="0" indent="0" algn="l">
              <a:buNone/>
            </a:pPr>
            <a:r>
              <a:rPr lang="en-US" sz="1150" dirty="0">
                <a:solidFill>
                  <a:srgbClr val="1A1A2E"/>
                </a:solidFill>
                <a:latin typeface="Times New Roman" pitchFamily="34" charset="0"/>
                <a:ea typeface="Times New Roman" pitchFamily="34" charset="-122"/>
                <a:cs typeface="Times New Roman" pitchFamily="34" charset="-120"/>
              </a:rPr>
              <a:t>Converting multi-currency costs into comparable price bucket categories.</a:t>
            </a:r>
            <a:endParaRPr lang="en-US" sz="1150" dirty="0"/>
          </a:p>
        </p:txBody>
      </p:sp>
      <p:sp>
        <p:nvSpPr>
          <p:cNvPr id="17" name="Shape 15"/>
          <p:cNvSpPr/>
          <p:nvPr/>
        </p:nvSpPr>
        <p:spPr>
          <a:xfrm>
            <a:off x="347472" y="2322576"/>
            <a:ext cx="3931920" cy="521208"/>
          </a:xfrm>
          <a:prstGeom prst="rect">
            <a:avLst/>
          </a:prstGeom>
          <a:solidFill>
            <a:srgbClr val="FDF5F5"/>
          </a:solidFill>
          <a:ln/>
        </p:spPr>
      </p:sp>
      <p:sp>
        <p:nvSpPr>
          <p:cNvPr id="18" name="Shape 16"/>
          <p:cNvSpPr/>
          <p:nvPr/>
        </p:nvSpPr>
        <p:spPr>
          <a:xfrm>
            <a:off x="402336" y="2395728"/>
            <a:ext cx="219456" cy="219456"/>
          </a:xfrm>
          <a:prstGeom prst="ellipse">
            <a:avLst/>
          </a:prstGeom>
          <a:solidFill>
            <a:srgbClr val="CB202D"/>
          </a:solidFill>
          <a:ln/>
        </p:spPr>
      </p:sp>
      <p:sp>
        <p:nvSpPr>
          <p:cNvPr id="19" name="Text 17"/>
          <p:cNvSpPr/>
          <p:nvPr/>
        </p:nvSpPr>
        <p:spPr>
          <a:xfrm>
            <a:off x="402336" y="2395728"/>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3</a:t>
            </a:r>
            <a:endParaRPr lang="en-US" sz="1000" dirty="0"/>
          </a:p>
        </p:txBody>
      </p:sp>
      <p:sp>
        <p:nvSpPr>
          <p:cNvPr id="20" name="Text 18"/>
          <p:cNvSpPr/>
          <p:nvPr/>
        </p:nvSpPr>
        <p:spPr>
          <a:xfrm>
            <a:off x="704088" y="2340864"/>
            <a:ext cx="3493008" cy="466344"/>
          </a:xfrm>
          <a:prstGeom prst="rect">
            <a:avLst/>
          </a:prstGeom>
          <a:noFill/>
          <a:ln/>
        </p:spPr>
        <p:txBody>
          <a:bodyPr wrap="square" lIns="0" tIns="0" rIns="0" bIns="0" rtlCol="0" anchor="ctr"/>
          <a:lstStyle/>
          <a:p>
            <a:pPr marL="0" indent="0" algn="l">
              <a:buNone/>
            </a:pPr>
            <a:r>
              <a:rPr lang="en-US" sz="1150" dirty="0">
                <a:solidFill>
                  <a:srgbClr val="1A1A2E"/>
                </a:solidFill>
                <a:latin typeface="Times New Roman" pitchFamily="34" charset="0"/>
                <a:ea typeface="Times New Roman" pitchFamily="34" charset="-122"/>
                <a:cs typeface="Times New Roman" pitchFamily="34" charset="-120"/>
              </a:rPr>
              <a:t>Writing optimised SQL queries for aggregation without duplicate counts.</a:t>
            </a:r>
            <a:endParaRPr lang="en-US" sz="1150" dirty="0"/>
          </a:p>
        </p:txBody>
      </p:sp>
      <p:sp>
        <p:nvSpPr>
          <p:cNvPr id="21" name="Shape 19"/>
          <p:cNvSpPr/>
          <p:nvPr/>
        </p:nvSpPr>
        <p:spPr>
          <a:xfrm>
            <a:off x="347472" y="2935224"/>
            <a:ext cx="3931920" cy="521208"/>
          </a:xfrm>
          <a:prstGeom prst="rect">
            <a:avLst/>
          </a:prstGeom>
          <a:solidFill>
            <a:srgbClr val="FFFFFF"/>
          </a:solidFill>
          <a:ln/>
        </p:spPr>
      </p:sp>
      <p:sp>
        <p:nvSpPr>
          <p:cNvPr id="22" name="Shape 20"/>
          <p:cNvSpPr/>
          <p:nvPr/>
        </p:nvSpPr>
        <p:spPr>
          <a:xfrm>
            <a:off x="402336" y="3008376"/>
            <a:ext cx="219456" cy="219456"/>
          </a:xfrm>
          <a:prstGeom prst="ellipse">
            <a:avLst/>
          </a:prstGeom>
          <a:solidFill>
            <a:srgbClr val="CB202D"/>
          </a:solidFill>
          <a:ln/>
        </p:spPr>
      </p:sp>
      <p:sp>
        <p:nvSpPr>
          <p:cNvPr id="23" name="Text 21"/>
          <p:cNvSpPr/>
          <p:nvPr/>
        </p:nvSpPr>
        <p:spPr>
          <a:xfrm>
            <a:off x="402336" y="3008376"/>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4</a:t>
            </a:r>
            <a:endParaRPr lang="en-US" sz="1000" dirty="0"/>
          </a:p>
        </p:txBody>
      </p:sp>
      <p:sp>
        <p:nvSpPr>
          <p:cNvPr id="24" name="Text 22"/>
          <p:cNvSpPr/>
          <p:nvPr/>
        </p:nvSpPr>
        <p:spPr>
          <a:xfrm>
            <a:off x="704088" y="2953512"/>
            <a:ext cx="3493008" cy="466344"/>
          </a:xfrm>
          <a:prstGeom prst="rect">
            <a:avLst/>
          </a:prstGeom>
          <a:noFill/>
          <a:ln/>
        </p:spPr>
        <p:txBody>
          <a:bodyPr wrap="square" lIns="0" tIns="0" rIns="0" bIns="0" rtlCol="0" anchor="ctr"/>
          <a:lstStyle/>
          <a:p>
            <a:pPr marL="0" indent="0" algn="l">
              <a:buNone/>
            </a:pPr>
            <a:r>
              <a:rPr lang="en-US" sz="1150" dirty="0">
                <a:solidFill>
                  <a:srgbClr val="1A1A2E"/>
                </a:solidFill>
                <a:latin typeface="Times New Roman" pitchFamily="34" charset="0"/>
                <a:ea typeface="Times New Roman" pitchFamily="34" charset="-122"/>
                <a:cs typeface="Times New Roman" pitchFamily="34" charset="-120"/>
              </a:rPr>
              <a:t>Building accurate DAX measures for delivery &amp; booking percentages in Power BI.</a:t>
            </a:r>
            <a:endParaRPr lang="en-US" sz="1150" dirty="0"/>
          </a:p>
        </p:txBody>
      </p:sp>
      <p:sp>
        <p:nvSpPr>
          <p:cNvPr id="25" name="Shape 23"/>
          <p:cNvSpPr/>
          <p:nvPr/>
        </p:nvSpPr>
        <p:spPr>
          <a:xfrm>
            <a:off x="347472" y="3547872"/>
            <a:ext cx="3931920" cy="521208"/>
          </a:xfrm>
          <a:prstGeom prst="rect">
            <a:avLst/>
          </a:prstGeom>
          <a:solidFill>
            <a:srgbClr val="FDF5F5"/>
          </a:solidFill>
          <a:ln/>
        </p:spPr>
      </p:sp>
      <p:sp>
        <p:nvSpPr>
          <p:cNvPr id="26" name="Shape 24"/>
          <p:cNvSpPr/>
          <p:nvPr/>
        </p:nvSpPr>
        <p:spPr>
          <a:xfrm>
            <a:off x="402336" y="3621024"/>
            <a:ext cx="219456" cy="219456"/>
          </a:xfrm>
          <a:prstGeom prst="ellipse">
            <a:avLst/>
          </a:prstGeom>
          <a:solidFill>
            <a:srgbClr val="CB202D"/>
          </a:solidFill>
          <a:ln/>
        </p:spPr>
      </p:sp>
      <p:sp>
        <p:nvSpPr>
          <p:cNvPr id="27" name="Text 25"/>
          <p:cNvSpPr/>
          <p:nvPr/>
        </p:nvSpPr>
        <p:spPr>
          <a:xfrm>
            <a:off x="402336" y="3621024"/>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5</a:t>
            </a:r>
            <a:endParaRPr lang="en-US" sz="1000" dirty="0"/>
          </a:p>
        </p:txBody>
      </p:sp>
      <p:sp>
        <p:nvSpPr>
          <p:cNvPr id="28" name="Text 26"/>
          <p:cNvSpPr/>
          <p:nvPr/>
        </p:nvSpPr>
        <p:spPr>
          <a:xfrm>
            <a:off x="704088" y="3566160"/>
            <a:ext cx="3493008" cy="466344"/>
          </a:xfrm>
          <a:prstGeom prst="rect">
            <a:avLst/>
          </a:prstGeom>
          <a:noFill/>
          <a:ln/>
        </p:spPr>
        <p:txBody>
          <a:bodyPr wrap="square" lIns="0" tIns="0" rIns="0" bIns="0" rtlCol="0" anchor="ctr"/>
          <a:lstStyle/>
          <a:p>
            <a:pPr marL="0" indent="0" algn="l">
              <a:buNone/>
            </a:pPr>
            <a:r>
              <a:rPr lang="en-US" sz="1150" dirty="0">
                <a:solidFill>
                  <a:srgbClr val="1A1A2E"/>
                </a:solidFill>
                <a:latin typeface="Times New Roman" pitchFamily="34" charset="0"/>
                <a:ea typeface="Times New Roman" pitchFamily="34" charset="-122"/>
                <a:cs typeface="Times New Roman" pitchFamily="34" charset="-120"/>
              </a:rPr>
              <a:t>Designing dashboards that are both visually appealing and analytically clear.</a:t>
            </a:r>
            <a:endParaRPr lang="en-US" sz="1150" dirty="0"/>
          </a:p>
        </p:txBody>
      </p:sp>
      <p:sp>
        <p:nvSpPr>
          <p:cNvPr id="29" name="Shape 27"/>
          <p:cNvSpPr/>
          <p:nvPr/>
        </p:nvSpPr>
        <p:spPr>
          <a:xfrm>
            <a:off x="4572000" y="640080"/>
            <a:ext cx="4224528" cy="384048"/>
          </a:xfrm>
          <a:prstGeom prst="rect">
            <a:avLst/>
          </a:prstGeom>
          <a:solidFill>
            <a:srgbClr val="1A1A2E"/>
          </a:solidFill>
          <a:ln/>
        </p:spPr>
      </p:sp>
      <p:sp>
        <p:nvSpPr>
          <p:cNvPr id="30" name="Text 28"/>
          <p:cNvSpPr/>
          <p:nvPr/>
        </p:nvSpPr>
        <p:spPr>
          <a:xfrm>
            <a:off x="4663440" y="640080"/>
            <a:ext cx="4041648" cy="384048"/>
          </a:xfrm>
          <a:prstGeom prst="rect">
            <a:avLst/>
          </a:prstGeom>
          <a:noFill/>
          <a:ln/>
        </p:spPr>
        <p:txBody>
          <a:bodyPr wrap="square" lIns="0" tIns="0" rIns="0" bIns="0"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Key Learnings</a:t>
            </a:r>
            <a:endParaRPr lang="en-US" sz="1600" dirty="0"/>
          </a:p>
        </p:txBody>
      </p:sp>
      <p:sp>
        <p:nvSpPr>
          <p:cNvPr id="31" name="Shape 29"/>
          <p:cNvSpPr/>
          <p:nvPr/>
        </p:nvSpPr>
        <p:spPr>
          <a:xfrm>
            <a:off x="4572000" y="1097280"/>
            <a:ext cx="4224528" cy="521208"/>
          </a:xfrm>
          <a:prstGeom prst="rect">
            <a:avLst/>
          </a:prstGeom>
          <a:solidFill>
            <a:srgbClr val="1A1A2E"/>
          </a:solidFill>
          <a:ln/>
        </p:spPr>
      </p:sp>
      <p:sp>
        <p:nvSpPr>
          <p:cNvPr id="32" name="Shape 30"/>
          <p:cNvSpPr/>
          <p:nvPr/>
        </p:nvSpPr>
        <p:spPr>
          <a:xfrm>
            <a:off x="4626864" y="1188720"/>
            <a:ext cx="45720" cy="338328"/>
          </a:xfrm>
          <a:prstGeom prst="rect">
            <a:avLst/>
          </a:prstGeom>
          <a:solidFill>
            <a:srgbClr val="CB202D"/>
          </a:solidFill>
          <a:ln/>
        </p:spPr>
      </p:sp>
      <p:sp>
        <p:nvSpPr>
          <p:cNvPr id="33" name="Text 31"/>
          <p:cNvSpPr/>
          <p:nvPr/>
        </p:nvSpPr>
        <p:spPr>
          <a:xfrm>
            <a:off x="4736592" y="1115568"/>
            <a:ext cx="3977640" cy="466344"/>
          </a:xfrm>
          <a:prstGeom prst="rect">
            <a:avLst/>
          </a:prstGeom>
          <a:noFill/>
          <a:ln/>
        </p:spPr>
        <p:txBody>
          <a:bodyPr wrap="square" lIns="0" tIns="0" rIns="0" bIns="0" rtlCol="0" anchor="ctr"/>
          <a:lstStyle/>
          <a:p>
            <a:pPr marL="0" indent="0" algn="l">
              <a:buNone/>
            </a:pPr>
            <a:r>
              <a:rPr lang="en-US" sz="1150" dirty="0">
                <a:solidFill>
                  <a:srgbClr val="FFFFFF"/>
                </a:solidFill>
                <a:latin typeface="Times New Roman" pitchFamily="34" charset="0"/>
                <a:ea typeface="Times New Roman" pitchFamily="34" charset="-122"/>
                <a:cs typeface="Times New Roman" pitchFamily="34" charset="-120"/>
              </a:rPr>
              <a:t>Gained hands-on experience with Power Query for real-world data cleaning.</a:t>
            </a:r>
            <a:endParaRPr lang="en-US" sz="1150" dirty="0"/>
          </a:p>
        </p:txBody>
      </p:sp>
      <p:sp>
        <p:nvSpPr>
          <p:cNvPr id="34" name="Shape 32"/>
          <p:cNvSpPr/>
          <p:nvPr/>
        </p:nvSpPr>
        <p:spPr>
          <a:xfrm>
            <a:off x="4572000" y="1709928"/>
            <a:ext cx="4224528" cy="521208"/>
          </a:xfrm>
          <a:prstGeom prst="rect">
            <a:avLst/>
          </a:prstGeom>
          <a:solidFill>
            <a:srgbClr val="252540"/>
          </a:solidFill>
          <a:ln/>
        </p:spPr>
      </p:sp>
      <p:sp>
        <p:nvSpPr>
          <p:cNvPr id="35" name="Shape 33"/>
          <p:cNvSpPr/>
          <p:nvPr/>
        </p:nvSpPr>
        <p:spPr>
          <a:xfrm>
            <a:off x="4626864" y="1801368"/>
            <a:ext cx="45720" cy="338328"/>
          </a:xfrm>
          <a:prstGeom prst="rect">
            <a:avLst/>
          </a:prstGeom>
          <a:solidFill>
            <a:srgbClr val="CB202D"/>
          </a:solidFill>
          <a:ln/>
        </p:spPr>
      </p:sp>
      <p:sp>
        <p:nvSpPr>
          <p:cNvPr id="36" name="Text 34"/>
          <p:cNvSpPr/>
          <p:nvPr/>
        </p:nvSpPr>
        <p:spPr>
          <a:xfrm>
            <a:off x="4736592" y="1728216"/>
            <a:ext cx="3977640" cy="466344"/>
          </a:xfrm>
          <a:prstGeom prst="rect">
            <a:avLst/>
          </a:prstGeom>
          <a:noFill/>
          <a:ln/>
        </p:spPr>
        <p:txBody>
          <a:bodyPr wrap="square" lIns="0" tIns="0" rIns="0" bIns="0" rtlCol="0" anchor="ctr"/>
          <a:lstStyle/>
          <a:p>
            <a:pPr marL="0" indent="0" algn="l">
              <a:buNone/>
            </a:pPr>
            <a:r>
              <a:rPr lang="en-US" sz="1150" dirty="0">
                <a:solidFill>
                  <a:srgbClr val="FFFFFF"/>
                </a:solidFill>
                <a:latin typeface="Times New Roman" pitchFamily="34" charset="0"/>
                <a:ea typeface="Times New Roman" pitchFamily="34" charset="-122"/>
                <a:cs typeface="Times New Roman" pitchFamily="34" charset="-120"/>
              </a:rPr>
              <a:t>Learned SQL aggregation (GROUP BY, CASE WHEN, AVG) for business KPI analysis.</a:t>
            </a:r>
            <a:endParaRPr lang="en-US" sz="1150" dirty="0"/>
          </a:p>
        </p:txBody>
      </p:sp>
      <p:sp>
        <p:nvSpPr>
          <p:cNvPr id="37" name="Shape 35"/>
          <p:cNvSpPr/>
          <p:nvPr/>
        </p:nvSpPr>
        <p:spPr>
          <a:xfrm>
            <a:off x="4572000" y="2322576"/>
            <a:ext cx="4224528" cy="521208"/>
          </a:xfrm>
          <a:prstGeom prst="rect">
            <a:avLst/>
          </a:prstGeom>
          <a:solidFill>
            <a:srgbClr val="1A1A2E"/>
          </a:solidFill>
          <a:ln/>
        </p:spPr>
      </p:sp>
      <p:sp>
        <p:nvSpPr>
          <p:cNvPr id="38" name="Shape 36"/>
          <p:cNvSpPr/>
          <p:nvPr/>
        </p:nvSpPr>
        <p:spPr>
          <a:xfrm>
            <a:off x="4626864" y="2414016"/>
            <a:ext cx="45720" cy="338328"/>
          </a:xfrm>
          <a:prstGeom prst="rect">
            <a:avLst/>
          </a:prstGeom>
          <a:solidFill>
            <a:srgbClr val="CB202D"/>
          </a:solidFill>
          <a:ln/>
        </p:spPr>
      </p:sp>
      <p:sp>
        <p:nvSpPr>
          <p:cNvPr id="39" name="Text 37"/>
          <p:cNvSpPr/>
          <p:nvPr/>
        </p:nvSpPr>
        <p:spPr>
          <a:xfrm>
            <a:off x="4736592" y="2340864"/>
            <a:ext cx="3977640" cy="466344"/>
          </a:xfrm>
          <a:prstGeom prst="rect">
            <a:avLst/>
          </a:prstGeom>
          <a:noFill/>
          <a:ln/>
        </p:spPr>
        <p:txBody>
          <a:bodyPr wrap="square" lIns="0" tIns="0" rIns="0" bIns="0" rtlCol="0" anchor="ctr"/>
          <a:lstStyle/>
          <a:p>
            <a:pPr marL="0" indent="0" algn="l">
              <a:buNone/>
            </a:pPr>
            <a:r>
              <a:rPr lang="en-US" sz="1150" dirty="0">
                <a:solidFill>
                  <a:srgbClr val="FFFFFF"/>
                </a:solidFill>
                <a:latin typeface="Times New Roman" pitchFamily="34" charset="0"/>
                <a:ea typeface="Times New Roman" pitchFamily="34" charset="-122"/>
                <a:cs typeface="Times New Roman" pitchFamily="34" charset="-120"/>
              </a:rPr>
              <a:t>Developed DAX &amp; Power BI skills to build interactive, filter-driven dashboards.</a:t>
            </a:r>
            <a:endParaRPr lang="en-US" sz="1150" dirty="0"/>
          </a:p>
        </p:txBody>
      </p:sp>
      <p:sp>
        <p:nvSpPr>
          <p:cNvPr id="40" name="Shape 38"/>
          <p:cNvSpPr/>
          <p:nvPr/>
        </p:nvSpPr>
        <p:spPr>
          <a:xfrm>
            <a:off x="4572000" y="2935224"/>
            <a:ext cx="4224528" cy="521208"/>
          </a:xfrm>
          <a:prstGeom prst="rect">
            <a:avLst/>
          </a:prstGeom>
          <a:solidFill>
            <a:srgbClr val="252540"/>
          </a:solidFill>
          <a:ln/>
        </p:spPr>
      </p:sp>
      <p:sp>
        <p:nvSpPr>
          <p:cNvPr id="41" name="Shape 39"/>
          <p:cNvSpPr/>
          <p:nvPr/>
        </p:nvSpPr>
        <p:spPr>
          <a:xfrm>
            <a:off x="4626864" y="3026664"/>
            <a:ext cx="45720" cy="338328"/>
          </a:xfrm>
          <a:prstGeom prst="rect">
            <a:avLst/>
          </a:prstGeom>
          <a:solidFill>
            <a:srgbClr val="CB202D"/>
          </a:solidFill>
          <a:ln/>
        </p:spPr>
      </p:sp>
      <p:sp>
        <p:nvSpPr>
          <p:cNvPr id="42" name="Text 40"/>
          <p:cNvSpPr/>
          <p:nvPr/>
        </p:nvSpPr>
        <p:spPr>
          <a:xfrm>
            <a:off x="4736592" y="2953512"/>
            <a:ext cx="3977640" cy="466344"/>
          </a:xfrm>
          <a:prstGeom prst="rect">
            <a:avLst/>
          </a:prstGeom>
          <a:noFill/>
          <a:ln/>
        </p:spPr>
        <p:txBody>
          <a:bodyPr wrap="square" lIns="0" tIns="0" rIns="0" bIns="0" rtlCol="0" anchor="ctr"/>
          <a:lstStyle/>
          <a:p>
            <a:pPr marL="0" indent="0" algn="l">
              <a:buNone/>
            </a:pPr>
            <a:r>
              <a:rPr lang="en-US" sz="1150" dirty="0">
                <a:solidFill>
                  <a:srgbClr val="FFFFFF"/>
                </a:solidFill>
                <a:latin typeface="Times New Roman" pitchFamily="34" charset="0"/>
                <a:ea typeface="Times New Roman" pitchFamily="34" charset="-122"/>
                <a:cs typeface="Times New Roman" pitchFamily="34" charset="-120"/>
              </a:rPr>
              <a:t>Understood how to translate raw restaurant data into meaningful business insights.</a:t>
            </a:r>
            <a:endParaRPr lang="en-US" sz="1150" dirty="0"/>
          </a:p>
        </p:txBody>
      </p:sp>
      <p:sp>
        <p:nvSpPr>
          <p:cNvPr id="43" name="Shape 41"/>
          <p:cNvSpPr/>
          <p:nvPr/>
        </p:nvSpPr>
        <p:spPr>
          <a:xfrm>
            <a:off x="4572000" y="3547872"/>
            <a:ext cx="4224528" cy="521208"/>
          </a:xfrm>
          <a:prstGeom prst="rect">
            <a:avLst/>
          </a:prstGeom>
          <a:solidFill>
            <a:srgbClr val="1A1A2E"/>
          </a:solidFill>
          <a:ln/>
        </p:spPr>
      </p:sp>
      <p:sp>
        <p:nvSpPr>
          <p:cNvPr id="44" name="Shape 42"/>
          <p:cNvSpPr/>
          <p:nvPr/>
        </p:nvSpPr>
        <p:spPr>
          <a:xfrm>
            <a:off x="4626864" y="3639312"/>
            <a:ext cx="45720" cy="338328"/>
          </a:xfrm>
          <a:prstGeom prst="rect">
            <a:avLst/>
          </a:prstGeom>
          <a:solidFill>
            <a:srgbClr val="CB202D"/>
          </a:solidFill>
          <a:ln/>
        </p:spPr>
      </p:sp>
      <p:sp>
        <p:nvSpPr>
          <p:cNvPr id="45" name="Text 43"/>
          <p:cNvSpPr/>
          <p:nvPr/>
        </p:nvSpPr>
        <p:spPr>
          <a:xfrm>
            <a:off x="4736592" y="3566160"/>
            <a:ext cx="3977640" cy="466344"/>
          </a:xfrm>
          <a:prstGeom prst="rect">
            <a:avLst/>
          </a:prstGeom>
          <a:noFill/>
          <a:ln/>
        </p:spPr>
        <p:txBody>
          <a:bodyPr wrap="square" lIns="0" tIns="0" rIns="0" bIns="0" rtlCol="0" anchor="ctr"/>
          <a:lstStyle/>
          <a:p>
            <a:pPr marL="0" indent="0" algn="l">
              <a:buNone/>
            </a:pPr>
            <a:r>
              <a:rPr lang="en-US" sz="1150" dirty="0">
                <a:solidFill>
                  <a:srgbClr val="FFFFFF"/>
                </a:solidFill>
                <a:latin typeface="Times New Roman" pitchFamily="34" charset="0"/>
                <a:ea typeface="Times New Roman" pitchFamily="34" charset="-122"/>
                <a:cs typeface="Times New Roman" pitchFamily="34" charset="-120"/>
              </a:rPr>
              <a:t>Improved data storytelling skills using Tableau and Power BI visualisations.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B202D"/>
          </a:solidFill>
          <a:ln/>
        </p:spPr>
      </p:sp>
      <p:sp>
        <p:nvSpPr>
          <p:cNvPr id="3" name="Shape 1"/>
          <p:cNvSpPr/>
          <p:nvPr/>
        </p:nvSpPr>
        <p:spPr>
          <a:xfrm>
            <a:off x="0" y="0"/>
            <a:ext cx="9144000" cy="502920"/>
          </a:xfrm>
          <a:prstGeom prst="rect">
            <a:avLst/>
          </a:prstGeom>
          <a:solidFill>
            <a:srgbClr val="1A1A2E"/>
          </a:solidFill>
          <a:ln/>
        </p:spPr>
      </p:sp>
      <p:sp>
        <p:nvSpPr>
          <p:cNvPr id="4" name="Shape 2"/>
          <p:cNvSpPr/>
          <p:nvPr/>
        </p:nvSpPr>
        <p:spPr>
          <a:xfrm>
            <a:off x="7772400" y="0"/>
            <a:ext cx="1371600" cy="502920"/>
          </a:xfrm>
          <a:prstGeom prst="rect">
            <a:avLst/>
          </a:prstGeom>
          <a:solidFill>
            <a:srgbClr val="CB202D"/>
          </a:solidFill>
          <a:ln/>
        </p:spPr>
      </p:sp>
      <p:sp>
        <p:nvSpPr>
          <p:cNvPr id="5" name="Shape 3"/>
          <p:cNvSpPr/>
          <p:nvPr/>
        </p:nvSpPr>
        <p:spPr>
          <a:xfrm>
            <a:off x="0" y="4846320"/>
            <a:ext cx="9144000" cy="297180"/>
          </a:xfrm>
          <a:prstGeom prst="rect">
            <a:avLst/>
          </a:prstGeom>
          <a:solidFill>
            <a:srgbClr val="CB202D"/>
          </a:solidFill>
          <a:ln/>
        </p:spPr>
      </p:sp>
      <p:sp>
        <p:nvSpPr>
          <p:cNvPr id="6" name="Text 4"/>
          <p:cNvSpPr/>
          <p:nvPr/>
        </p:nvSpPr>
        <p:spPr>
          <a:xfrm>
            <a:off x="347472" y="54864"/>
            <a:ext cx="8412480" cy="402336"/>
          </a:xfrm>
          <a:prstGeom prst="rect">
            <a:avLst/>
          </a:prstGeom>
          <a:noFill/>
          <a:ln/>
        </p:spPr>
        <p:txBody>
          <a:bodyPr wrap="square" lIns="0" tIns="0" rIns="0" bIns="0" rtlCol="0" anchor="ctr"/>
          <a:lstStyle/>
          <a:p>
            <a:pPr marL="0" indent="0" algn="l">
              <a:buNone/>
            </a:pPr>
            <a:r>
              <a:rPr lang="en-US" sz="2200" b="1" dirty="0">
                <a:solidFill>
                  <a:srgbClr val="FFFFFF"/>
                </a:solidFill>
                <a:latin typeface="Times New Roman" pitchFamily="34" charset="0"/>
                <a:ea typeface="Times New Roman" pitchFamily="34" charset="-122"/>
                <a:cs typeface="Times New Roman" pitchFamily="34" charset="-120"/>
              </a:rPr>
              <a:t>CONCLUSION</a:t>
            </a:r>
            <a:endParaRPr lang="en-US" sz="2200" dirty="0"/>
          </a:p>
        </p:txBody>
      </p:sp>
      <p:sp>
        <p:nvSpPr>
          <p:cNvPr id="7" name="Shape 5"/>
          <p:cNvSpPr/>
          <p:nvPr/>
        </p:nvSpPr>
        <p:spPr>
          <a:xfrm>
            <a:off x="347472" y="621792"/>
            <a:ext cx="8449056" cy="685800"/>
          </a:xfrm>
          <a:prstGeom prst="rect">
            <a:avLst/>
          </a:prstGeom>
          <a:solidFill>
            <a:srgbClr val="CB202D"/>
          </a:solidFill>
          <a:ln/>
        </p:spPr>
      </p:sp>
      <p:sp>
        <p:nvSpPr>
          <p:cNvPr id="8" name="Text 6"/>
          <p:cNvSpPr/>
          <p:nvPr/>
        </p:nvSpPr>
        <p:spPr>
          <a:xfrm>
            <a:off x="502920" y="621792"/>
            <a:ext cx="8229600" cy="685800"/>
          </a:xfrm>
          <a:prstGeom prst="rect">
            <a:avLst/>
          </a:prstGeom>
          <a:noFill/>
          <a:ln/>
        </p:spPr>
        <p:txBody>
          <a:bodyPr wrap="square" lIns="0" tIns="0" rIns="0" bIns="0" rtlCol="0" anchor="ctr"/>
          <a:lstStyle/>
          <a:p>
            <a:pPr marL="0" indent="0" algn="l">
              <a:buNone/>
            </a:pPr>
            <a:r>
              <a:rPr lang="en-US" sz="1300" i="1" dirty="0">
                <a:solidFill>
                  <a:srgbClr val="FFFFFF"/>
                </a:solidFill>
                <a:latin typeface="Times New Roman" pitchFamily="34" charset="0"/>
                <a:ea typeface="Times New Roman" pitchFamily="34" charset="-122"/>
                <a:cs typeface="Times New Roman" pitchFamily="34" charset="-120"/>
              </a:rPr>
              <a:t>This project successfully demonstrated how raw restaurant data can be transformed into actionable business insights using a structured, multi-tool data analytics workflow.</a:t>
            </a:r>
            <a:endParaRPr lang="en-US" sz="1300" dirty="0"/>
          </a:p>
        </p:txBody>
      </p:sp>
      <p:sp>
        <p:nvSpPr>
          <p:cNvPr id="9" name="Shape 7"/>
          <p:cNvSpPr/>
          <p:nvPr/>
        </p:nvSpPr>
        <p:spPr>
          <a:xfrm>
            <a:off x="347472" y="1417320"/>
            <a:ext cx="8449056" cy="777240"/>
          </a:xfrm>
          <a:prstGeom prst="rect">
            <a:avLst/>
          </a:prstGeom>
          <a:solidFill>
            <a:srgbClr val="FDF5F5"/>
          </a:solidFill>
          <a:ln/>
          <a:effectLst>
            <a:outerShdw blurRad="38100" dist="12700" dir="8100000" algn="bl" rotWithShape="0">
              <a:srgbClr val="DDDDDD">
                <a:alpha val="15000"/>
              </a:srgbClr>
            </a:outerShdw>
          </a:effectLst>
        </p:spPr>
      </p:sp>
      <p:sp>
        <p:nvSpPr>
          <p:cNvPr id="10" name="Shape 8"/>
          <p:cNvSpPr/>
          <p:nvPr/>
        </p:nvSpPr>
        <p:spPr>
          <a:xfrm>
            <a:off x="347472" y="1417320"/>
            <a:ext cx="530352" cy="777240"/>
          </a:xfrm>
          <a:prstGeom prst="rect">
            <a:avLst/>
          </a:prstGeom>
          <a:solidFill>
            <a:srgbClr val="CB202D"/>
          </a:solidFill>
          <a:ln/>
        </p:spPr>
      </p:sp>
      <p:sp>
        <p:nvSpPr>
          <p:cNvPr id="11" name="Text 9"/>
          <p:cNvSpPr/>
          <p:nvPr/>
        </p:nvSpPr>
        <p:spPr>
          <a:xfrm>
            <a:off x="347472" y="1417320"/>
            <a:ext cx="530352"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01</a:t>
            </a:r>
            <a:endParaRPr lang="en-US" sz="1600" dirty="0"/>
          </a:p>
        </p:txBody>
      </p:sp>
      <p:sp>
        <p:nvSpPr>
          <p:cNvPr id="12" name="Text 10"/>
          <p:cNvSpPr/>
          <p:nvPr/>
        </p:nvSpPr>
        <p:spPr>
          <a:xfrm>
            <a:off x="960120" y="1472184"/>
            <a:ext cx="7726680" cy="256032"/>
          </a:xfrm>
          <a:prstGeom prst="rect">
            <a:avLst/>
          </a:prstGeom>
          <a:noFill/>
          <a:ln/>
        </p:spPr>
        <p:txBody>
          <a:bodyPr wrap="square" lIns="0" tIns="0" rIns="0" bIns="0" rtlCol="0" anchor="ctr"/>
          <a:lstStyle/>
          <a:p>
            <a:pPr marL="0" indent="0">
              <a:buNone/>
            </a:pPr>
            <a:r>
              <a:rPr lang="en-US" sz="1300" b="1" dirty="0">
                <a:solidFill>
                  <a:srgbClr val="CB202D"/>
                </a:solidFill>
                <a:latin typeface="Times New Roman" pitchFamily="34" charset="0"/>
                <a:ea typeface="Times New Roman" pitchFamily="34" charset="-122"/>
                <a:cs typeface="Times New Roman" pitchFamily="34" charset="-120"/>
              </a:rPr>
              <a:t>Data Cleaning &amp; Preparation</a:t>
            </a:r>
            <a:endParaRPr lang="en-US" sz="1300" dirty="0"/>
          </a:p>
        </p:txBody>
      </p:sp>
      <p:sp>
        <p:nvSpPr>
          <p:cNvPr id="13" name="Text 11"/>
          <p:cNvSpPr/>
          <p:nvPr/>
        </p:nvSpPr>
        <p:spPr>
          <a:xfrm>
            <a:off x="960120" y="1719072"/>
            <a:ext cx="7726680" cy="438912"/>
          </a:xfrm>
          <a:prstGeom prst="rect">
            <a:avLst/>
          </a:prstGeom>
          <a:noFill/>
          <a:ln/>
        </p:spPr>
        <p:txBody>
          <a:bodyPr wrap="square" lIns="0" tIns="0" rIns="0" bIns="0" rtlCol="0" anchor="t"/>
          <a:lstStyle/>
          <a:p>
            <a:pPr marL="0" indent="0" algn="just">
              <a:buNone/>
            </a:pPr>
            <a:r>
              <a:rPr lang="en-US" sz="1150" dirty="0">
                <a:solidFill>
                  <a:srgbClr val="1A1A2E"/>
                </a:solidFill>
                <a:latin typeface="Times New Roman" pitchFamily="34" charset="0"/>
                <a:ea typeface="Times New Roman" pitchFamily="34" charset="-122"/>
                <a:cs typeface="Times New Roman" pitchFamily="34" charset="-120"/>
              </a:rPr>
              <a:t>The Zomato dataset of 9,551 restaurants was imported into Excel and cleaned using Power Query — null values removed, data types corrected, and new calculated columns (Price Bucket and Rating Bucket) were created for meaningful analysis.</a:t>
            </a:r>
            <a:endParaRPr lang="en-US" sz="1150" dirty="0"/>
          </a:p>
        </p:txBody>
      </p:sp>
      <p:sp>
        <p:nvSpPr>
          <p:cNvPr id="14" name="Shape 12"/>
          <p:cNvSpPr/>
          <p:nvPr/>
        </p:nvSpPr>
        <p:spPr>
          <a:xfrm>
            <a:off x="347472" y="2286000"/>
            <a:ext cx="8449056" cy="777240"/>
          </a:xfrm>
          <a:prstGeom prst="rect">
            <a:avLst/>
          </a:prstGeom>
          <a:solidFill>
            <a:srgbClr val="FFFFFF"/>
          </a:solidFill>
          <a:ln/>
          <a:effectLst>
            <a:outerShdw blurRad="38100" dist="12700" dir="8100000" algn="bl" rotWithShape="0">
              <a:srgbClr val="DDDDDD">
                <a:alpha val="15000"/>
              </a:srgbClr>
            </a:outerShdw>
          </a:effectLst>
        </p:spPr>
      </p:sp>
      <p:sp>
        <p:nvSpPr>
          <p:cNvPr id="15" name="Shape 13"/>
          <p:cNvSpPr/>
          <p:nvPr/>
        </p:nvSpPr>
        <p:spPr>
          <a:xfrm>
            <a:off x="347472" y="2286000"/>
            <a:ext cx="530352" cy="777240"/>
          </a:xfrm>
          <a:prstGeom prst="rect">
            <a:avLst/>
          </a:prstGeom>
          <a:solidFill>
            <a:srgbClr val="1A1A2E"/>
          </a:solidFill>
          <a:ln/>
        </p:spPr>
      </p:sp>
      <p:sp>
        <p:nvSpPr>
          <p:cNvPr id="16" name="Text 14"/>
          <p:cNvSpPr/>
          <p:nvPr/>
        </p:nvSpPr>
        <p:spPr>
          <a:xfrm>
            <a:off x="347472" y="2286000"/>
            <a:ext cx="530352"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02</a:t>
            </a:r>
            <a:endParaRPr lang="en-US" sz="1600" dirty="0"/>
          </a:p>
        </p:txBody>
      </p:sp>
      <p:sp>
        <p:nvSpPr>
          <p:cNvPr id="17" name="Text 15"/>
          <p:cNvSpPr/>
          <p:nvPr/>
        </p:nvSpPr>
        <p:spPr>
          <a:xfrm>
            <a:off x="960120" y="2340864"/>
            <a:ext cx="7726680" cy="256032"/>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SQL-Based Analysis</a:t>
            </a:r>
            <a:endParaRPr lang="en-US" sz="1300" dirty="0"/>
          </a:p>
        </p:txBody>
      </p:sp>
      <p:sp>
        <p:nvSpPr>
          <p:cNvPr id="18" name="Text 16"/>
          <p:cNvSpPr/>
          <p:nvPr/>
        </p:nvSpPr>
        <p:spPr>
          <a:xfrm>
            <a:off x="960120" y="2587752"/>
            <a:ext cx="7726680" cy="438912"/>
          </a:xfrm>
          <a:prstGeom prst="rect">
            <a:avLst/>
          </a:prstGeom>
          <a:noFill/>
          <a:ln/>
        </p:spPr>
        <p:txBody>
          <a:bodyPr wrap="square" lIns="0" tIns="0" rIns="0" bIns="0" rtlCol="0" anchor="t"/>
          <a:lstStyle/>
          <a:p>
            <a:pPr marL="0" indent="0" algn="just">
              <a:buNone/>
            </a:pPr>
            <a:r>
              <a:rPr lang="en-US" sz="1150" dirty="0">
                <a:solidFill>
                  <a:srgbClr val="1A1A2E"/>
                </a:solidFill>
                <a:latin typeface="Times New Roman" pitchFamily="34" charset="0"/>
                <a:ea typeface="Times New Roman" pitchFamily="34" charset="-122"/>
                <a:cs typeface="Times New Roman" pitchFamily="34" charset="-120"/>
              </a:rPr>
              <a:t>Structured queries using GROUP BY, CASE WHEN, COUNT, and AVG were applied to extract key statistics — city-wise distribution, price category breakdown, rating analysis, and delivery &amp; booking percentages.</a:t>
            </a:r>
            <a:endParaRPr lang="en-US" sz="1150" dirty="0"/>
          </a:p>
        </p:txBody>
      </p:sp>
      <p:sp>
        <p:nvSpPr>
          <p:cNvPr id="19" name="Shape 17"/>
          <p:cNvSpPr/>
          <p:nvPr/>
        </p:nvSpPr>
        <p:spPr>
          <a:xfrm>
            <a:off x="347472" y="3154680"/>
            <a:ext cx="8449056" cy="777240"/>
          </a:xfrm>
          <a:prstGeom prst="rect">
            <a:avLst/>
          </a:prstGeom>
          <a:solidFill>
            <a:srgbClr val="FDF5F5"/>
          </a:solidFill>
          <a:ln/>
          <a:effectLst>
            <a:outerShdw blurRad="38100" dist="12700" dir="8100000" algn="bl" rotWithShape="0">
              <a:srgbClr val="DDDDDD">
                <a:alpha val="15000"/>
              </a:srgbClr>
            </a:outerShdw>
          </a:effectLst>
        </p:spPr>
      </p:sp>
      <p:sp>
        <p:nvSpPr>
          <p:cNvPr id="20" name="Shape 18"/>
          <p:cNvSpPr/>
          <p:nvPr/>
        </p:nvSpPr>
        <p:spPr>
          <a:xfrm>
            <a:off x="347472" y="3154680"/>
            <a:ext cx="530352" cy="777240"/>
          </a:xfrm>
          <a:prstGeom prst="rect">
            <a:avLst/>
          </a:prstGeom>
          <a:solidFill>
            <a:srgbClr val="CB202D"/>
          </a:solidFill>
          <a:ln/>
        </p:spPr>
      </p:sp>
      <p:sp>
        <p:nvSpPr>
          <p:cNvPr id="21" name="Text 19"/>
          <p:cNvSpPr/>
          <p:nvPr/>
        </p:nvSpPr>
        <p:spPr>
          <a:xfrm>
            <a:off x="347472" y="3154680"/>
            <a:ext cx="530352"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03</a:t>
            </a:r>
            <a:endParaRPr lang="en-US" sz="1600" dirty="0"/>
          </a:p>
        </p:txBody>
      </p:sp>
      <p:sp>
        <p:nvSpPr>
          <p:cNvPr id="22" name="Text 20"/>
          <p:cNvSpPr/>
          <p:nvPr/>
        </p:nvSpPr>
        <p:spPr>
          <a:xfrm>
            <a:off x="960120" y="3209544"/>
            <a:ext cx="7726680" cy="256032"/>
          </a:xfrm>
          <a:prstGeom prst="rect">
            <a:avLst/>
          </a:prstGeom>
          <a:noFill/>
          <a:ln/>
        </p:spPr>
        <p:txBody>
          <a:bodyPr wrap="square" lIns="0" tIns="0" rIns="0" bIns="0" rtlCol="0" anchor="ctr"/>
          <a:lstStyle/>
          <a:p>
            <a:pPr marL="0" indent="0">
              <a:buNone/>
            </a:pPr>
            <a:r>
              <a:rPr lang="en-US" sz="1300" b="1" dirty="0">
                <a:solidFill>
                  <a:srgbClr val="CB202D"/>
                </a:solidFill>
                <a:latin typeface="Times New Roman" pitchFamily="34" charset="0"/>
                <a:ea typeface="Times New Roman" pitchFamily="34" charset="-122"/>
                <a:cs typeface="Times New Roman" pitchFamily="34" charset="-120"/>
              </a:rPr>
              <a:t>Interactive Dashboards — Power BI &amp; Tableau</a:t>
            </a:r>
            <a:endParaRPr lang="en-US" sz="1300" dirty="0"/>
          </a:p>
        </p:txBody>
      </p:sp>
      <p:sp>
        <p:nvSpPr>
          <p:cNvPr id="23" name="Text 21"/>
          <p:cNvSpPr/>
          <p:nvPr/>
        </p:nvSpPr>
        <p:spPr>
          <a:xfrm>
            <a:off x="960120" y="3456432"/>
            <a:ext cx="7726680" cy="438912"/>
          </a:xfrm>
          <a:prstGeom prst="rect">
            <a:avLst/>
          </a:prstGeom>
          <a:noFill/>
          <a:ln/>
        </p:spPr>
        <p:txBody>
          <a:bodyPr wrap="square" lIns="0" tIns="0" rIns="0" bIns="0" rtlCol="0" anchor="t"/>
          <a:lstStyle/>
          <a:p>
            <a:pPr marL="0" indent="0" algn="just">
              <a:buNone/>
            </a:pPr>
            <a:r>
              <a:rPr lang="en-US" sz="1150" dirty="0">
                <a:solidFill>
                  <a:srgbClr val="1A1A2E"/>
                </a:solidFill>
                <a:latin typeface="Times New Roman" pitchFamily="34" charset="0"/>
                <a:ea typeface="Times New Roman" pitchFamily="34" charset="-122"/>
                <a:cs typeface="Times New Roman" pitchFamily="34" charset="-120"/>
              </a:rPr>
              <a:t>Two fully interactive dashboards were built using Power BI (with DAX measures and slicers) and Tableau (with calculated fields and filter actions), enabling dynamic exploration of the data across cities, countries, and years.</a:t>
            </a:r>
            <a:endParaRPr lang="en-US" sz="1150" dirty="0"/>
          </a:p>
        </p:txBody>
      </p:sp>
      <p:sp>
        <p:nvSpPr>
          <p:cNvPr id="24" name="Shape 22"/>
          <p:cNvSpPr/>
          <p:nvPr/>
        </p:nvSpPr>
        <p:spPr>
          <a:xfrm>
            <a:off x="347472" y="4023360"/>
            <a:ext cx="8449056" cy="777240"/>
          </a:xfrm>
          <a:prstGeom prst="rect">
            <a:avLst/>
          </a:prstGeom>
          <a:solidFill>
            <a:srgbClr val="FFFFFF"/>
          </a:solidFill>
          <a:ln/>
          <a:effectLst>
            <a:outerShdw blurRad="38100" dist="12700" dir="8100000" algn="bl" rotWithShape="0">
              <a:srgbClr val="DDDDDD">
                <a:alpha val="15000"/>
              </a:srgbClr>
            </a:outerShdw>
          </a:effectLst>
        </p:spPr>
      </p:sp>
      <p:sp>
        <p:nvSpPr>
          <p:cNvPr id="25" name="Shape 23"/>
          <p:cNvSpPr/>
          <p:nvPr/>
        </p:nvSpPr>
        <p:spPr>
          <a:xfrm>
            <a:off x="347472" y="4023360"/>
            <a:ext cx="530352" cy="777240"/>
          </a:xfrm>
          <a:prstGeom prst="rect">
            <a:avLst/>
          </a:prstGeom>
          <a:solidFill>
            <a:srgbClr val="1A1A2E"/>
          </a:solidFill>
          <a:ln/>
        </p:spPr>
      </p:sp>
      <p:sp>
        <p:nvSpPr>
          <p:cNvPr id="26" name="Text 24"/>
          <p:cNvSpPr/>
          <p:nvPr/>
        </p:nvSpPr>
        <p:spPr>
          <a:xfrm>
            <a:off x="347472" y="4023360"/>
            <a:ext cx="530352"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04</a:t>
            </a:r>
            <a:endParaRPr lang="en-US" sz="1600" dirty="0"/>
          </a:p>
        </p:txBody>
      </p:sp>
      <p:sp>
        <p:nvSpPr>
          <p:cNvPr id="27" name="Text 25"/>
          <p:cNvSpPr/>
          <p:nvPr/>
        </p:nvSpPr>
        <p:spPr>
          <a:xfrm>
            <a:off x="960120" y="4078224"/>
            <a:ext cx="7726680" cy="256032"/>
          </a:xfrm>
          <a:prstGeom prst="rect">
            <a:avLst/>
          </a:prstGeom>
          <a:noFill/>
          <a:ln/>
        </p:spPr>
        <p:txBody>
          <a:bodyPr wrap="square" lIns="0" tIns="0" rIns="0" bIns="0" rtlCol="0" anchor="ctr"/>
          <a:lstStyle/>
          <a:p>
            <a:pPr marL="0" indent="0">
              <a:buNone/>
            </a:pPr>
            <a:r>
              <a:rPr lang="en-US" sz="1300" b="1" dirty="0">
                <a:solidFill>
                  <a:srgbClr val="1A1A2E"/>
                </a:solidFill>
                <a:latin typeface="Times New Roman" pitchFamily="34" charset="0"/>
                <a:ea typeface="Times New Roman" pitchFamily="34" charset="-122"/>
                <a:cs typeface="Times New Roman" pitchFamily="34" charset="-120"/>
              </a:rPr>
              <a:t>Key Business Insights Uncovered</a:t>
            </a:r>
            <a:endParaRPr lang="en-US" sz="1300" dirty="0"/>
          </a:p>
        </p:txBody>
      </p:sp>
      <p:sp>
        <p:nvSpPr>
          <p:cNvPr id="28" name="Text 26"/>
          <p:cNvSpPr/>
          <p:nvPr/>
        </p:nvSpPr>
        <p:spPr>
          <a:xfrm>
            <a:off x="960120" y="4325112"/>
            <a:ext cx="7726680" cy="438912"/>
          </a:xfrm>
          <a:prstGeom prst="rect">
            <a:avLst/>
          </a:prstGeom>
          <a:noFill/>
          <a:ln/>
        </p:spPr>
        <p:txBody>
          <a:bodyPr wrap="square" lIns="0" tIns="0" rIns="0" bIns="0" rtlCol="0" anchor="t"/>
          <a:lstStyle/>
          <a:p>
            <a:pPr marL="0" indent="0" algn="just">
              <a:buNone/>
            </a:pPr>
            <a:r>
              <a:rPr lang="en-US" sz="1150" dirty="0">
                <a:solidFill>
                  <a:srgbClr val="1A1A2E"/>
                </a:solidFill>
                <a:latin typeface="Times New Roman" pitchFamily="34" charset="0"/>
                <a:ea typeface="Times New Roman" pitchFamily="34" charset="-122"/>
                <a:cs typeface="Times New Roman" pitchFamily="34" charset="-120"/>
              </a:rPr>
              <a:t>Most restaurants (54%) fall in the low price range. Online delivery (25.66%) is far more adopted than table booking (12.12%). New Delhi dominates restaurant count. Average rating of 2.54 indicates moderate satisfaction across the platform.</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3017520"/>
            <a:ext cx="9144000" cy="2125980"/>
          </a:xfrm>
          <a:prstGeom prst="rect">
            <a:avLst/>
          </a:prstGeom>
          <a:solidFill>
            <a:srgbClr val="CB202D"/>
          </a:solidFill>
          <a:ln/>
        </p:spPr>
      </p:sp>
      <p:sp>
        <p:nvSpPr>
          <p:cNvPr id="3" name="Shape 1"/>
          <p:cNvSpPr/>
          <p:nvPr/>
        </p:nvSpPr>
        <p:spPr>
          <a:xfrm>
            <a:off x="0" y="3017520"/>
            <a:ext cx="9144000" cy="64008"/>
          </a:xfrm>
          <a:prstGeom prst="rect">
            <a:avLst/>
          </a:prstGeom>
          <a:solidFill>
            <a:srgbClr val="8B0000"/>
          </a:solidFill>
          <a:ln/>
        </p:spPr>
      </p:sp>
      <p:sp>
        <p:nvSpPr>
          <p:cNvPr id="4" name="Text 2"/>
          <p:cNvSpPr/>
          <p:nvPr/>
        </p:nvSpPr>
        <p:spPr>
          <a:xfrm>
            <a:off x="457200" y="548640"/>
            <a:ext cx="8229600" cy="1463040"/>
          </a:xfrm>
          <a:prstGeom prst="rect">
            <a:avLst/>
          </a:prstGeom>
          <a:noFill/>
          <a:ln/>
        </p:spPr>
        <p:txBody>
          <a:bodyPr wrap="square" lIns="0" tIns="0" rIns="0" bIns="0" rtlCol="0" anchor="ctr"/>
          <a:lstStyle/>
          <a:p>
            <a:pPr marL="0" indent="0" algn="ctr">
              <a:buNone/>
            </a:pPr>
            <a:r>
              <a:rPr lang="en-US" sz="7200" b="1" dirty="0">
                <a:solidFill>
                  <a:srgbClr val="FFFFFF"/>
                </a:solidFill>
                <a:latin typeface="Times New Roman" pitchFamily="34" charset="0"/>
                <a:ea typeface="Times New Roman" pitchFamily="34" charset="-122"/>
                <a:cs typeface="Times New Roman" pitchFamily="34" charset="-120"/>
              </a:rPr>
              <a:t>THANK YOU</a:t>
            </a:r>
            <a:endParaRPr lang="en-US" sz="7200" dirty="0"/>
          </a:p>
        </p:txBody>
      </p:sp>
      <p:sp>
        <p:nvSpPr>
          <p:cNvPr id="5" name="Shape 3"/>
          <p:cNvSpPr/>
          <p:nvPr/>
        </p:nvSpPr>
        <p:spPr>
          <a:xfrm>
            <a:off x="3200400" y="2148840"/>
            <a:ext cx="2743200" cy="64008"/>
          </a:xfrm>
          <a:prstGeom prst="rect">
            <a:avLst/>
          </a:prstGeom>
          <a:solidFill>
            <a:srgbClr val="CB202D"/>
          </a:solidFill>
          <a:ln/>
        </p:spPr>
      </p:sp>
      <p:sp>
        <p:nvSpPr>
          <p:cNvPr id="6" name="Text 4"/>
          <p:cNvSpPr/>
          <p:nvPr/>
        </p:nvSpPr>
        <p:spPr>
          <a:xfrm>
            <a:off x="457200" y="2286000"/>
            <a:ext cx="8229600" cy="411480"/>
          </a:xfrm>
          <a:prstGeom prst="rect">
            <a:avLst/>
          </a:prstGeom>
          <a:noFill/>
          <a:ln/>
        </p:spPr>
        <p:txBody>
          <a:bodyPr wrap="square" lIns="0" tIns="0" rIns="0" bIns="0" rtlCol="0" anchor="ctr"/>
          <a:lstStyle/>
          <a:p>
            <a:pPr marL="0" indent="0" algn="ctr">
              <a:buNone/>
            </a:pPr>
            <a:r>
              <a:rPr lang="en-US" sz="1800" i="1" dirty="0">
                <a:solidFill>
                  <a:srgbClr val="E8C4C4"/>
                </a:solidFill>
                <a:latin typeface="Times New Roman" pitchFamily="34" charset="0"/>
                <a:ea typeface="Times New Roman" pitchFamily="34" charset="-122"/>
                <a:cs typeface="Times New Roman" pitchFamily="34" charset="-120"/>
              </a:rPr>
              <a:t>Zomato Data Analysis  —  Final Review Project</a:t>
            </a:r>
            <a:endParaRPr lang="en-US" sz="1800" dirty="0"/>
          </a:p>
        </p:txBody>
      </p:sp>
      <p:sp>
        <p:nvSpPr>
          <p:cNvPr id="7" name="Text 5"/>
          <p:cNvSpPr/>
          <p:nvPr/>
        </p:nvSpPr>
        <p:spPr>
          <a:xfrm>
            <a:off x="457200" y="3246120"/>
            <a:ext cx="822960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Excel  |  SQL  |  Power BI  |  Tableau</a:t>
            </a:r>
            <a:endParaRPr lang="en-US" sz="1600" dirty="0"/>
          </a:p>
        </p:txBody>
      </p:sp>
      <p:sp>
        <p:nvSpPr>
          <p:cNvPr id="8" name="Shape 6"/>
          <p:cNvSpPr/>
          <p:nvPr/>
        </p:nvSpPr>
        <p:spPr>
          <a:xfrm>
            <a:off x="3474720" y="3749040"/>
            <a:ext cx="2194560" cy="45720"/>
          </a:xfrm>
          <a:prstGeom prst="rect">
            <a:avLst/>
          </a:prstGeom>
          <a:solidFill>
            <a:srgbClr val="E8C4C4"/>
          </a:solidFill>
          <a:ln/>
        </p:spPr>
      </p:sp>
      <p:sp>
        <p:nvSpPr>
          <p:cNvPr id="9" name="Text 7"/>
          <p:cNvSpPr/>
          <p:nvPr/>
        </p:nvSpPr>
        <p:spPr>
          <a:xfrm>
            <a:off x="457200" y="3858768"/>
            <a:ext cx="8229600" cy="347472"/>
          </a:xfrm>
          <a:prstGeom prst="rect">
            <a:avLst/>
          </a:prstGeom>
          <a:noFill/>
          <a:ln/>
        </p:spPr>
        <p:txBody>
          <a:bodyPr wrap="square" lIns="0" tIns="0" rIns="0" bIns="0" rtlCol="0" anchor="ctr"/>
          <a:lstStyle/>
          <a:p>
            <a:pPr marL="0" indent="0" algn="ctr">
              <a:buNone/>
            </a:pPr>
            <a:endParaRPr lang="en-US" sz="1400" dirty="0"/>
          </a:p>
        </p:txBody>
      </p:sp>
      <p:sp>
        <p:nvSpPr>
          <p:cNvPr id="10" name="Text 8"/>
          <p:cNvSpPr/>
          <p:nvPr/>
        </p:nvSpPr>
        <p:spPr>
          <a:xfrm>
            <a:off x="457200" y="3952494"/>
            <a:ext cx="8229600" cy="320040"/>
          </a:xfrm>
          <a:prstGeom prst="rect">
            <a:avLst/>
          </a:prstGeom>
          <a:noFill/>
          <a:ln/>
        </p:spPr>
        <p:txBody>
          <a:bodyPr wrap="square" lIns="0" tIns="0" rIns="0" bIns="0" rtlCol="0" anchor="ctr"/>
          <a:lstStyle/>
          <a:p>
            <a:pPr marL="0" indent="0" algn="ctr">
              <a:buNone/>
            </a:pPr>
            <a:endParaRPr lang="en-US" sz="1200" dirty="0"/>
          </a:p>
        </p:txBody>
      </p:sp>
      <p:pic>
        <p:nvPicPr>
          <p:cNvPr id="12" name="Picture 11">
            <a:extLst>
              <a:ext uri="{FF2B5EF4-FFF2-40B4-BE49-F238E27FC236}">
                <a16:creationId xmlns:a16="http://schemas.microsoft.com/office/drawing/2014/main" id="{AADCF945-EAEF-B38E-2F4A-14E638A0EE0D}"/>
              </a:ext>
            </a:extLst>
          </p:cNvPr>
          <p:cNvPicPr>
            <a:picLocks noChangeAspect="1"/>
          </p:cNvPicPr>
          <p:nvPr/>
        </p:nvPicPr>
        <p:blipFill>
          <a:blip r:embed="rId3"/>
          <a:stretch>
            <a:fillRect/>
          </a:stretch>
        </p:blipFill>
        <p:spPr>
          <a:xfrm>
            <a:off x="6836899" y="4419436"/>
            <a:ext cx="2155873" cy="5958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1740</Words>
  <Application>Microsoft Office PowerPoint</Application>
  <PresentationFormat>On-screen Show (16:9)</PresentationFormat>
  <Paragraphs>310</Paragraphs>
  <Slides>20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Courier New</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Data Analysis</dc:title>
  <dc:subject>PptxGenJS Presentation</dc:subject>
  <dc:creator>PptxGenJS</dc:creator>
  <cp:lastModifiedBy>kannanofficial.dk@gmail.com</cp:lastModifiedBy>
  <cp:revision>11</cp:revision>
  <dcterms:created xsi:type="dcterms:W3CDTF">2026-04-10T11:49:47Z</dcterms:created>
  <dcterms:modified xsi:type="dcterms:W3CDTF">2026-04-13T06:18:54Z</dcterms:modified>
</cp:coreProperties>
</file>